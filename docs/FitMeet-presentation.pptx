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FitMeet est une application mobile pour créer et rejoindre des séances de sport. Quatre personnes, trois semaines, Android et iOS depuis un seul code source.</a:t>
            </a:r>
          </a:p>
          <a:p/>
          <a:p>
            <a:r>
              <a:t>Plan : le problème, la solution, le produit, notre organisation, la technique, le pipeline, puis une démonstration.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frictions.</a:t>
            </a:r>
          </a:p>
          <a:p/>
          <a:p>
            <a:r>
              <a:t>L'information est éclatée entre des dizaines de canaux. Quatre critères doivent coïncider et aucun outil généraliste ne les croise. Et une séance ouverte ne sort pas du cercle de celui qui l'organise.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qui nous distingue d'une application comme Smatch : chez eux l'unité est la personne, chez nous c'est la séance.</a:t>
            </a:r>
          </a:p>
          <a:p/>
          <a:p>
            <a:r>
              <a:t>Une séance a une date, un lieu, un niveau, un nombre de places. On la rejoint, il n'y a rien à organiser après.</a:t>
            </a:r>
          </a:p>
          <a:p/>
          <a:p>
            <a:r>
              <a:t>Cahier des charges : douze exigences fonctionnelles, six non fonctionnelles. Toutes livrées sauf les notifications.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gestes. Créer une séance, la découvrir en liste ou sur la carte, la rejoindre.</a:t>
            </a:r>
          </a:p>
          <a:p/>
          <a:p>
            <a:r>
              <a:t>La liste et la carte sont alimentées par les mêmes données. Le tri par distance utilise la position de l'appareil.</a:t>
            </a:r>
          </a:p>
          <a:p/>
          <a:p>
            <a:r>
              <a:t>Captures réelles, application connectée à la base de production.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Chacun a pris un écran de l'application. Deux personnes ne travaillaient jamais dans le même fichier, ce qui a supprimé les conflits. Deux personnes par issue : une la porte, une relit.</a:t>
            </a:r>
          </a:p>
          <a:p/>
          <a:p>
            <a:r>
              <a:t>GitHub Flow sans exception. Cinquante-deux pull requests, toutes relues.</a:t>
            </a:r>
          </a:p>
          <a:p/>
          <a:p>
            <a:r>
              <a:t>Notre définition de « terminé » : cases de l'issue cochées, build local vert, pull request approuvée, contrôles Android et iOS verts, branche fusionnée.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couches : deux points d'entrée natifs, le module partagé, Supabase.</a:t>
            </a:r>
          </a:p>
          <a:p/>
          <a:p>
            <a:r>
              <a:t>Avec Compose Multiplatform l'interface elle-même est partagée. Seuls le rendu de la carte et l'accès à la position sont spécifiques à une plateforme.</a:t>
            </a:r>
          </a:p>
          <a:p/>
          <a:p>
            <a:r>
              <a:t>À droite, les six choix et leur justification. Deux points à retenir : aucun serveur à administrer, et la recherche par distance traitée en base plutôt que dans l'application.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pipeline, en trois temps.</a:t>
            </a:r>
          </a:p>
          <a:p/>
          <a:p>
            <a:r>
              <a:t>Un : à chaque pull request, deux machines démarrent en parallèle. Une Linux qui lance le lint, les tests partagés et construit l'APK. Une macOS qui compile le framework iOS, parce qu'on ne peut pas compiler pour iOS sans les outils Apple.</a:t>
            </a:r>
          </a:p>
          <a:p/>
          <a:p>
            <a:r>
              <a:t>Deux : les deux jobs doivent être verts pour fusionner. Ce n'est pas une convention d'équipe, c'est une règle du dépôt : si un build échoue, le bouton Merge est désactivé, pour tout le monde.</a:t>
            </a:r>
          </a:p>
          <a:p/>
          <a:p>
            <a:r>
              <a:t>Trois : après une fusion sur main, une release GitHub est publiée avec l'APK. C'est celui que le job a déjà testé, il n'est pas reconstruit. Trente-cinq releases à ce jour.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étapes, toutes reproductibles. Le développeur s'arrête à l'étape cinq : la release part seule.</a:t>
            </a:r>
          </a:p>
          <a:p/>
          <a:p>
            <a:r>
              <a:t>Les trois jeux d'instructions demandés sont dans le README : lancer en local, déployer une modification, contribuer de l'extérieur. Le fichier du pipeline est commenté ligne à ligne.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Huit tests unitaires partagés, sur la logique qui se casse sans se voir : les filtres et le tri par distance. Exemple réel : le tri remontait les activités sans coordonnées comme les plus proches. Un test l'a détecté.</a:t>
            </a:r>
          </a:p>
          <a:p/>
          <a:p>
            <a:r>
              <a:t>Ce que nous n'avons pas fait : les notifications, une couverture mince, et un iOS compilé à chaque changement mais peu utilisé sur un appareil réel.</a:t>
            </a:r>
          </a:p>
          <a:p/>
          <a:p>
            <a:r>
              <a:t>En bas, l'effort sur trois semaines.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bascule sur l'application.</a:t>
            </a:r>
          </a:p>
          <a:p/>
          <a:p>
            <a:r>
              <a:t>Je crée une séance de badminton à Yverdon, elle apparaît dans la liste et sur la carte, puis un deuxième compte la rejoint et la place disparaît.</a:t>
            </a:r>
          </a:p>
          <a:p/>
          <a:p>
            <a:r>
              <a:t>Repli si le réseau lâche : les captures de la diapositive « Le produit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probables.</a:t>
            </a:r>
          </a:p>
          <a:p/>
          <a:p>
            <a:r>
              <a:t>Pourquoi Kotlin Multiplatform plutôt que React Native ou Flutter : rendu natif, et l'équipe connaissait déjà Kotlin.</a:t>
            </a:r>
          </a:p>
          <a:p/>
          <a:p>
            <a:r>
              <a:t>Pourquoi si peu de tests : arbitrage assumé, expliqué à la diapositive Tests.</a:t>
            </a:r>
          </a:p>
          <a:p/>
          <a:p>
            <a:r>
              <a:t>Comment deux personnes ne peuvent pas prendre la même dernière place : la fonction join_event verrouille la ligne de l'événement et compte les participants dans la même transaction.</a:t>
            </a:r>
          </a:p>
          <a:p/>
          <a:p>
            <a:r>
              <a:t>Où sont les maquettes et la landing page : dans le dépôt et sur mircoprofico.github.io/FitMeet.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Rectangle 1"/>
          <p:cNvSpPr/>
          <p:nvPr/>
        </p:nvSpPr>
        <p:spPr>
          <a:xfrm>
            <a:off x="0" y="6729984"/>
            <a:ext cx="12191695" cy="128016"/>
          </a:xfrm>
          <a:prstGeom prst="rect">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 name="Picture 2" descr="logo.png"/>
          <p:cNvPicPr>
            <a:picLocks noChangeAspect="1"/>
          </p:cNvPicPr>
          <p:nvPr/>
        </p:nvPicPr>
        <p:blipFill>
          <a:blip r:embed="rId2"/>
          <a:stretch>
            <a:fillRect/>
          </a:stretch>
        </p:blipFill>
        <p:spPr>
          <a:xfrm>
            <a:off x="868680" y="1554480"/>
            <a:ext cx="3063240" cy="1096236"/>
          </a:xfrm>
          <a:prstGeom prst="rect">
            <a:avLst/>
          </a:prstGeom>
        </p:spPr>
      </p:pic>
      <p:sp>
        <p:nvSpPr>
          <p:cNvPr id="4" name="TextBox 3"/>
          <p:cNvSpPr txBox="1"/>
          <p:nvPr/>
        </p:nvSpPr>
        <p:spPr>
          <a:xfrm>
            <a:off x="868680" y="3063240"/>
            <a:ext cx="10454335" cy="914400"/>
          </a:xfrm>
          <a:prstGeom prst="rect">
            <a:avLst/>
          </a:prstGeom>
          <a:noFill/>
        </p:spPr>
        <p:txBody>
          <a:bodyPr wrap="square" anchor="t" lIns="0" rIns="0" tIns="0" bIns="0">
            <a:spAutoFit/>
          </a:bodyPr>
          <a:lstStyle/>
          <a:p>
            <a:pPr algn="l">
              <a:lnSpc>
                <a:spcPct val="115000"/>
              </a:lnSpc>
              <a:spcBef>
                <a:spcPts val="0"/>
              </a:spcBef>
              <a:spcAft>
                <a:spcPts val="0"/>
              </a:spcAft>
            </a:pPr>
            <a:r>
              <a:rPr sz="4000" b="1" i="0">
                <a:solidFill>
                  <a:srgbClr val="FFFFFF"/>
                </a:solidFill>
                <a:latin typeface="Fraunces"/>
              </a:rPr>
              <a:t>Créer et rejoindre des séances de sport</a:t>
            </a:r>
          </a:p>
        </p:txBody>
      </p:sp>
      <p:sp>
        <p:nvSpPr>
          <p:cNvPr id="5" name="TextBox 4"/>
          <p:cNvSpPr txBox="1"/>
          <p:nvPr/>
        </p:nvSpPr>
        <p:spPr>
          <a:xfrm>
            <a:off x="868680" y="3977639"/>
            <a:ext cx="6949440" cy="548640"/>
          </a:xfrm>
          <a:prstGeom prst="rect">
            <a:avLst/>
          </a:prstGeom>
          <a:noFill/>
        </p:spPr>
        <p:txBody>
          <a:bodyPr wrap="square" anchor="t" lIns="0" rIns="0" tIns="0" bIns="0">
            <a:spAutoFit/>
          </a:bodyPr>
          <a:lstStyle/>
          <a:p>
            <a:pPr algn="l">
              <a:lnSpc>
                <a:spcPct val="150000"/>
              </a:lnSpc>
              <a:spcBef>
                <a:spcPts val="0"/>
              </a:spcBef>
              <a:spcAft>
                <a:spcPts val="0"/>
              </a:spcAft>
            </a:pPr>
            <a:r>
              <a:rPr sz="1600" b="0" i="0">
                <a:solidFill>
                  <a:srgbClr val="8DA0B5"/>
                </a:solidFill>
                <a:latin typeface="Inter"/>
              </a:rPr>
              <a:t>Application mobile Android et iOS, un seul code source.</a:t>
            </a:r>
          </a:p>
        </p:txBody>
      </p:sp>
      <p:cxnSp>
        <p:nvCxnSpPr>
          <p:cNvPr id="6" name="Connector 5"/>
          <p:cNvCxnSpPr/>
          <p:nvPr/>
        </p:nvCxnSpPr>
        <p:spPr>
          <a:xfrm>
            <a:off x="868680" y="4892040"/>
            <a:ext cx="2926080" cy="0"/>
          </a:xfrm>
          <a:prstGeom prst="line">
            <a:avLst/>
          </a:prstGeom>
          <a:ln w="19050">
            <a:solidFill>
              <a:srgbClr val="3E8E6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5120640"/>
            <a:ext cx="10058400" cy="822960"/>
          </a:xfrm>
          <a:prstGeom prst="rect">
            <a:avLst/>
          </a:prstGeom>
          <a:noFill/>
        </p:spPr>
        <p:txBody>
          <a:bodyPr wrap="square" anchor="t" lIns="0" rIns="0" tIns="0" bIns="0">
            <a:spAutoFit/>
          </a:bodyPr>
          <a:lstStyle/>
          <a:p>
            <a:pPr algn="l">
              <a:lnSpc>
                <a:spcPct val="125000"/>
              </a:lnSpc>
              <a:spcBef>
                <a:spcPts val="0"/>
              </a:spcBef>
              <a:spcAft>
                <a:spcPts val="0"/>
              </a:spcAft>
            </a:pPr>
            <a:r>
              <a:rPr sz="1350" b="0" i="0">
                <a:solidFill>
                  <a:srgbClr val="FFFFFF"/>
                </a:solidFill>
                <a:latin typeface="Inter"/>
              </a:rPr>
              <a:t>Mirco Profico   ·   Antoine Aubry   ·   François Bernard   ·   Pierre Gellet</a:t>
            </a:r>
          </a:p>
          <a:p>
            <a:pPr algn="l">
              <a:lnSpc>
                <a:spcPct val="125000"/>
              </a:lnSpc>
              <a:spcBef>
                <a:spcPts val="700"/>
              </a:spcBef>
              <a:spcAft>
                <a:spcPts val="0"/>
              </a:spcAft>
            </a:pPr>
            <a:r>
              <a:rPr sz="1150" b="0" i="0" spc="90">
                <a:solidFill>
                  <a:srgbClr val="8DA0B5"/>
                </a:solidFill>
                <a:latin typeface="Inter"/>
              </a:rPr>
              <a:t>Projet de groupe   ·   HEIG-VD   ·   4 septembre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5"/>
        </a:solidFill>
        <a:effectLst/>
      </p:bgPr>
    </p:bg>
    <p:spTree>
      <p:nvGrpSpPr>
        <p:cNvPr id="1" name=""/>
        <p:cNvGrpSpPr/>
        <p:nvPr/>
      </p:nvGrpSpPr>
      <p:grpSpPr/>
      <p:sp>
        <p:nvSpPr>
          <p:cNvPr id="2" name="TextBox 1"/>
          <p:cNvSpPr txBox="1"/>
          <p:nvPr/>
        </p:nvSpPr>
        <p:spPr>
          <a:xfrm>
            <a:off x="868680" y="713232"/>
            <a:ext cx="10454335" cy="237744"/>
          </a:xfrm>
          <a:prstGeom prst="rect">
            <a:avLst/>
          </a:prstGeom>
          <a:noFill/>
        </p:spPr>
        <p:txBody>
          <a:bodyPr wrap="square" anchor="t" lIns="0" rIns="0" tIns="0" bIns="0">
            <a:spAutoFit/>
          </a:bodyPr>
          <a:lstStyle/>
          <a:p>
            <a:pPr algn="l">
              <a:lnSpc>
                <a:spcPct val="125000"/>
              </a:lnSpc>
              <a:spcBef>
                <a:spcPts val="0"/>
              </a:spcBef>
              <a:spcAft>
                <a:spcPts val="0"/>
              </a:spcAft>
            </a:pPr>
            <a:r>
              <a:rPr sz="1050" b="1" i="0" spc="170">
                <a:solidFill>
                  <a:srgbClr val="3E8E68"/>
                </a:solidFill>
                <a:latin typeface="Inter"/>
              </a:rPr>
              <a:t>LE PROBLÈME</a:t>
            </a:r>
          </a:p>
        </p:txBody>
      </p:sp>
      <p:sp>
        <p:nvSpPr>
          <p:cNvPr id="3" name="TextBox 2"/>
          <p:cNvSpPr txBox="1"/>
          <p:nvPr/>
        </p:nvSpPr>
        <p:spPr>
          <a:xfrm>
            <a:off x="868680" y="1042415"/>
            <a:ext cx="10454335" cy="1005840"/>
          </a:xfrm>
          <a:prstGeom prst="rect">
            <a:avLst/>
          </a:prstGeom>
          <a:noFill/>
        </p:spPr>
        <p:txBody>
          <a:bodyPr wrap="square" anchor="t" lIns="0" rIns="0" tIns="0" bIns="0">
            <a:spAutoFit/>
          </a:bodyPr>
          <a:lstStyle/>
          <a:p>
            <a:pPr algn="l">
              <a:lnSpc>
                <a:spcPct val="112000"/>
              </a:lnSpc>
              <a:spcBef>
                <a:spcPts val="0"/>
              </a:spcBef>
              <a:spcAft>
                <a:spcPts val="0"/>
              </a:spcAft>
            </a:pPr>
            <a:r>
              <a:rPr sz="3200" b="1" i="0">
                <a:solidFill>
                  <a:srgbClr val="16233A"/>
                </a:solidFill>
                <a:latin typeface="Fraunces"/>
              </a:rPr>
              <a:t>Organiser une séance de sport reste artisanal</a:t>
            </a:r>
          </a:p>
        </p:txBody>
      </p:sp>
      <p:sp>
        <p:nvSpPr>
          <p:cNvPr id="4" name="TextBox 3"/>
          <p:cNvSpPr txBox="1"/>
          <p:nvPr/>
        </p:nvSpPr>
        <p:spPr>
          <a:xfrm>
            <a:off x="868680" y="1965960"/>
            <a:ext cx="8961120" cy="457200"/>
          </a:xfrm>
          <a:prstGeom prst="rect">
            <a:avLst/>
          </a:prstGeom>
          <a:noFill/>
        </p:spPr>
        <p:txBody>
          <a:bodyPr wrap="square" anchor="t" lIns="0" rIns="0" tIns="0" bIns="0">
            <a:spAutoFit/>
          </a:bodyPr>
          <a:lstStyle/>
          <a:p>
            <a:pPr algn="l">
              <a:lnSpc>
                <a:spcPct val="150000"/>
              </a:lnSpc>
              <a:spcBef>
                <a:spcPts val="0"/>
              </a:spcBef>
              <a:spcAft>
                <a:spcPts val="0"/>
              </a:spcAft>
            </a:pPr>
            <a:r>
              <a:rPr sz="1450" b="0" i="0">
                <a:solidFill>
                  <a:srgbClr val="5B6B7E"/>
                </a:solidFill>
                <a:latin typeface="Inter"/>
              </a:rPr>
              <a:t>Quatre critères doivent tomber juste en même temps : le sport, le niveau, le lieu et l'horaire.</a:t>
            </a:r>
          </a:p>
        </p:txBody>
      </p:sp>
      <p:sp>
        <p:nvSpPr>
          <p:cNvPr id="5" name="Rounded Rectangle 4"/>
          <p:cNvSpPr/>
          <p:nvPr/>
        </p:nvSpPr>
        <p:spPr>
          <a:xfrm>
            <a:off x="868680" y="2834640"/>
            <a:ext cx="3301898" cy="2606040"/>
          </a:xfrm>
          <a:prstGeom prst="roundRect">
            <a:avLst>
              <a:gd name="adj" fmla="val 5500"/>
            </a:avLst>
          </a:prstGeom>
          <a:solidFill>
            <a:srgbClr val="FFFFFF"/>
          </a:solidFill>
          <a:ln w="12700">
            <a:solidFill>
              <a:srgbClr val="DEE5E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79576" y="3127248"/>
            <a:ext cx="2680106" cy="228600"/>
          </a:xfrm>
          <a:prstGeom prst="rect">
            <a:avLst/>
          </a:prstGeom>
          <a:noFill/>
        </p:spPr>
        <p:txBody>
          <a:bodyPr wrap="square" anchor="t" lIns="0" rIns="0" tIns="0" bIns="0">
            <a:spAutoFit/>
          </a:bodyPr>
          <a:lstStyle/>
          <a:p>
            <a:pPr algn="l">
              <a:lnSpc>
                <a:spcPct val="125000"/>
              </a:lnSpc>
              <a:spcBef>
                <a:spcPts val="0"/>
              </a:spcBef>
              <a:spcAft>
                <a:spcPts val="0"/>
              </a:spcAft>
            </a:pPr>
            <a:r>
              <a:rPr sz="1000" b="1" i="0" spc="160">
                <a:solidFill>
                  <a:srgbClr val="3E8E68"/>
                </a:solidFill>
                <a:latin typeface="Inter"/>
              </a:rPr>
              <a:t>01</a:t>
            </a:r>
          </a:p>
        </p:txBody>
      </p:sp>
      <p:sp>
        <p:nvSpPr>
          <p:cNvPr id="7" name="TextBox 6"/>
          <p:cNvSpPr txBox="1"/>
          <p:nvPr/>
        </p:nvSpPr>
        <p:spPr>
          <a:xfrm>
            <a:off x="1179576" y="3474720"/>
            <a:ext cx="2680106" cy="45720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16233A"/>
                </a:solidFill>
                <a:latin typeface="Fraunces"/>
              </a:rPr>
              <a:t>Communautés éclatées</a:t>
            </a:r>
          </a:p>
        </p:txBody>
      </p:sp>
      <p:sp>
        <p:nvSpPr>
          <p:cNvPr id="8" name="TextBox 7"/>
          <p:cNvSpPr txBox="1"/>
          <p:nvPr/>
        </p:nvSpPr>
        <p:spPr>
          <a:xfrm>
            <a:off x="1179576" y="4096512"/>
            <a:ext cx="2680106" cy="1097280"/>
          </a:xfrm>
          <a:prstGeom prst="rect">
            <a:avLst/>
          </a:prstGeom>
          <a:noFill/>
        </p:spPr>
        <p:txBody>
          <a:bodyPr wrap="square" anchor="t" lIns="0" rIns="0" tIns="0" bIns="0">
            <a:spAutoFit/>
          </a:bodyPr>
          <a:lstStyle/>
          <a:p>
            <a:pPr algn="l">
              <a:lnSpc>
                <a:spcPct val="150000"/>
              </a:lnSpc>
              <a:spcBef>
                <a:spcPts val="0"/>
              </a:spcBef>
              <a:spcAft>
                <a:spcPts val="0"/>
              </a:spcAft>
            </a:pPr>
            <a:r>
              <a:rPr sz="1250" b="0" i="0">
                <a:solidFill>
                  <a:srgbClr val="5B6B7E"/>
                </a:solidFill>
                <a:latin typeface="Inter"/>
              </a:rPr>
              <a:t>Un groupe par équipe, un fil par quartier. L'information n'est rassemblée nulle part.</a:t>
            </a:r>
          </a:p>
        </p:txBody>
      </p:sp>
      <p:sp>
        <p:nvSpPr>
          <p:cNvPr id="9" name="Rounded Rectangle 8"/>
          <p:cNvSpPr/>
          <p:nvPr/>
        </p:nvSpPr>
        <p:spPr>
          <a:xfrm>
            <a:off x="4444898" y="2834640"/>
            <a:ext cx="3301898" cy="2606040"/>
          </a:xfrm>
          <a:prstGeom prst="roundRect">
            <a:avLst>
              <a:gd name="adj" fmla="val 5500"/>
            </a:avLst>
          </a:prstGeom>
          <a:solidFill>
            <a:srgbClr val="FFFFFF"/>
          </a:solidFill>
          <a:ln w="12700">
            <a:solidFill>
              <a:srgbClr val="DEE5E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755794" y="3127248"/>
            <a:ext cx="2680106" cy="228600"/>
          </a:xfrm>
          <a:prstGeom prst="rect">
            <a:avLst/>
          </a:prstGeom>
          <a:noFill/>
        </p:spPr>
        <p:txBody>
          <a:bodyPr wrap="square" anchor="t" lIns="0" rIns="0" tIns="0" bIns="0">
            <a:spAutoFit/>
          </a:bodyPr>
          <a:lstStyle/>
          <a:p>
            <a:pPr algn="l">
              <a:lnSpc>
                <a:spcPct val="125000"/>
              </a:lnSpc>
              <a:spcBef>
                <a:spcPts val="0"/>
              </a:spcBef>
              <a:spcAft>
                <a:spcPts val="0"/>
              </a:spcAft>
            </a:pPr>
            <a:r>
              <a:rPr sz="1000" b="1" i="0" spc="160">
                <a:solidFill>
                  <a:srgbClr val="3E8E68"/>
                </a:solidFill>
                <a:latin typeface="Inter"/>
              </a:rPr>
              <a:t>02</a:t>
            </a:r>
          </a:p>
        </p:txBody>
      </p:sp>
      <p:sp>
        <p:nvSpPr>
          <p:cNvPr id="11" name="TextBox 10"/>
          <p:cNvSpPr txBox="1"/>
          <p:nvPr/>
        </p:nvSpPr>
        <p:spPr>
          <a:xfrm>
            <a:off x="4755794" y="3474720"/>
            <a:ext cx="2680106" cy="45720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16233A"/>
                </a:solidFill>
                <a:latin typeface="Fraunces"/>
              </a:rPr>
              <a:t>Critères difficiles à croiser</a:t>
            </a:r>
          </a:p>
        </p:txBody>
      </p:sp>
      <p:sp>
        <p:nvSpPr>
          <p:cNvPr id="12" name="TextBox 11"/>
          <p:cNvSpPr txBox="1"/>
          <p:nvPr/>
        </p:nvSpPr>
        <p:spPr>
          <a:xfrm>
            <a:off x="4755794" y="4096512"/>
            <a:ext cx="2680106" cy="1097280"/>
          </a:xfrm>
          <a:prstGeom prst="rect">
            <a:avLst/>
          </a:prstGeom>
          <a:noFill/>
        </p:spPr>
        <p:txBody>
          <a:bodyPr wrap="square" anchor="t" lIns="0" rIns="0" tIns="0" bIns="0">
            <a:spAutoFit/>
          </a:bodyPr>
          <a:lstStyle/>
          <a:p>
            <a:pPr algn="l">
              <a:lnSpc>
                <a:spcPct val="150000"/>
              </a:lnSpc>
              <a:spcBef>
                <a:spcPts val="0"/>
              </a:spcBef>
              <a:spcAft>
                <a:spcPts val="0"/>
              </a:spcAft>
            </a:pPr>
            <a:r>
              <a:rPr sz="1250" b="0" i="0">
                <a:solidFill>
                  <a:srgbClr val="5B6B7E"/>
                </a:solidFill>
                <a:latin typeface="Inter"/>
              </a:rPr>
              <a:t>Sport, niveau, lieu et disponibilité à la fois : aucun outil généraliste ne croise ces critères.</a:t>
            </a:r>
          </a:p>
        </p:txBody>
      </p:sp>
      <p:sp>
        <p:nvSpPr>
          <p:cNvPr id="13" name="Rounded Rectangle 12"/>
          <p:cNvSpPr/>
          <p:nvPr/>
        </p:nvSpPr>
        <p:spPr>
          <a:xfrm>
            <a:off x="8021116" y="2834640"/>
            <a:ext cx="3301898" cy="2606040"/>
          </a:xfrm>
          <a:prstGeom prst="roundRect">
            <a:avLst>
              <a:gd name="adj" fmla="val 5500"/>
            </a:avLst>
          </a:prstGeom>
          <a:solidFill>
            <a:srgbClr val="FFFFFF"/>
          </a:solidFill>
          <a:ln w="12700">
            <a:solidFill>
              <a:srgbClr val="DEE5E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332012" y="3127248"/>
            <a:ext cx="2680106" cy="228600"/>
          </a:xfrm>
          <a:prstGeom prst="rect">
            <a:avLst/>
          </a:prstGeom>
          <a:noFill/>
        </p:spPr>
        <p:txBody>
          <a:bodyPr wrap="square" anchor="t" lIns="0" rIns="0" tIns="0" bIns="0">
            <a:spAutoFit/>
          </a:bodyPr>
          <a:lstStyle/>
          <a:p>
            <a:pPr algn="l">
              <a:lnSpc>
                <a:spcPct val="125000"/>
              </a:lnSpc>
              <a:spcBef>
                <a:spcPts val="0"/>
              </a:spcBef>
              <a:spcAft>
                <a:spcPts val="0"/>
              </a:spcAft>
            </a:pPr>
            <a:r>
              <a:rPr sz="1000" b="1" i="0" spc="160">
                <a:solidFill>
                  <a:srgbClr val="3E8E68"/>
                </a:solidFill>
                <a:latin typeface="Inter"/>
              </a:rPr>
              <a:t>03</a:t>
            </a:r>
          </a:p>
        </p:txBody>
      </p:sp>
      <p:sp>
        <p:nvSpPr>
          <p:cNvPr id="15" name="TextBox 14"/>
          <p:cNvSpPr txBox="1"/>
          <p:nvPr/>
        </p:nvSpPr>
        <p:spPr>
          <a:xfrm>
            <a:off x="8332012" y="3474720"/>
            <a:ext cx="2680106" cy="45720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16233A"/>
                </a:solidFill>
                <a:latin typeface="Fraunces"/>
              </a:rPr>
              <a:t>Peu de visibilité locale</a:t>
            </a:r>
          </a:p>
        </p:txBody>
      </p:sp>
      <p:sp>
        <p:nvSpPr>
          <p:cNvPr id="16" name="TextBox 15"/>
          <p:cNvSpPr txBox="1"/>
          <p:nvPr/>
        </p:nvSpPr>
        <p:spPr>
          <a:xfrm>
            <a:off x="8332012" y="4096512"/>
            <a:ext cx="2680106" cy="1097280"/>
          </a:xfrm>
          <a:prstGeom prst="rect">
            <a:avLst/>
          </a:prstGeom>
          <a:noFill/>
        </p:spPr>
        <p:txBody>
          <a:bodyPr wrap="square" anchor="t" lIns="0" rIns="0" tIns="0" bIns="0">
            <a:spAutoFit/>
          </a:bodyPr>
          <a:lstStyle/>
          <a:p>
            <a:pPr algn="l">
              <a:lnSpc>
                <a:spcPct val="150000"/>
              </a:lnSpc>
              <a:spcBef>
                <a:spcPts val="0"/>
              </a:spcBef>
              <a:spcAft>
                <a:spcPts val="0"/>
              </a:spcAft>
            </a:pPr>
            <a:r>
              <a:rPr sz="1250" b="0" i="0">
                <a:solidFill>
                  <a:srgbClr val="5B6B7E"/>
                </a:solidFill>
                <a:latin typeface="Inter"/>
              </a:rPr>
              <a:t>Une séance ouverte n'atteint que le cercle de celui qui l'organise.</a:t>
            </a:r>
          </a:p>
        </p:txBody>
      </p:sp>
      <p:sp>
        <p:nvSpPr>
          <p:cNvPr id="17" name="TextBox 16"/>
          <p:cNvSpPr txBox="1"/>
          <p:nvPr/>
        </p:nvSpPr>
        <p:spPr>
          <a:xfrm>
            <a:off x="10774375" y="6309360"/>
            <a:ext cx="548640" cy="237744"/>
          </a:xfrm>
          <a:prstGeom prst="rect">
            <a:avLst/>
          </a:prstGeom>
          <a:noFill/>
        </p:spPr>
        <p:txBody>
          <a:bodyPr wrap="square" anchor="t" lIns="0" rIns="0" tIns="0" bIns="0">
            <a:spAutoFit/>
          </a:bodyPr>
          <a:lstStyle/>
          <a:p>
            <a:pPr algn="r">
              <a:lnSpc>
                <a:spcPct val="125000"/>
              </a:lnSpc>
              <a:spcBef>
                <a:spcPts val="0"/>
              </a:spcBef>
              <a:spcAft>
                <a:spcPts val="0"/>
              </a:spcAft>
            </a:pPr>
            <a:r>
              <a:rPr sz="950" b="0" i="0">
                <a:solidFill>
                  <a:srgbClr val="5B6B7E"/>
                </a:solidFill>
                <a:latin typeface="Inter"/>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TextBox 1"/>
          <p:cNvSpPr txBox="1"/>
          <p:nvPr/>
        </p:nvSpPr>
        <p:spPr>
          <a:xfrm>
            <a:off x="868680" y="713232"/>
            <a:ext cx="10454335" cy="237744"/>
          </a:xfrm>
          <a:prstGeom prst="rect">
            <a:avLst/>
          </a:prstGeom>
          <a:noFill/>
        </p:spPr>
        <p:txBody>
          <a:bodyPr wrap="square" anchor="t" lIns="0" rIns="0" tIns="0" bIns="0">
            <a:spAutoFit/>
          </a:bodyPr>
          <a:lstStyle/>
          <a:p>
            <a:pPr algn="l">
              <a:lnSpc>
                <a:spcPct val="125000"/>
              </a:lnSpc>
              <a:spcBef>
                <a:spcPts val="0"/>
              </a:spcBef>
              <a:spcAft>
                <a:spcPts val="0"/>
              </a:spcAft>
            </a:pPr>
            <a:r>
              <a:rPr sz="1050" b="1" i="0" spc="170">
                <a:solidFill>
                  <a:srgbClr val="8FC7AA"/>
                </a:solidFill>
                <a:latin typeface="Inter"/>
              </a:rPr>
              <a:t>LA SOLUTION</a:t>
            </a:r>
          </a:p>
        </p:txBody>
      </p:sp>
      <p:sp>
        <p:nvSpPr>
          <p:cNvPr id="3" name="TextBox 2"/>
          <p:cNvSpPr txBox="1"/>
          <p:nvPr/>
        </p:nvSpPr>
        <p:spPr>
          <a:xfrm>
            <a:off x="868680" y="1042415"/>
            <a:ext cx="10454335" cy="1005840"/>
          </a:xfrm>
          <a:prstGeom prst="rect">
            <a:avLst/>
          </a:prstGeom>
          <a:noFill/>
        </p:spPr>
        <p:txBody>
          <a:bodyPr wrap="square" anchor="t" lIns="0" rIns="0" tIns="0" bIns="0">
            <a:spAutoFit/>
          </a:bodyPr>
          <a:lstStyle/>
          <a:p>
            <a:pPr algn="l">
              <a:lnSpc>
                <a:spcPct val="112000"/>
              </a:lnSpc>
              <a:spcBef>
                <a:spcPts val="0"/>
              </a:spcBef>
              <a:spcAft>
                <a:spcPts val="0"/>
              </a:spcAft>
            </a:pPr>
            <a:r>
              <a:rPr sz="3200" b="1" i="0">
                <a:solidFill>
                  <a:srgbClr val="FFFFFF"/>
                </a:solidFill>
                <a:latin typeface="Fraunces"/>
              </a:rPr>
              <a:t>L'unité de base est la séance, pas la personne</a:t>
            </a:r>
          </a:p>
        </p:txBody>
      </p:sp>
      <p:sp>
        <p:nvSpPr>
          <p:cNvPr id="4" name="Rounded Rectangle 3"/>
          <p:cNvSpPr/>
          <p:nvPr/>
        </p:nvSpPr>
        <p:spPr>
          <a:xfrm>
            <a:off x="868680" y="2651760"/>
            <a:ext cx="5044287" cy="2377440"/>
          </a:xfrm>
          <a:prstGeom prst="roundRect">
            <a:avLst>
              <a:gd name="adj" fmla="val 5000"/>
            </a:avLst>
          </a:prstGeom>
          <a:solidFill>
            <a:srgbClr val="13345E"/>
          </a:solidFill>
          <a:ln w="12700">
            <a:solidFill>
              <a:srgbClr val="1C427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52728" y="2980944"/>
            <a:ext cx="4276191" cy="274320"/>
          </a:xfrm>
          <a:prstGeom prst="rect">
            <a:avLst/>
          </a:prstGeom>
          <a:noFill/>
        </p:spPr>
        <p:txBody>
          <a:bodyPr wrap="square" anchor="t" lIns="0" rIns="0" tIns="0" bIns="0">
            <a:spAutoFit/>
          </a:bodyPr>
          <a:lstStyle/>
          <a:p>
            <a:pPr algn="l">
              <a:lnSpc>
                <a:spcPct val="125000"/>
              </a:lnSpc>
              <a:spcBef>
                <a:spcPts val="0"/>
              </a:spcBef>
              <a:spcAft>
                <a:spcPts val="0"/>
              </a:spcAft>
            </a:pPr>
            <a:r>
              <a:rPr sz="1000" b="1" i="0" spc="150">
                <a:solidFill>
                  <a:srgbClr val="8DA0B5"/>
                </a:solidFill>
                <a:latin typeface="Inter"/>
              </a:rPr>
              <a:t>APPLICATIONS DE MISE EN RELATION</a:t>
            </a:r>
          </a:p>
        </p:txBody>
      </p:sp>
      <p:sp>
        <p:nvSpPr>
          <p:cNvPr id="6" name="TextBox 5"/>
          <p:cNvSpPr txBox="1"/>
          <p:nvPr/>
        </p:nvSpPr>
        <p:spPr>
          <a:xfrm>
            <a:off x="1252728" y="3474720"/>
            <a:ext cx="4276191" cy="914400"/>
          </a:xfrm>
          <a:prstGeom prst="rect">
            <a:avLst/>
          </a:prstGeom>
          <a:noFill/>
        </p:spPr>
        <p:txBody>
          <a:bodyPr wrap="square" anchor="t" lIns="0" rIns="0" tIns="0" bIns="0">
            <a:spAutoFit/>
          </a:bodyPr>
          <a:lstStyle/>
          <a:p>
            <a:pPr algn="l">
              <a:lnSpc>
                <a:spcPct val="130000"/>
              </a:lnSpc>
              <a:spcBef>
                <a:spcPts val="0"/>
              </a:spcBef>
              <a:spcAft>
                <a:spcPts val="0"/>
              </a:spcAft>
            </a:pPr>
            <a:r>
              <a:rPr sz="1900" b="0" i="1">
                <a:solidFill>
                  <a:srgbClr val="8DA0B5"/>
                </a:solidFill>
                <a:latin typeface="Fraunces"/>
              </a:rPr>
              <a:t>« Je cherche quelqu'un
avec qui faire du sport. »</a:t>
            </a:r>
          </a:p>
        </p:txBody>
      </p:sp>
      <p:sp>
        <p:nvSpPr>
          <p:cNvPr id="7" name="TextBox 6"/>
          <p:cNvSpPr txBox="1"/>
          <p:nvPr/>
        </p:nvSpPr>
        <p:spPr>
          <a:xfrm>
            <a:off x="1252728" y="4370832"/>
            <a:ext cx="4276191" cy="548640"/>
          </a:xfrm>
          <a:prstGeom prst="rect">
            <a:avLst/>
          </a:prstGeom>
          <a:noFill/>
        </p:spPr>
        <p:txBody>
          <a:bodyPr wrap="square" anchor="t" lIns="0" rIns="0" tIns="0" bIns="0">
            <a:spAutoFit/>
          </a:bodyPr>
          <a:lstStyle/>
          <a:p>
            <a:pPr algn="l">
              <a:lnSpc>
                <a:spcPct val="145000"/>
              </a:lnSpc>
              <a:spcBef>
                <a:spcPts val="0"/>
              </a:spcBef>
              <a:spcAft>
                <a:spcPts val="0"/>
              </a:spcAft>
            </a:pPr>
            <a:r>
              <a:rPr sz="1250" b="0" i="0">
                <a:solidFill>
                  <a:srgbClr val="8DA0B5"/>
                </a:solidFill>
                <a:latin typeface="Inter"/>
              </a:rPr>
              <a:t>Deux profils compatibles sont mis en relation. La séance reste entièrement à organiser.</a:t>
            </a:r>
          </a:p>
        </p:txBody>
      </p:sp>
      <p:sp>
        <p:nvSpPr>
          <p:cNvPr id="8" name="Rounded Rectangle 7"/>
          <p:cNvSpPr/>
          <p:nvPr/>
        </p:nvSpPr>
        <p:spPr>
          <a:xfrm>
            <a:off x="6278727" y="2651760"/>
            <a:ext cx="5044287" cy="2377440"/>
          </a:xfrm>
          <a:prstGeom prst="roundRect">
            <a:avLst>
              <a:gd name="adj" fmla="val 5000"/>
            </a:avLst>
          </a:prstGeom>
          <a:solidFill>
            <a:srgbClr val="2E6B4E"/>
          </a:solidFill>
          <a:ln w="12700">
            <a:solidFill>
              <a:srgbClr val="3E8E6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62775" y="2980944"/>
            <a:ext cx="4276191" cy="274320"/>
          </a:xfrm>
          <a:prstGeom prst="rect">
            <a:avLst/>
          </a:prstGeom>
          <a:noFill/>
        </p:spPr>
        <p:txBody>
          <a:bodyPr wrap="square" anchor="t" lIns="0" rIns="0" tIns="0" bIns="0">
            <a:spAutoFit/>
          </a:bodyPr>
          <a:lstStyle/>
          <a:p>
            <a:pPr algn="l">
              <a:lnSpc>
                <a:spcPct val="125000"/>
              </a:lnSpc>
              <a:spcBef>
                <a:spcPts val="0"/>
              </a:spcBef>
              <a:spcAft>
                <a:spcPts val="0"/>
              </a:spcAft>
            </a:pPr>
            <a:r>
              <a:rPr sz="1000" b="1" i="0" spc="150">
                <a:solidFill>
                  <a:srgbClr val="8FC7AA"/>
                </a:solidFill>
                <a:latin typeface="Inter"/>
              </a:rPr>
              <a:t>FITMEET</a:t>
            </a:r>
          </a:p>
        </p:txBody>
      </p:sp>
      <p:sp>
        <p:nvSpPr>
          <p:cNvPr id="10" name="TextBox 9"/>
          <p:cNvSpPr txBox="1"/>
          <p:nvPr/>
        </p:nvSpPr>
        <p:spPr>
          <a:xfrm>
            <a:off x="6662775" y="3474720"/>
            <a:ext cx="4276191" cy="914400"/>
          </a:xfrm>
          <a:prstGeom prst="rect">
            <a:avLst/>
          </a:prstGeom>
          <a:noFill/>
        </p:spPr>
        <p:txBody>
          <a:bodyPr wrap="square" anchor="t" lIns="0" rIns="0" tIns="0" bIns="0">
            <a:spAutoFit/>
          </a:bodyPr>
          <a:lstStyle/>
          <a:p>
            <a:pPr algn="l">
              <a:lnSpc>
                <a:spcPct val="130000"/>
              </a:lnSpc>
              <a:spcBef>
                <a:spcPts val="0"/>
              </a:spcBef>
              <a:spcAft>
                <a:spcPts val="0"/>
              </a:spcAft>
            </a:pPr>
            <a:r>
              <a:rPr sz="1900" b="1" i="0">
                <a:solidFill>
                  <a:srgbClr val="FFFFFF"/>
                </a:solidFill>
                <a:latin typeface="Fraunces"/>
              </a:rPr>
              <a:t>« Je joue au badminton
jeudi à 18 h, qui vient ? »</a:t>
            </a:r>
          </a:p>
        </p:txBody>
      </p:sp>
      <p:sp>
        <p:nvSpPr>
          <p:cNvPr id="11" name="TextBox 10"/>
          <p:cNvSpPr txBox="1"/>
          <p:nvPr/>
        </p:nvSpPr>
        <p:spPr>
          <a:xfrm>
            <a:off x="6662775" y="4370832"/>
            <a:ext cx="4276191" cy="548640"/>
          </a:xfrm>
          <a:prstGeom prst="rect">
            <a:avLst/>
          </a:prstGeom>
          <a:noFill/>
        </p:spPr>
        <p:txBody>
          <a:bodyPr wrap="square" anchor="t" lIns="0" rIns="0" tIns="0" bIns="0">
            <a:spAutoFit/>
          </a:bodyPr>
          <a:lstStyle/>
          <a:p>
            <a:pPr algn="l">
              <a:lnSpc>
                <a:spcPct val="145000"/>
              </a:lnSpc>
              <a:spcBef>
                <a:spcPts val="0"/>
              </a:spcBef>
              <a:spcAft>
                <a:spcPts val="0"/>
              </a:spcAft>
            </a:pPr>
            <a:r>
              <a:rPr sz="1250" b="0" i="0">
                <a:solidFill>
                  <a:srgbClr val="E7F1EC"/>
                </a:solidFill>
                <a:latin typeface="Inter"/>
              </a:rPr>
              <a:t>La séance existe avant la rencontre : un lieu, une heure, un niveau, des places.</a:t>
            </a:r>
          </a:p>
        </p:txBody>
      </p:sp>
      <p:sp>
        <p:nvSpPr>
          <p:cNvPr id="12" name="TextBox 11"/>
          <p:cNvSpPr txBox="1"/>
          <p:nvPr/>
        </p:nvSpPr>
        <p:spPr>
          <a:xfrm>
            <a:off x="10774375" y="6309360"/>
            <a:ext cx="548640" cy="237744"/>
          </a:xfrm>
          <a:prstGeom prst="rect">
            <a:avLst/>
          </a:prstGeom>
          <a:noFill/>
        </p:spPr>
        <p:txBody>
          <a:bodyPr wrap="square" anchor="t" lIns="0" rIns="0" tIns="0" bIns="0">
            <a:spAutoFit/>
          </a:bodyPr>
          <a:lstStyle/>
          <a:p>
            <a:pPr algn="r">
              <a:lnSpc>
                <a:spcPct val="125000"/>
              </a:lnSpc>
              <a:spcBef>
                <a:spcPts val="0"/>
              </a:spcBef>
              <a:spcAft>
                <a:spcPts val="0"/>
              </a:spcAft>
            </a:pPr>
            <a:r>
              <a:rPr sz="950" b="0" i="0">
                <a:solidFill>
                  <a:srgbClr val="8DA0B5"/>
                </a:solidFill>
                <a:latin typeface="Inter"/>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5"/>
        </a:solidFill>
        <a:effectLst/>
      </p:bgPr>
    </p:bg>
    <p:spTree>
      <p:nvGrpSpPr>
        <p:cNvPr id="1" name=""/>
        <p:cNvGrpSpPr/>
        <p:nvPr/>
      </p:nvGrpSpPr>
      <p:grpSpPr/>
      <p:sp>
        <p:nvSpPr>
          <p:cNvPr id="2" name="TextBox 1"/>
          <p:cNvSpPr txBox="1"/>
          <p:nvPr/>
        </p:nvSpPr>
        <p:spPr>
          <a:xfrm>
            <a:off x="868680" y="713232"/>
            <a:ext cx="10454335" cy="237744"/>
          </a:xfrm>
          <a:prstGeom prst="rect">
            <a:avLst/>
          </a:prstGeom>
          <a:noFill/>
        </p:spPr>
        <p:txBody>
          <a:bodyPr wrap="square" anchor="t" lIns="0" rIns="0" tIns="0" bIns="0">
            <a:spAutoFit/>
          </a:bodyPr>
          <a:lstStyle/>
          <a:p>
            <a:pPr algn="l">
              <a:lnSpc>
                <a:spcPct val="125000"/>
              </a:lnSpc>
              <a:spcBef>
                <a:spcPts val="0"/>
              </a:spcBef>
              <a:spcAft>
                <a:spcPts val="0"/>
              </a:spcAft>
            </a:pPr>
            <a:r>
              <a:rPr sz="1050" b="1" i="0" spc="170">
                <a:solidFill>
                  <a:srgbClr val="3E8E68"/>
                </a:solidFill>
                <a:latin typeface="Inter"/>
              </a:rPr>
              <a:t>LE PRODUIT</a:t>
            </a:r>
          </a:p>
        </p:txBody>
      </p:sp>
      <p:sp>
        <p:nvSpPr>
          <p:cNvPr id="3" name="TextBox 2"/>
          <p:cNvSpPr txBox="1"/>
          <p:nvPr/>
        </p:nvSpPr>
        <p:spPr>
          <a:xfrm>
            <a:off x="868680" y="1042415"/>
            <a:ext cx="10454335" cy="1005840"/>
          </a:xfrm>
          <a:prstGeom prst="rect">
            <a:avLst/>
          </a:prstGeom>
          <a:noFill/>
        </p:spPr>
        <p:txBody>
          <a:bodyPr wrap="square" anchor="t" lIns="0" rIns="0" tIns="0" bIns="0">
            <a:spAutoFit/>
          </a:bodyPr>
          <a:lstStyle/>
          <a:p>
            <a:pPr algn="l">
              <a:lnSpc>
                <a:spcPct val="112000"/>
              </a:lnSpc>
              <a:spcBef>
                <a:spcPts val="0"/>
              </a:spcBef>
              <a:spcAft>
                <a:spcPts val="0"/>
              </a:spcAft>
            </a:pPr>
            <a:r>
              <a:rPr sz="3200" b="1" i="0">
                <a:solidFill>
                  <a:srgbClr val="16233A"/>
                </a:solidFill>
                <a:latin typeface="Fraunces"/>
              </a:rPr>
              <a:t>Créer, découvrir, rejoindre</a:t>
            </a:r>
          </a:p>
        </p:txBody>
      </p:sp>
      <p:pic>
        <p:nvPicPr>
          <p:cNvPr id="4" name="Picture 3" descr="phone_list.png"/>
          <p:cNvPicPr>
            <a:picLocks noChangeAspect="1"/>
          </p:cNvPicPr>
          <p:nvPr/>
        </p:nvPicPr>
        <p:blipFill>
          <a:blip r:embed="rId2"/>
          <a:stretch>
            <a:fillRect/>
          </a:stretch>
        </p:blipFill>
        <p:spPr>
          <a:xfrm>
            <a:off x="868680" y="2011680"/>
            <a:ext cx="1887369" cy="3566160"/>
          </a:xfrm>
          <a:prstGeom prst="rect">
            <a:avLst/>
          </a:prstGeom>
        </p:spPr>
      </p:pic>
      <p:sp>
        <p:nvSpPr>
          <p:cNvPr id="5" name="TextBox 4"/>
          <p:cNvSpPr txBox="1"/>
          <p:nvPr/>
        </p:nvSpPr>
        <p:spPr>
          <a:xfrm>
            <a:off x="685800" y="5623560"/>
            <a:ext cx="2253128" cy="274320"/>
          </a:xfrm>
          <a:prstGeom prst="rect">
            <a:avLst/>
          </a:prstGeom>
          <a:noFill/>
        </p:spPr>
        <p:txBody>
          <a:bodyPr wrap="square" anchor="t" lIns="0" rIns="0" tIns="0" bIns="0">
            <a:spAutoFit/>
          </a:bodyPr>
          <a:lstStyle/>
          <a:p>
            <a:pPr algn="ctr">
              <a:lnSpc>
                <a:spcPct val="125000"/>
              </a:lnSpc>
              <a:spcBef>
                <a:spcPts val="0"/>
              </a:spcBef>
              <a:spcAft>
                <a:spcPts val="0"/>
              </a:spcAft>
            </a:pPr>
            <a:r>
              <a:rPr sz="1150" b="0" i="0">
                <a:solidFill>
                  <a:srgbClr val="5B6B7E"/>
                </a:solidFill>
                <a:latin typeface="Inter"/>
              </a:rPr>
              <a:t>Liste et filtres</a:t>
            </a:r>
          </a:p>
        </p:txBody>
      </p:sp>
      <p:pic>
        <p:nvPicPr>
          <p:cNvPr id="6" name="Picture 5" descr="phone_map.png"/>
          <p:cNvPicPr>
            <a:picLocks noChangeAspect="1"/>
          </p:cNvPicPr>
          <p:nvPr/>
        </p:nvPicPr>
        <p:blipFill>
          <a:blip r:embed="rId3"/>
          <a:stretch>
            <a:fillRect/>
          </a:stretch>
        </p:blipFill>
        <p:spPr>
          <a:xfrm>
            <a:off x="3121808" y="2011680"/>
            <a:ext cx="1887369" cy="3566160"/>
          </a:xfrm>
          <a:prstGeom prst="rect">
            <a:avLst/>
          </a:prstGeom>
        </p:spPr>
      </p:pic>
      <p:sp>
        <p:nvSpPr>
          <p:cNvPr id="7" name="TextBox 6"/>
          <p:cNvSpPr txBox="1"/>
          <p:nvPr/>
        </p:nvSpPr>
        <p:spPr>
          <a:xfrm>
            <a:off x="2938928" y="5623560"/>
            <a:ext cx="2253128" cy="274320"/>
          </a:xfrm>
          <a:prstGeom prst="rect">
            <a:avLst/>
          </a:prstGeom>
          <a:noFill/>
        </p:spPr>
        <p:txBody>
          <a:bodyPr wrap="square" anchor="t" lIns="0" rIns="0" tIns="0" bIns="0">
            <a:spAutoFit/>
          </a:bodyPr>
          <a:lstStyle/>
          <a:p>
            <a:pPr algn="ctr">
              <a:lnSpc>
                <a:spcPct val="125000"/>
              </a:lnSpc>
              <a:spcBef>
                <a:spcPts val="0"/>
              </a:spcBef>
              <a:spcAft>
                <a:spcPts val="0"/>
              </a:spcAft>
            </a:pPr>
            <a:r>
              <a:rPr sz="1150" b="0" i="0">
                <a:solidFill>
                  <a:srgbClr val="5B6B7E"/>
                </a:solidFill>
                <a:latin typeface="Inter"/>
              </a:rPr>
              <a:t>Carte</a:t>
            </a:r>
          </a:p>
        </p:txBody>
      </p:sp>
      <p:pic>
        <p:nvPicPr>
          <p:cNvPr id="8" name="Picture 7" descr="phone_login.png"/>
          <p:cNvPicPr>
            <a:picLocks noChangeAspect="1"/>
          </p:cNvPicPr>
          <p:nvPr/>
        </p:nvPicPr>
        <p:blipFill>
          <a:blip r:embed="rId4"/>
          <a:stretch>
            <a:fillRect/>
          </a:stretch>
        </p:blipFill>
        <p:spPr>
          <a:xfrm>
            <a:off x="5374936" y="2011680"/>
            <a:ext cx="1887369" cy="3566160"/>
          </a:xfrm>
          <a:prstGeom prst="rect">
            <a:avLst/>
          </a:prstGeom>
        </p:spPr>
      </p:pic>
      <p:sp>
        <p:nvSpPr>
          <p:cNvPr id="9" name="TextBox 8"/>
          <p:cNvSpPr txBox="1"/>
          <p:nvPr/>
        </p:nvSpPr>
        <p:spPr>
          <a:xfrm>
            <a:off x="5192056" y="5623560"/>
            <a:ext cx="2253128" cy="274320"/>
          </a:xfrm>
          <a:prstGeom prst="rect">
            <a:avLst/>
          </a:prstGeom>
          <a:noFill/>
        </p:spPr>
        <p:txBody>
          <a:bodyPr wrap="square" anchor="t" lIns="0" rIns="0" tIns="0" bIns="0">
            <a:spAutoFit/>
          </a:bodyPr>
          <a:lstStyle/>
          <a:p>
            <a:pPr algn="ctr">
              <a:lnSpc>
                <a:spcPct val="125000"/>
              </a:lnSpc>
              <a:spcBef>
                <a:spcPts val="0"/>
              </a:spcBef>
              <a:spcAft>
                <a:spcPts val="0"/>
              </a:spcAft>
            </a:pPr>
            <a:r>
              <a:rPr sz="1150" b="0" i="0">
                <a:solidFill>
                  <a:srgbClr val="5B6B7E"/>
                </a:solidFill>
                <a:latin typeface="Inter"/>
              </a:rPr>
              <a:t>Compte</a:t>
            </a:r>
          </a:p>
        </p:txBody>
      </p:sp>
      <p:sp>
        <p:nvSpPr>
          <p:cNvPr id="10" name="TextBox 9"/>
          <p:cNvSpPr txBox="1"/>
          <p:nvPr/>
        </p:nvSpPr>
        <p:spPr>
          <a:xfrm>
            <a:off x="7948104" y="2103120"/>
            <a:ext cx="3374911" cy="274320"/>
          </a:xfrm>
          <a:prstGeom prst="rect">
            <a:avLst/>
          </a:prstGeom>
          <a:noFill/>
        </p:spPr>
        <p:txBody>
          <a:bodyPr wrap="square" anchor="t" lIns="0" rIns="0" tIns="0" bIns="0">
            <a:spAutoFit/>
          </a:bodyPr>
          <a:lstStyle/>
          <a:p>
            <a:pPr algn="l">
              <a:lnSpc>
                <a:spcPct val="125000"/>
              </a:lnSpc>
              <a:spcBef>
                <a:spcPts val="0"/>
              </a:spcBef>
              <a:spcAft>
                <a:spcPts val="0"/>
              </a:spcAft>
            </a:pPr>
            <a:r>
              <a:rPr sz="1700" b="1" i="0">
                <a:solidFill>
                  <a:srgbClr val="16233A"/>
                </a:solidFill>
                <a:latin typeface="Fraunces"/>
              </a:rPr>
              <a:t>Créer une séance</a:t>
            </a:r>
          </a:p>
        </p:txBody>
      </p:sp>
      <p:cxnSp>
        <p:nvCxnSpPr>
          <p:cNvPr id="11" name="Connector 10"/>
          <p:cNvCxnSpPr/>
          <p:nvPr/>
        </p:nvCxnSpPr>
        <p:spPr>
          <a:xfrm>
            <a:off x="7948104" y="2542032"/>
            <a:ext cx="1188720" cy="0"/>
          </a:xfrm>
          <a:prstGeom prst="line">
            <a:avLst/>
          </a:prstGeom>
          <a:ln w="19050">
            <a:solidFill>
              <a:srgbClr val="3E8E6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948104" y="2706624"/>
            <a:ext cx="3374911" cy="1005840"/>
          </a:xfrm>
          <a:prstGeom prst="rect">
            <a:avLst/>
          </a:prstGeom>
          <a:noFill/>
        </p:spPr>
        <p:txBody>
          <a:bodyPr wrap="square" anchor="t" lIns="0" rIns="0" tIns="0" bIns="0">
            <a:spAutoFit/>
          </a:bodyPr>
          <a:lstStyle/>
          <a:p>
            <a:pPr algn="l">
              <a:lnSpc>
                <a:spcPct val="145000"/>
              </a:lnSpc>
              <a:spcBef>
                <a:spcPts val="0"/>
              </a:spcBef>
              <a:spcAft>
                <a:spcPts val="0"/>
              </a:spcAft>
            </a:pPr>
            <a:r>
              <a:rPr sz="1200" b="0" i="0">
                <a:solidFill>
                  <a:srgbClr val="5B6B7E"/>
                </a:solidFill>
                <a:latin typeface="Inter"/>
              </a:rPr>
              <a:t>Sport, titre, description, date, heure, durée, lieu posé sur la carte, niveau et capacité.</a:t>
            </a:r>
          </a:p>
        </p:txBody>
      </p:sp>
      <p:sp>
        <p:nvSpPr>
          <p:cNvPr id="13" name="TextBox 12"/>
          <p:cNvSpPr txBox="1"/>
          <p:nvPr/>
        </p:nvSpPr>
        <p:spPr>
          <a:xfrm>
            <a:off x="7948104" y="3474720"/>
            <a:ext cx="3374911" cy="274320"/>
          </a:xfrm>
          <a:prstGeom prst="rect">
            <a:avLst/>
          </a:prstGeom>
          <a:noFill/>
        </p:spPr>
        <p:txBody>
          <a:bodyPr wrap="square" anchor="t" lIns="0" rIns="0" tIns="0" bIns="0">
            <a:spAutoFit/>
          </a:bodyPr>
          <a:lstStyle/>
          <a:p>
            <a:pPr algn="l">
              <a:lnSpc>
                <a:spcPct val="125000"/>
              </a:lnSpc>
              <a:spcBef>
                <a:spcPts val="0"/>
              </a:spcBef>
              <a:spcAft>
                <a:spcPts val="0"/>
              </a:spcAft>
            </a:pPr>
            <a:r>
              <a:rPr sz="1700" b="1" i="0">
                <a:solidFill>
                  <a:srgbClr val="16233A"/>
                </a:solidFill>
                <a:latin typeface="Fraunces"/>
              </a:rPr>
              <a:t>Découvrir</a:t>
            </a:r>
          </a:p>
        </p:txBody>
      </p:sp>
      <p:cxnSp>
        <p:nvCxnSpPr>
          <p:cNvPr id="14" name="Connector 13"/>
          <p:cNvCxnSpPr/>
          <p:nvPr/>
        </p:nvCxnSpPr>
        <p:spPr>
          <a:xfrm>
            <a:off x="7948104" y="3913632"/>
            <a:ext cx="1188720" cy="0"/>
          </a:xfrm>
          <a:prstGeom prst="line">
            <a:avLst/>
          </a:prstGeom>
          <a:ln w="19050">
            <a:solidFill>
              <a:srgbClr val="3E8E6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948104" y="4078224"/>
            <a:ext cx="3374911" cy="1005840"/>
          </a:xfrm>
          <a:prstGeom prst="rect">
            <a:avLst/>
          </a:prstGeom>
          <a:noFill/>
        </p:spPr>
        <p:txBody>
          <a:bodyPr wrap="square" anchor="t" lIns="0" rIns="0" tIns="0" bIns="0">
            <a:spAutoFit/>
          </a:bodyPr>
          <a:lstStyle/>
          <a:p>
            <a:pPr algn="l">
              <a:lnSpc>
                <a:spcPct val="145000"/>
              </a:lnSpc>
              <a:spcBef>
                <a:spcPts val="0"/>
              </a:spcBef>
              <a:spcAft>
                <a:spcPts val="0"/>
              </a:spcAft>
            </a:pPr>
            <a:r>
              <a:rPr sz="1200" b="0" i="0">
                <a:solidFill>
                  <a:srgbClr val="5B6B7E"/>
                </a:solidFill>
                <a:latin typeface="Inter"/>
              </a:rPr>
              <a:t>Liste triée par distance ou carte interactive, filtrables par sport, date et places restantes.</a:t>
            </a:r>
          </a:p>
        </p:txBody>
      </p:sp>
      <p:sp>
        <p:nvSpPr>
          <p:cNvPr id="16" name="TextBox 15"/>
          <p:cNvSpPr txBox="1"/>
          <p:nvPr/>
        </p:nvSpPr>
        <p:spPr>
          <a:xfrm>
            <a:off x="7948104" y="4846320"/>
            <a:ext cx="3374911" cy="274320"/>
          </a:xfrm>
          <a:prstGeom prst="rect">
            <a:avLst/>
          </a:prstGeom>
          <a:noFill/>
        </p:spPr>
        <p:txBody>
          <a:bodyPr wrap="square" anchor="t" lIns="0" rIns="0" tIns="0" bIns="0">
            <a:spAutoFit/>
          </a:bodyPr>
          <a:lstStyle/>
          <a:p>
            <a:pPr algn="l">
              <a:lnSpc>
                <a:spcPct val="125000"/>
              </a:lnSpc>
              <a:spcBef>
                <a:spcPts val="0"/>
              </a:spcBef>
              <a:spcAft>
                <a:spcPts val="0"/>
              </a:spcAft>
            </a:pPr>
            <a:r>
              <a:rPr sz="1700" b="1" i="0">
                <a:solidFill>
                  <a:srgbClr val="16233A"/>
                </a:solidFill>
                <a:latin typeface="Fraunces"/>
              </a:rPr>
              <a:t>Rejoindre</a:t>
            </a:r>
          </a:p>
        </p:txBody>
      </p:sp>
      <p:cxnSp>
        <p:nvCxnSpPr>
          <p:cNvPr id="17" name="Connector 16"/>
          <p:cNvCxnSpPr/>
          <p:nvPr/>
        </p:nvCxnSpPr>
        <p:spPr>
          <a:xfrm>
            <a:off x="7948104" y="5285232"/>
            <a:ext cx="1188720" cy="0"/>
          </a:xfrm>
          <a:prstGeom prst="line">
            <a:avLst/>
          </a:prstGeom>
          <a:ln w="19050">
            <a:solidFill>
              <a:srgbClr val="3E8E6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948104" y="5449824"/>
            <a:ext cx="3374911" cy="1005840"/>
          </a:xfrm>
          <a:prstGeom prst="rect">
            <a:avLst/>
          </a:prstGeom>
          <a:noFill/>
        </p:spPr>
        <p:txBody>
          <a:bodyPr wrap="square" anchor="t" lIns="0" rIns="0" tIns="0" bIns="0">
            <a:spAutoFit/>
          </a:bodyPr>
          <a:lstStyle/>
          <a:p>
            <a:pPr algn="l">
              <a:lnSpc>
                <a:spcPct val="145000"/>
              </a:lnSpc>
              <a:spcBef>
                <a:spcPts val="0"/>
              </a:spcBef>
              <a:spcAft>
                <a:spcPts val="0"/>
              </a:spcAft>
            </a:pPr>
            <a:r>
              <a:rPr sz="1200" b="0" i="0">
                <a:solidFill>
                  <a:srgbClr val="5B6B7E"/>
                </a:solidFill>
                <a:latin typeface="Inter"/>
              </a:rPr>
              <a:t>Une place est prise dans la limite de la capacité, et un salon de discussion s'ouvre.</a:t>
            </a:r>
          </a:p>
        </p:txBody>
      </p:sp>
      <p:sp>
        <p:nvSpPr>
          <p:cNvPr id="19" name="TextBox 18"/>
          <p:cNvSpPr txBox="1"/>
          <p:nvPr/>
        </p:nvSpPr>
        <p:spPr>
          <a:xfrm>
            <a:off x="10774375" y="6309360"/>
            <a:ext cx="548640" cy="237744"/>
          </a:xfrm>
          <a:prstGeom prst="rect">
            <a:avLst/>
          </a:prstGeom>
          <a:noFill/>
        </p:spPr>
        <p:txBody>
          <a:bodyPr wrap="square" anchor="t" lIns="0" rIns="0" tIns="0" bIns="0">
            <a:spAutoFit/>
          </a:bodyPr>
          <a:lstStyle/>
          <a:p>
            <a:pPr algn="r">
              <a:lnSpc>
                <a:spcPct val="125000"/>
              </a:lnSpc>
              <a:spcBef>
                <a:spcPts val="0"/>
              </a:spcBef>
              <a:spcAft>
                <a:spcPts val="0"/>
              </a:spcAft>
            </a:pPr>
            <a:r>
              <a:rPr sz="950" b="0" i="0">
                <a:solidFill>
                  <a:srgbClr val="5B6B7E"/>
                </a:solidFill>
                <a:latin typeface="Inter"/>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5"/>
        </a:solidFill>
        <a:effectLst/>
      </p:bgPr>
    </p:bg>
    <p:spTree>
      <p:nvGrpSpPr>
        <p:cNvPr id="1" name=""/>
        <p:cNvGrpSpPr/>
        <p:nvPr/>
      </p:nvGrpSpPr>
      <p:grpSpPr/>
      <p:sp>
        <p:nvSpPr>
          <p:cNvPr id="2" name="TextBox 1"/>
          <p:cNvSpPr txBox="1"/>
          <p:nvPr/>
        </p:nvSpPr>
        <p:spPr>
          <a:xfrm>
            <a:off x="868680" y="713232"/>
            <a:ext cx="10454335" cy="237744"/>
          </a:xfrm>
          <a:prstGeom prst="rect">
            <a:avLst/>
          </a:prstGeom>
          <a:noFill/>
        </p:spPr>
        <p:txBody>
          <a:bodyPr wrap="square" anchor="t" lIns="0" rIns="0" tIns="0" bIns="0">
            <a:spAutoFit/>
          </a:bodyPr>
          <a:lstStyle/>
          <a:p>
            <a:pPr algn="l">
              <a:lnSpc>
                <a:spcPct val="125000"/>
              </a:lnSpc>
              <a:spcBef>
                <a:spcPts val="0"/>
              </a:spcBef>
              <a:spcAft>
                <a:spcPts val="0"/>
              </a:spcAft>
            </a:pPr>
            <a:r>
              <a:rPr sz="1050" b="1" i="0" spc="170">
                <a:solidFill>
                  <a:srgbClr val="3E8E68"/>
                </a:solidFill>
                <a:latin typeface="Inter"/>
              </a:rPr>
              <a:t>PROCESSUS DE TRAVAIL</a:t>
            </a:r>
          </a:p>
        </p:txBody>
      </p:sp>
      <p:sp>
        <p:nvSpPr>
          <p:cNvPr id="3" name="TextBox 2"/>
          <p:cNvSpPr txBox="1"/>
          <p:nvPr/>
        </p:nvSpPr>
        <p:spPr>
          <a:xfrm>
            <a:off x="868680" y="1042415"/>
            <a:ext cx="10454335" cy="1005840"/>
          </a:xfrm>
          <a:prstGeom prst="rect">
            <a:avLst/>
          </a:prstGeom>
          <a:noFill/>
        </p:spPr>
        <p:txBody>
          <a:bodyPr wrap="square" anchor="t" lIns="0" rIns="0" tIns="0" bIns="0">
            <a:spAutoFit/>
          </a:bodyPr>
          <a:lstStyle/>
          <a:p>
            <a:pPr algn="l">
              <a:lnSpc>
                <a:spcPct val="112000"/>
              </a:lnSpc>
              <a:spcBef>
                <a:spcPts val="0"/>
              </a:spcBef>
              <a:spcAft>
                <a:spcPts val="0"/>
              </a:spcAft>
            </a:pPr>
            <a:r>
              <a:rPr sz="3200" b="1" i="0">
                <a:solidFill>
                  <a:srgbClr val="16233A"/>
                </a:solidFill>
                <a:latin typeface="Fraunces"/>
              </a:rPr>
              <a:t>Un domaine par personne, une relecture croisée</a:t>
            </a:r>
          </a:p>
        </p:txBody>
      </p:sp>
      <p:sp>
        <p:nvSpPr>
          <p:cNvPr id="4" name="Rounded Rectangle 3"/>
          <p:cNvSpPr/>
          <p:nvPr/>
        </p:nvSpPr>
        <p:spPr>
          <a:xfrm>
            <a:off x="868680" y="1920240"/>
            <a:ext cx="2407843" cy="1691640"/>
          </a:xfrm>
          <a:prstGeom prst="roundRect">
            <a:avLst>
              <a:gd name="adj" fmla="val 6000"/>
            </a:avLst>
          </a:prstGeom>
          <a:solidFill>
            <a:srgbClr val="FFFFFF"/>
          </a:solidFill>
          <a:ln w="12700">
            <a:solidFill>
              <a:srgbClr val="DEE5E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68680" y="1920240"/>
            <a:ext cx="2407843" cy="73152"/>
          </a:xfrm>
          <a:prstGeom prst="rect">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43000" y="2194560"/>
            <a:ext cx="1859203" cy="320040"/>
          </a:xfrm>
          <a:prstGeom prst="rect">
            <a:avLst/>
          </a:prstGeom>
          <a:noFill/>
        </p:spPr>
        <p:txBody>
          <a:bodyPr wrap="square" anchor="t" lIns="0" rIns="0" tIns="0" bIns="0">
            <a:spAutoFit/>
          </a:bodyPr>
          <a:lstStyle/>
          <a:p>
            <a:pPr algn="l">
              <a:lnSpc>
                <a:spcPct val="125000"/>
              </a:lnSpc>
              <a:spcBef>
                <a:spcPts val="0"/>
              </a:spcBef>
              <a:spcAft>
                <a:spcPts val="0"/>
              </a:spcAft>
            </a:pPr>
            <a:r>
              <a:rPr sz="1900" b="1" i="0">
                <a:solidFill>
                  <a:srgbClr val="16233A"/>
                </a:solidFill>
                <a:latin typeface="Fraunces"/>
              </a:rPr>
              <a:t>Mirco</a:t>
            </a:r>
          </a:p>
        </p:txBody>
      </p:sp>
      <p:sp>
        <p:nvSpPr>
          <p:cNvPr id="7" name="TextBox 6"/>
          <p:cNvSpPr txBox="1"/>
          <p:nvPr/>
        </p:nvSpPr>
        <p:spPr>
          <a:xfrm>
            <a:off x="1143000" y="2542032"/>
            <a:ext cx="1859203" cy="256032"/>
          </a:xfrm>
          <a:prstGeom prst="rect">
            <a:avLst/>
          </a:prstGeom>
          <a:noFill/>
        </p:spPr>
        <p:txBody>
          <a:bodyPr wrap="square" anchor="t" lIns="0" rIns="0" tIns="0" bIns="0">
            <a:spAutoFit/>
          </a:bodyPr>
          <a:lstStyle/>
          <a:p>
            <a:pPr algn="l">
              <a:lnSpc>
                <a:spcPct val="125000"/>
              </a:lnSpc>
              <a:spcBef>
                <a:spcPts val="0"/>
              </a:spcBef>
              <a:spcAft>
                <a:spcPts val="0"/>
              </a:spcAft>
            </a:pPr>
            <a:r>
              <a:rPr sz="1050" b="1" i="0">
                <a:solidFill>
                  <a:srgbClr val="3E8E68"/>
                </a:solidFill>
                <a:latin typeface="Inter"/>
              </a:rPr>
              <a:t>@mircoprofico</a:t>
            </a:r>
          </a:p>
        </p:txBody>
      </p:sp>
      <p:sp>
        <p:nvSpPr>
          <p:cNvPr id="8" name="TextBox 7"/>
          <p:cNvSpPr txBox="1"/>
          <p:nvPr/>
        </p:nvSpPr>
        <p:spPr>
          <a:xfrm>
            <a:off x="1143000" y="2871216"/>
            <a:ext cx="1859203" cy="640080"/>
          </a:xfrm>
          <a:prstGeom prst="rect">
            <a:avLst/>
          </a:prstGeom>
          <a:noFill/>
        </p:spPr>
        <p:txBody>
          <a:bodyPr wrap="square" anchor="t" lIns="0" rIns="0" tIns="0" bIns="0">
            <a:spAutoFit/>
          </a:bodyPr>
          <a:lstStyle/>
          <a:p>
            <a:pPr algn="l">
              <a:lnSpc>
                <a:spcPct val="150000"/>
              </a:lnSpc>
              <a:spcBef>
                <a:spcPts val="0"/>
              </a:spcBef>
              <a:spcAft>
                <a:spcPts val="0"/>
              </a:spcAft>
            </a:pPr>
            <a:r>
              <a:rPr sz="1150" b="0" i="0">
                <a:solidFill>
                  <a:srgbClr val="5B6B7E"/>
                </a:solidFill>
                <a:latin typeface="Inter"/>
              </a:rPr>
              <a:t>Liste et détail des activités
Design system · CI/CD</a:t>
            </a:r>
          </a:p>
        </p:txBody>
      </p:sp>
      <p:sp>
        <p:nvSpPr>
          <p:cNvPr id="9" name="Rounded Rectangle 8"/>
          <p:cNvSpPr/>
          <p:nvPr/>
        </p:nvSpPr>
        <p:spPr>
          <a:xfrm>
            <a:off x="3550843" y="1920240"/>
            <a:ext cx="2407843" cy="1691640"/>
          </a:xfrm>
          <a:prstGeom prst="roundRect">
            <a:avLst>
              <a:gd name="adj" fmla="val 6000"/>
            </a:avLst>
          </a:prstGeom>
          <a:solidFill>
            <a:srgbClr val="FFFFFF"/>
          </a:solidFill>
          <a:ln w="12700">
            <a:solidFill>
              <a:srgbClr val="DEE5E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3550843" y="1920240"/>
            <a:ext cx="2407843" cy="73152"/>
          </a:xfrm>
          <a:prstGeom prst="rect">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825163" y="2194560"/>
            <a:ext cx="1859203" cy="320040"/>
          </a:xfrm>
          <a:prstGeom prst="rect">
            <a:avLst/>
          </a:prstGeom>
          <a:noFill/>
        </p:spPr>
        <p:txBody>
          <a:bodyPr wrap="square" anchor="t" lIns="0" rIns="0" tIns="0" bIns="0">
            <a:spAutoFit/>
          </a:bodyPr>
          <a:lstStyle/>
          <a:p>
            <a:pPr algn="l">
              <a:lnSpc>
                <a:spcPct val="125000"/>
              </a:lnSpc>
              <a:spcBef>
                <a:spcPts val="0"/>
              </a:spcBef>
              <a:spcAft>
                <a:spcPts val="0"/>
              </a:spcAft>
            </a:pPr>
            <a:r>
              <a:rPr sz="1900" b="1" i="0">
                <a:solidFill>
                  <a:srgbClr val="16233A"/>
                </a:solidFill>
                <a:latin typeface="Fraunces"/>
              </a:rPr>
              <a:t>Antoine</a:t>
            </a:r>
          </a:p>
        </p:txBody>
      </p:sp>
      <p:sp>
        <p:nvSpPr>
          <p:cNvPr id="12" name="TextBox 11"/>
          <p:cNvSpPr txBox="1"/>
          <p:nvPr/>
        </p:nvSpPr>
        <p:spPr>
          <a:xfrm>
            <a:off x="3825163" y="2542032"/>
            <a:ext cx="1859203" cy="256032"/>
          </a:xfrm>
          <a:prstGeom prst="rect">
            <a:avLst/>
          </a:prstGeom>
          <a:noFill/>
        </p:spPr>
        <p:txBody>
          <a:bodyPr wrap="square" anchor="t" lIns="0" rIns="0" tIns="0" bIns="0">
            <a:spAutoFit/>
          </a:bodyPr>
          <a:lstStyle/>
          <a:p>
            <a:pPr algn="l">
              <a:lnSpc>
                <a:spcPct val="125000"/>
              </a:lnSpc>
              <a:spcBef>
                <a:spcPts val="0"/>
              </a:spcBef>
              <a:spcAft>
                <a:spcPts val="0"/>
              </a:spcAft>
            </a:pPr>
            <a:r>
              <a:rPr sz="1050" b="1" i="0">
                <a:solidFill>
                  <a:srgbClr val="3E8E68"/>
                </a:solidFill>
                <a:latin typeface="Inter"/>
              </a:rPr>
              <a:t>@calystoxi</a:t>
            </a:r>
          </a:p>
        </p:txBody>
      </p:sp>
      <p:sp>
        <p:nvSpPr>
          <p:cNvPr id="13" name="TextBox 12"/>
          <p:cNvSpPr txBox="1"/>
          <p:nvPr/>
        </p:nvSpPr>
        <p:spPr>
          <a:xfrm>
            <a:off x="3825163" y="2871216"/>
            <a:ext cx="1859203" cy="640080"/>
          </a:xfrm>
          <a:prstGeom prst="rect">
            <a:avLst/>
          </a:prstGeom>
          <a:noFill/>
        </p:spPr>
        <p:txBody>
          <a:bodyPr wrap="square" anchor="t" lIns="0" rIns="0" tIns="0" bIns="0">
            <a:spAutoFit/>
          </a:bodyPr>
          <a:lstStyle/>
          <a:p>
            <a:pPr algn="l">
              <a:lnSpc>
                <a:spcPct val="150000"/>
              </a:lnSpc>
              <a:spcBef>
                <a:spcPts val="0"/>
              </a:spcBef>
              <a:spcAft>
                <a:spcPts val="0"/>
              </a:spcAft>
            </a:pPr>
            <a:r>
              <a:rPr sz="1150" b="0" i="0">
                <a:solidFill>
                  <a:srgbClr val="5B6B7E"/>
                </a:solidFill>
                <a:latin typeface="Inter"/>
              </a:rPr>
              <a:t>Carte et géolocalisation
Profil utilisateur</a:t>
            </a:r>
          </a:p>
        </p:txBody>
      </p:sp>
      <p:sp>
        <p:nvSpPr>
          <p:cNvPr id="14" name="Rounded Rectangle 13"/>
          <p:cNvSpPr/>
          <p:nvPr/>
        </p:nvSpPr>
        <p:spPr>
          <a:xfrm>
            <a:off x="6233006" y="1920240"/>
            <a:ext cx="2407843" cy="1691640"/>
          </a:xfrm>
          <a:prstGeom prst="roundRect">
            <a:avLst>
              <a:gd name="adj" fmla="val 6000"/>
            </a:avLst>
          </a:prstGeom>
          <a:solidFill>
            <a:srgbClr val="FFFFFF"/>
          </a:solidFill>
          <a:ln w="12700">
            <a:solidFill>
              <a:srgbClr val="DEE5E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33006" y="1920240"/>
            <a:ext cx="2407843" cy="73152"/>
          </a:xfrm>
          <a:prstGeom prst="rect">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07326" y="2194560"/>
            <a:ext cx="1859203" cy="320040"/>
          </a:xfrm>
          <a:prstGeom prst="rect">
            <a:avLst/>
          </a:prstGeom>
          <a:noFill/>
        </p:spPr>
        <p:txBody>
          <a:bodyPr wrap="square" anchor="t" lIns="0" rIns="0" tIns="0" bIns="0">
            <a:spAutoFit/>
          </a:bodyPr>
          <a:lstStyle/>
          <a:p>
            <a:pPr algn="l">
              <a:lnSpc>
                <a:spcPct val="125000"/>
              </a:lnSpc>
              <a:spcBef>
                <a:spcPts val="0"/>
              </a:spcBef>
              <a:spcAft>
                <a:spcPts val="0"/>
              </a:spcAft>
            </a:pPr>
            <a:r>
              <a:rPr sz="1900" b="1" i="0">
                <a:solidFill>
                  <a:srgbClr val="16233A"/>
                </a:solidFill>
                <a:latin typeface="Fraunces"/>
              </a:rPr>
              <a:t>François</a:t>
            </a:r>
          </a:p>
        </p:txBody>
      </p:sp>
      <p:sp>
        <p:nvSpPr>
          <p:cNvPr id="17" name="TextBox 16"/>
          <p:cNvSpPr txBox="1"/>
          <p:nvPr/>
        </p:nvSpPr>
        <p:spPr>
          <a:xfrm>
            <a:off x="6507326" y="2542032"/>
            <a:ext cx="1859203" cy="256032"/>
          </a:xfrm>
          <a:prstGeom prst="rect">
            <a:avLst/>
          </a:prstGeom>
          <a:noFill/>
        </p:spPr>
        <p:txBody>
          <a:bodyPr wrap="square" anchor="t" lIns="0" rIns="0" tIns="0" bIns="0">
            <a:spAutoFit/>
          </a:bodyPr>
          <a:lstStyle/>
          <a:p>
            <a:pPr algn="l">
              <a:lnSpc>
                <a:spcPct val="125000"/>
              </a:lnSpc>
              <a:spcBef>
                <a:spcPts val="0"/>
              </a:spcBef>
              <a:spcAft>
                <a:spcPts val="0"/>
              </a:spcAft>
            </a:pPr>
            <a:r>
              <a:rPr sz="1050" b="1" i="0">
                <a:solidFill>
                  <a:srgbClr val="3E8E68"/>
                </a:solidFill>
                <a:latin typeface="Inter"/>
              </a:rPr>
              <a:t>@fr2c</a:t>
            </a:r>
          </a:p>
        </p:txBody>
      </p:sp>
      <p:sp>
        <p:nvSpPr>
          <p:cNvPr id="18" name="TextBox 17"/>
          <p:cNvSpPr txBox="1"/>
          <p:nvPr/>
        </p:nvSpPr>
        <p:spPr>
          <a:xfrm>
            <a:off x="6507326" y="2871216"/>
            <a:ext cx="1859203" cy="640080"/>
          </a:xfrm>
          <a:prstGeom prst="rect">
            <a:avLst/>
          </a:prstGeom>
          <a:noFill/>
        </p:spPr>
        <p:txBody>
          <a:bodyPr wrap="square" anchor="t" lIns="0" rIns="0" tIns="0" bIns="0">
            <a:spAutoFit/>
          </a:bodyPr>
          <a:lstStyle/>
          <a:p>
            <a:pPr algn="l">
              <a:lnSpc>
                <a:spcPct val="150000"/>
              </a:lnSpc>
              <a:spcBef>
                <a:spcPts val="0"/>
              </a:spcBef>
              <a:spcAft>
                <a:spcPts val="0"/>
              </a:spcAft>
            </a:pPr>
            <a:r>
              <a:rPr sz="1150" b="0" i="0">
                <a:solidFill>
                  <a:srgbClr val="5B6B7E"/>
                </a:solidFill>
                <a:latin typeface="Inter"/>
              </a:rPr>
              <a:t>Authentification
Base de données · onboarding</a:t>
            </a:r>
          </a:p>
        </p:txBody>
      </p:sp>
      <p:sp>
        <p:nvSpPr>
          <p:cNvPr id="19" name="Rounded Rectangle 18"/>
          <p:cNvSpPr/>
          <p:nvPr/>
        </p:nvSpPr>
        <p:spPr>
          <a:xfrm>
            <a:off x="8915169" y="1920240"/>
            <a:ext cx="2407843" cy="1691640"/>
          </a:xfrm>
          <a:prstGeom prst="roundRect">
            <a:avLst>
              <a:gd name="adj" fmla="val 6000"/>
            </a:avLst>
          </a:prstGeom>
          <a:solidFill>
            <a:srgbClr val="FFFFFF"/>
          </a:solidFill>
          <a:ln w="12700">
            <a:solidFill>
              <a:srgbClr val="DEE5E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915169" y="1920240"/>
            <a:ext cx="2407843" cy="73152"/>
          </a:xfrm>
          <a:prstGeom prst="rect">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189489" y="2194560"/>
            <a:ext cx="1859203" cy="320040"/>
          </a:xfrm>
          <a:prstGeom prst="rect">
            <a:avLst/>
          </a:prstGeom>
          <a:noFill/>
        </p:spPr>
        <p:txBody>
          <a:bodyPr wrap="square" anchor="t" lIns="0" rIns="0" tIns="0" bIns="0">
            <a:spAutoFit/>
          </a:bodyPr>
          <a:lstStyle/>
          <a:p>
            <a:pPr algn="l">
              <a:lnSpc>
                <a:spcPct val="125000"/>
              </a:lnSpc>
              <a:spcBef>
                <a:spcPts val="0"/>
              </a:spcBef>
              <a:spcAft>
                <a:spcPts val="0"/>
              </a:spcAft>
            </a:pPr>
            <a:r>
              <a:rPr sz="1900" b="1" i="0">
                <a:solidFill>
                  <a:srgbClr val="16233A"/>
                </a:solidFill>
                <a:latin typeface="Fraunces"/>
              </a:rPr>
              <a:t>Pierre</a:t>
            </a:r>
          </a:p>
        </p:txBody>
      </p:sp>
      <p:sp>
        <p:nvSpPr>
          <p:cNvPr id="22" name="TextBox 21"/>
          <p:cNvSpPr txBox="1"/>
          <p:nvPr/>
        </p:nvSpPr>
        <p:spPr>
          <a:xfrm>
            <a:off x="9189489" y="2542032"/>
            <a:ext cx="1859203" cy="256032"/>
          </a:xfrm>
          <a:prstGeom prst="rect">
            <a:avLst/>
          </a:prstGeom>
          <a:noFill/>
        </p:spPr>
        <p:txBody>
          <a:bodyPr wrap="square" anchor="t" lIns="0" rIns="0" tIns="0" bIns="0">
            <a:spAutoFit/>
          </a:bodyPr>
          <a:lstStyle/>
          <a:p>
            <a:pPr algn="l">
              <a:lnSpc>
                <a:spcPct val="125000"/>
              </a:lnSpc>
              <a:spcBef>
                <a:spcPts val="0"/>
              </a:spcBef>
              <a:spcAft>
                <a:spcPts val="0"/>
              </a:spcAft>
            </a:pPr>
            <a:r>
              <a:rPr sz="1050" b="1" i="0">
                <a:solidFill>
                  <a:srgbClr val="3E8E68"/>
                </a:solidFill>
                <a:latin typeface="Inter"/>
              </a:rPr>
              <a:t>@IbuprofenLover</a:t>
            </a:r>
          </a:p>
        </p:txBody>
      </p:sp>
      <p:sp>
        <p:nvSpPr>
          <p:cNvPr id="23" name="TextBox 22"/>
          <p:cNvSpPr txBox="1"/>
          <p:nvPr/>
        </p:nvSpPr>
        <p:spPr>
          <a:xfrm>
            <a:off x="9189489" y="2871216"/>
            <a:ext cx="1859203" cy="640080"/>
          </a:xfrm>
          <a:prstGeom prst="rect">
            <a:avLst/>
          </a:prstGeom>
          <a:noFill/>
        </p:spPr>
        <p:txBody>
          <a:bodyPr wrap="square" anchor="t" lIns="0" rIns="0" tIns="0" bIns="0">
            <a:spAutoFit/>
          </a:bodyPr>
          <a:lstStyle/>
          <a:p>
            <a:pPr algn="l">
              <a:lnSpc>
                <a:spcPct val="150000"/>
              </a:lnSpc>
              <a:spcBef>
                <a:spcPts val="0"/>
              </a:spcBef>
              <a:spcAft>
                <a:spcPts val="0"/>
              </a:spcAft>
            </a:pPr>
            <a:r>
              <a:rPr sz="1150" b="0" i="0">
                <a:solidFill>
                  <a:srgbClr val="5B6B7E"/>
                </a:solidFill>
                <a:latin typeface="Inter"/>
              </a:rPr>
              <a:t>Création d'activité
Messagerie · tests</a:t>
            </a:r>
          </a:p>
        </p:txBody>
      </p:sp>
      <p:sp>
        <p:nvSpPr>
          <p:cNvPr id="24" name="TextBox 23"/>
          <p:cNvSpPr txBox="1"/>
          <p:nvPr/>
        </p:nvSpPr>
        <p:spPr>
          <a:xfrm>
            <a:off x="868680" y="3840480"/>
            <a:ext cx="10454335" cy="274320"/>
          </a:xfrm>
          <a:prstGeom prst="rect">
            <a:avLst/>
          </a:prstGeom>
          <a:noFill/>
        </p:spPr>
        <p:txBody>
          <a:bodyPr wrap="square" anchor="t" lIns="0" rIns="0" tIns="0" bIns="0">
            <a:spAutoFit/>
          </a:bodyPr>
          <a:lstStyle/>
          <a:p>
            <a:pPr algn="l">
              <a:lnSpc>
                <a:spcPct val="145000"/>
              </a:lnSpc>
              <a:spcBef>
                <a:spcPts val="0"/>
              </a:spcBef>
              <a:spcAft>
                <a:spcPts val="0"/>
              </a:spcAft>
            </a:pPr>
            <a:r>
              <a:rPr sz="1300" b="0" i="0">
                <a:solidFill>
                  <a:srgbClr val="16233A"/>
                </a:solidFill>
                <a:latin typeface="Inter"/>
              </a:rPr>
              <a:t>Deux personnes par issue : la première la porte, la seconde relit. Point quotidien.</a:t>
            </a:r>
          </a:p>
        </p:txBody>
      </p:sp>
      <p:sp>
        <p:nvSpPr>
          <p:cNvPr id="25" name="Rounded Rectangle 24"/>
          <p:cNvSpPr/>
          <p:nvPr/>
        </p:nvSpPr>
        <p:spPr>
          <a:xfrm>
            <a:off x="868680" y="4343400"/>
            <a:ext cx="1321046" cy="713232"/>
          </a:xfrm>
          <a:prstGeom prst="roundRect">
            <a:avLst>
              <a:gd name="adj" fmla="val 13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68680" y="4544568"/>
            <a:ext cx="1321046" cy="310896"/>
          </a:xfrm>
          <a:prstGeom prst="rect">
            <a:avLst/>
          </a:prstGeom>
          <a:noFill/>
        </p:spPr>
        <p:txBody>
          <a:bodyPr wrap="square" anchor="t" lIns="0" rIns="0" tIns="0" bIns="0">
            <a:spAutoFit/>
          </a:bodyPr>
          <a:lstStyle/>
          <a:p>
            <a:pPr algn="ctr">
              <a:lnSpc>
                <a:spcPct val="125000"/>
              </a:lnSpc>
              <a:spcBef>
                <a:spcPts val="0"/>
              </a:spcBef>
              <a:spcAft>
                <a:spcPts val="0"/>
              </a:spcAft>
            </a:pPr>
            <a:r>
              <a:rPr sz="1200" b="1" i="0">
                <a:solidFill>
                  <a:srgbClr val="FFFFFF"/>
                </a:solidFill>
                <a:latin typeface="Inter"/>
              </a:rPr>
              <a:t>Issue</a:t>
            </a:r>
          </a:p>
        </p:txBody>
      </p:sp>
      <p:sp>
        <p:nvSpPr>
          <p:cNvPr id="27" name="TextBox 26"/>
          <p:cNvSpPr txBox="1"/>
          <p:nvPr/>
        </p:nvSpPr>
        <p:spPr>
          <a:xfrm>
            <a:off x="2189726" y="4562856"/>
            <a:ext cx="201168" cy="274320"/>
          </a:xfrm>
          <a:prstGeom prst="rect">
            <a:avLst/>
          </a:prstGeom>
          <a:noFill/>
        </p:spPr>
        <p:txBody>
          <a:bodyPr wrap="square" anchor="t" lIns="0" rIns="0" tIns="0" bIns="0">
            <a:spAutoFit/>
          </a:bodyPr>
          <a:lstStyle/>
          <a:p>
            <a:pPr algn="ctr">
              <a:lnSpc>
                <a:spcPct val="125000"/>
              </a:lnSpc>
              <a:spcBef>
                <a:spcPts val="0"/>
              </a:spcBef>
              <a:spcAft>
                <a:spcPts val="0"/>
              </a:spcAft>
            </a:pPr>
            <a:r>
              <a:rPr sz="1400" b="0" i="0">
                <a:solidFill>
                  <a:srgbClr val="8DA0B5"/>
                </a:solidFill>
                <a:latin typeface="Inter"/>
              </a:rPr>
              <a:t>›</a:t>
            </a:r>
          </a:p>
        </p:txBody>
      </p:sp>
      <p:sp>
        <p:nvSpPr>
          <p:cNvPr id="28" name="Rounded Rectangle 27"/>
          <p:cNvSpPr/>
          <p:nvPr/>
        </p:nvSpPr>
        <p:spPr>
          <a:xfrm>
            <a:off x="2390894" y="4343400"/>
            <a:ext cx="1321046" cy="713232"/>
          </a:xfrm>
          <a:prstGeom prst="roundRect">
            <a:avLst>
              <a:gd name="adj" fmla="val 13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390894" y="4544568"/>
            <a:ext cx="1321046" cy="310896"/>
          </a:xfrm>
          <a:prstGeom prst="rect">
            <a:avLst/>
          </a:prstGeom>
          <a:noFill/>
        </p:spPr>
        <p:txBody>
          <a:bodyPr wrap="square" anchor="t" lIns="0" rIns="0" tIns="0" bIns="0">
            <a:spAutoFit/>
          </a:bodyPr>
          <a:lstStyle/>
          <a:p>
            <a:pPr algn="ctr">
              <a:lnSpc>
                <a:spcPct val="125000"/>
              </a:lnSpc>
              <a:spcBef>
                <a:spcPts val="0"/>
              </a:spcBef>
              <a:spcAft>
                <a:spcPts val="0"/>
              </a:spcAft>
            </a:pPr>
            <a:r>
              <a:rPr sz="1200" b="1" i="0">
                <a:solidFill>
                  <a:srgbClr val="FFFFFF"/>
                </a:solidFill>
                <a:latin typeface="Inter"/>
              </a:rPr>
              <a:t>Branche</a:t>
            </a:r>
          </a:p>
        </p:txBody>
      </p:sp>
      <p:sp>
        <p:nvSpPr>
          <p:cNvPr id="30" name="TextBox 29"/>
          <p:cNvSpPr txBox="1"/>
          <p:nvPr/>
        </p:nvSpPr>
        <p:spPr>
          <a:xfrm>
            <a:off x="3711940" y="4562856"/>
            <a:ext cx="201168" cy="274320"/>
          </a:xfrm>
          <a:prstGeom prst="rect">
            <a:avLst/>
          </a:prstGeom>
          <a:noFill/>
        </p:spPr>
        <p:txBody>
          <a:bodyPr wrap="square" anchor="t" lIns="0" rIns="0" tIns="0" bIns="0">
            <a:spAutoFit/>
          </a:bodyPr>
          <a:lstStyle/>
          <a:p>
            <a:pPr algn="ctr">
              <a:lnSpc>
                <a:spcPct val="125000"/>
              </a:lnSpc>
              <a:spcBef>
                <a:spcPts val="0"/>
              </a:spcBef>
              <a:spcAft>
                <a:spcPts val="0"/>
              </a:spcAft>
            </a:pPr>
            <a:r>
              <a:rPr sz="1400" b="0" i="0">
                <a:solidFill>
                  <a:srgbClr val="8DA0B5"/>
                </a:solidFill>
                <a:latin typeface="Inter"/>
              </a:rPr>
              <a:t>›</a:t>
            </a:r>
          </a:p>
        </p:txBody>
      </p:sp>
      <p:sp>
        <p:nvSpPr>
          <p:cNvPr id="31" name="Rounded Rectangle 30"/>
          <p:cNvSpPr/>
          <p:nvPr/>
        </p:nvSpPr>
        <p:spPr>
          <a:xfrm>
            <a:off x="3913108" y="4343400"/>
            <a:ext cx="1321046" cy="713232"/>
          </a:xfrm>
          <a:prstGeom prst="roundRect">
            <a:avLst>
              <a:gd name="adj" fmla="val 13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913108" y="4544568"/>
            <a:ext cx="1321046" cy="310896"/>
          </a:xfrm>
          <a:prstGeom prst="rect">
            <a:avLst/>
          </a:prstGeom>
          <a:noFill/>
        </p:spPr>
        <p:txBody>
          <a:bodyPr wrap="square" anchor="t" lIns="0" rIns="0" tIns="0" bIns="0">
            <a:spAutoFit/>
          </a:bodyPr>
          <a:lstStyle/>
          <a:p>
            <a:pPr algn="ctr">
              <a:lnSpc>
                <a:spcPct val="125000"/>
              </a:lnSpc>
              <a:spcBef>
                <a:spcPts val="0"/>
              </a:spcBef>
              <a:spcAft>
                <a:spcPts val="0"/>
              </a:spcAft>
            </a:pPr>
            <a:r>
              <a:rPr sz="1200" b="1" i="0">
                <a:solidFill>
                  <a:srgbClr val="FFFFFF"/>
                </a:solidFill>
                <a:latin typeface="Inter"/>
              </a:rPr>
              <a:t>Commits</a:t>
            </a:r>
          </a:p>
        </p:txBody>
      </p:sp>
      <p:sp>
        <p:nvSpPr>
          <p:cNvPr id="33" name="TextBox 32"/>
          <p:cNvSpPr txBox="1"/>
          <p:nvPr/>
        </p:nvSpPr>
        <p:spPr>
          <a:xfrm>
            <a:off x="5234154" y="4562856"/>
            <a:ext cx="201168" cy="274320"/>
          </a:xfrm>
          <a:prstGeom prst="rect">
            <a:avLst/>
          </a:prstGeom>
          <a:noFill/>
        </p:spPr>
        <p:txBody>
          <a:bodyPr wrap="square" anchor="t" lIns="0" rIns="0" tIns="0" bIns="0">
            <a:spAutoFit/>
          </a:bodyPr>
          <a:lstStyle/>
          <a:p>
            <a:pPr algn="ctr">
              <a:lnSpc>
                <a:spcPct val="125000"/>
              </a:lnSpc>
              <a:spcBef>
                <a:spcPts val="0"/>
              </a:spcBef>
              <a:spcAft>
                <a:spcPts val="0"/>
              </a:spcAft>
            </a:pPr>
            <a:r>
              <a:rPr sz="1400" b="0" i="0">
                <a:solidFill>
                  <a:srgbClr val="8DA0B5"/>
                </a:solidFill>
                <a:latin typeface="Inter"/>
              </a:rPr>
              <a:t>›</a:t>
            </a:r>
          </a:p>
        </p:txBody>
      </p:sp>
      <p:sp>
        <p:nvSpPr>
          <p:cNvPr id="34" name="Rounded Rectangle 33"/>
          <p:cNvSpPr/>
          <p:nvPr/>
        </p:nvSpPr>
        <p:spPr>
          <a:xfrm>
            <a:off x="5435322" y="4343400"/>
            <a:ext cx="1321046" cy="713232"/>
          </a:xfrm>
          <a:prstGeom prst="roundRect">
            <a:avLst>
              <a:gd name="adj" fmla="val 13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435322" y="4544568"/>
            <a:ext cx="1321046" cy="310896"/>
          </a:xfrm>
          <a:prstGeom prst="rect">
            <a:avLst/>
          </a:prstGeom>
          <a:noFill/>
        </p:spPr>
        <p:txBody>
          <a:bodyPr wrap="square" anchor="t" lIns="0" rIns="0" tIns="0" bIns="0">
            <a:spAutoFit/>
          </a:bodyPr>
          <a:lstStyle/>
          <a:p>
            <a:pPr algn="ctr">
              <a:lnSpc>
                <a:spcPct val="125000"/>
              </a:lnSpc>
              <a:spcBef>
                <a:spcPts val="0"/>
              </a:spcBef>
              <a:spcAft>
                <a:spcPts val="0"/>
              </a:spcAft>
            </a:pPr>
            <a:r>
              <a:rPr sz="1200" b="1" i="0">
                <a:solidFill>
                  <a:srgbClr val="FFFFFF"/>
                </a:solidFill>
                <a:latin typeface="Inter"/>
              </a:rPr>
              <a:t>Pull request</a:t>
            </a:r>
          </a:p>
        </p:txBody>
      </p:sp>
      <p:sp>
        <p:nvSpPr>
          <p:cNvPr id="36" name="TextBox 35"/>
          <p:cNvSpPr txBox="1"/>
          <p:nvPr/>
        </p:nvSpPr>
        <p:spPr>
          <a:xfrm>
            <a:off x="6756368" y="4562856"/>
            <a:ext cx="201168" cy="274320"/>
          </a:xfrm>
          <a:prstGeom prst="rect">
            <a:avLst/>
          </a:prstGeom>
          <a:noFill/>
        </p:spPr>
        <p:txBody>
          <a:bodyPr wrap="square" anchor="t" lIns="0" rIns="0" tIns="0" bIns="0">
            <a:spAutoFit/>
          </a:bodyPr>
          <a:lstStyle/>
          <a:p>
            <a:pPr algn="ctr">
              <a:lnSpc>
                <a:spcPct val="125000"/>
              </a:lnSpc>
              <a:spcBef>
                <a:spcPts val="0"/>
              </a:spcBef>
              <a:spcAft>
                <a:spcPts val="0"/>
              </a:spcAft>
            </a:pPr>
            <a:r>
              <a:rPr sz="1400" b="0" i="0">
                <a:solidFill>
                  <a:srgbClr val="8DA0B5"/>
                </a:solidFill>
                <a:latin typeface="Inter"/>
              </a:rPr>
              <a:t>›</a:t>
            </a:r>
          </a:p>
        </p:txBody>
      </p:sp>
      <p:sp>
        <p:nvSpPr>
          <p:cNvPr id="37" name="Rounded Rectangle 36"/>
          <p:cNvSpPr/>
          <p:nvPr/>
        </p:nvSpPr>
        <p:spPr>
          <a:xfrm>
            <a:off x="6957536" y="4343400"/>
            <a:ext cx="1321046" cy="713232"/>
          </a:xfrm>
          <a:prstGeom prst="roundRect">
            <a:avLst>
              <a:gd name="adj" fmla="val 13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957536" y="4544568"/>
            <a:ext cx="1321046" cy="310896"/>
          </a:xfrm>
          <a:prstGeom prst="rect">
            <a:avLst/>
          </a:prstGeom>
          <a:noFill/>
        </p:spPr>
        <p:txBody>
          <a:bodyPr wrap="square" anchor="t" lIns="0" rIns="0" tIns="0" bIns="0">
            <a:spAutoFit/>
          </a:bodyPr>
          <a:lstStyle/>
          <a:p>
            <a:pPr algn="ctr">
              <a:lnSpc>
                <a:spcPct val="125000"/>
              </a:lnSpc>
              <a:spcBef>
                <a:spcPts val="0"/>
              </a:spcBef>
              <a:spcAft>
                <a:spcPts val="0"/>
              </a:spcAft>
            </a:pPr>
            <a:r>
              <a:rPr sz="1200" b="1" i="0">
                <a:solidFill>
                  <a:srgbClr val="FFFFFF"/>
                </a:solidFill>
                <a:latin typeface="Inter"/>
              </a:rPr>
              <a:t>Relecture</a:t>
            </a:r>
          </a:p>
        </p:txBody>
      </p:sp>
      <p:sp>
        <p:nvSpPr>
          <p:cNvPr id="39" name="TextBox 38"/>
          <p:cNvSpPr txBox="1"/>
          <p:nvPr/>
        </p:nvSpPr>
        <p:spPr>
          <a:xfrm>
            <a:off x="8278582" y="4562856"/>
            <a:ext cx="201168" cy="274320"/>
          </a:xfrm>
          <a:prstGeom prst="rect">
            <a:avLst/>
          </a:prstGeom>
          <a:noFill/>
        </p:spPr>
        <p:txBody>
          <a:bodyPr wrap="square" anchor="t" lIns="0" rIns="0" tIns="0" bIns="0">
            <a:spAutoFit/>
          </a:bodyPr>
          <a:lstStyle/>
          <a:p>
            <a:pPr algn="ctr">
              <a:lnSpc>
                <a:spcPct val="125000"/>
              </a:lnSpc>
              <a:spcBef>
                <a:spcPts val="0"/>
              </a:spcBef>
              <a:spcAft>
                <a:spcPts val="0"/>
              </a:spcAft>
            </a:pPr>
            <a:r>
              <a:rPr sz="1400" b="0" i="0">
                <a:solidFill>
                  <a:srgbClr val="8DA0B5"/>
                </a:solidFill>
                <a:latin typeface="Inter"/>
              </a:rPr>
              <a:t>›</a:t>
            </a:r>
          </a:p>
        </p:txBody>
      </p:sp>
      <p:sp>
        <p:nvSpPr>
          <p:cNvPr id="40" name="Rounded Rectangle 39"/>
          <p:cNvSpPr/>
          <p:nvPr/>
        </p:nvSpPr>
        <p:spPr>
          <a:xfrm>
            <a:off x="8479750" y="4343400"/>
            <a:ext cx="1321046" cy="713232"/>
          </a:xfrm>
          <a:prstGeom prst="roundRect">
            <a:avLst>
              <a:gd name="adj" fmla="val 13000"/>
            </a:avLst>
          </a:prstGeom>
          <a:solidFill>
            <a:srgbClr val="2E6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479750" y="4544568"/>
            <a:ext cx="1321046" cy="310896"/>
          </a:xfrm>
          <a:prstGeom prst="rect">
            <a:avLst/>
          </a:prstGeom>
          <a:noFill/>
        </p:spPr>
        <p:txBody>
          <a:bodyPr wrap="square" anchor="t" lIns="0" rIns="0" tIns="0" bIns="0">
            <a:spAutoFit/>
          </a:bodyPr>
          <a:lstStyle/>
          <a:p>
            <a:pPr algn="ctr">
              <a:lnSpc>
                <a:spcPct val="125000"/>
              </a:lnSpc>
              <a:spcBef>
                <a:spcPts val="0"/>
              </a:spcBef>
              <a:spcAft>
                <a:spcPts val="0"/>
              </a:spcAft>
            </a:pPr>
            <a:r>
              <a:rPr sz="1200" b="1" i="0">
                <a:solidFill>
                  <a:srgbClr val="FFFFFF"/>
                </a:solidFill>
                <a:latin typeface="Inter"/>
              </a:rPr>
              <a:t>staging</a:t>
            </a:r>
          </a:p>
        </p:txBody>
      </p:sp>
      <p:sp>
        <p:nvSpPr>
          <p:cNvPr id="42" name="TextBox 41"/>
          <p:cNvSpPr txBox="1"/>
          <p:nvPr/>
        </p:nvSpPr>
        <p:spPr>
          <a:xfrm>
            <a:off x="9800796" y="4562856"/>
            <a:ext cx="201168" cy="274320"/>
          </a:xfrm>
          <a:prstGeom prst="rect">
            <a:avLst/>
          </a:prstGeom>
          <a:noFill/>
        </p:spPr>
        <p:txBody>
          <a:bodyPr wrap="square" anchor="t" lIns="0" rIns="0" tIns="0" bIns="0">
            <a:spAutoFit/>
          </a:bodyPr>
          <a:lstStyle/>
          <a:p>
            <a:pPr algn="ctr">
              <a:lnSpc>
                <a:spcPct val="125000"/>
              </a:lnSpc>
              <a:spcBef>
                <a:spcPts val="0"/>
              </a:spcBef>
              <a:spcAft>
                <a:spcPts val="0"/>
              </a:spcAft>
            </a:pPr>
            <a:r>
              <a:rPr sz="1400" b="0" i="0">
                <a:solidFill>
                  <a:srgbClr val="8DA0B5"/>
                </a:solidFill>
                <a:latin typeface="Inter"/>
              </a:rPr>
              <a:t>›</a:t>
            </a:r>
          </a:p>
        </p:txBody>
      </p:sp>
      <p:sp>
        <p:nvSpPr>
          <p:cNvPr id="43" name="Rounded Rectangle 42"/>
          <p:cNvSpPr/>
          <p:nvPr/>
        </p:nvSpPr>
        <p:spPr>
          <a:xfrm>
            <a:off x="10001964" y="4343400"/>
            <a:ext cx="1321046" cy="713232"/>
          </a:xfrm>
          <a:prstGeom prst="roundRect">
            <a:avLst>
              <a:gd name="adj" fmla="val 13000"/>
            </a:avLst>
          </a:prstGeom>
          <a:solidFill>
            <a:srgbClr val="2E6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10001964" y="4544568"/>
            <a:ext cx="1321046" cy="310896"/>
          </a:xfrm>
          <a:prstGeom prst="rect">
            <a:avLst/>
          </a:prstGeom>
          <a:noFill/>
        </p:spPr>
        <p:txBody>
          <a:bodyPr wrap="square" anchor="t" lIns="0" rIns="0" tIns="0" bIns="0">
            <a:spAutoFit/>
          </a:bodyPr>
          <a:lstStyle/>
          <a:p>
            <a:pPr algn="ctr">
              <a:lnSpc>
                <a:spcPct val="125000"/>
              </a:lnSpc>
              <a:spcBef>
                <a:spcPts val="0"/>
              </a:spcBef>
              <a:spcAft>
                <a:spcPts val="0"/>
              </a:spcAft>
            </a:pPr>
            <a:r>
              <a:rPr sz="1200" b="1" i="0">
                <a:solidFill>
                  <a:srgbClr val="FFFFFF"/>
                </a:solidFill>
                <a:latin typeface="Inter"/>
              </a:rPr>
              <a:t>main</a:t>
            </a:r>
          </a:p>
        </p:txBody>
      </p:sp>
      <p:sp>
        <p:nvSpPr>
          <p:cNvPr id="45" name="TextBox 44"/>
          <p:cNvSpPr txBox="1"/>
          <p:nvPr/>
        </p:nvSpPr>
        <p:spPr>
          <a:xfrm>
            <a:off x="868680" y="5285232"/>
            <a:ext cx="3301898" cy="256032"/>
          </a:xfrm>
          <a:prstGeom prst="rect">
            <a:avLst/>
          </a:prstGeom>
          <a:noFill/>
        </p:spPr>
        <p:txBody>
          <a:bodyPr wrap="square" anchor="t" lIns="0" rIns="0" tIns="0" bIns="0">
            <a:spAutoFit/>
          </a:bodyPr>
          <a:lstStyle/>
          <a:p>
            <a:pPr algn="l">
              <a:lnSpc>
                <a:spcPct val="125000"/>
              </a:lnSpc>
              <a:spcBef>
                <a:spcPts val="0"/>
              </a:spcBef>
              <a:spcAft>
                <a:spcPts val="0"/>
              </a:spcAft>
            </a:pPr>
            <a:r>
              <a:rPr sz="1300" b="1" i="0">
                <a:solidFill>
                  <a:srgbClr val="16233A"/>
                </a:solidFill>
                <a:latin typeface="Inter"/>
              </a:rPr>
              <a:t>Une branche par issue</a:t>
            </a:r>
          </a:p>
        </p:txBody>
      </p:sp>
      <p:sp>
        <p:nvSpPr>
          <p:cNvPr id="46" name="TextBox 45"/>
          <p:cNvSpPr txBox="1"/>
          <p:nvPr/>
        </p:nvSpPr>
        <p:spPr>
          <a:xfrm>
            <a:off x="868680" y="5559552"/>
            <a:ext cx="3301898" cy="731520"/>
          </a:xfrm>
          <a:prstGeom prst="rect">
            <a:avLst/>
          </a:prstGeom>
          <a:noFill/>
        </p:spPr>
        <p:txBody>
          <a:bodyPr wrap="square" anchor="t" lIns="0" rIns="0" tIns="0" bIns="0">
            <a:spAutoFit/>
          </a:bodyPr>
          <a:lstStyle/>
          <a:p>
            <a:pPr algn="l">
              <a:lnSpc>
                <a:spcPct val="145000"/>
              </a:lnSpc>
              <a:spcBef>
                <a:spcPts val="0"/>
              </a:spcBef>
              <a:spcAft>
                <a:spcPts val="0"/>
              </a:spcAft>
            </a:pPr>
            <a:r>
              <a:rPr sz="1150" b="0" i="0">
                <a:solidFill>
                  <a:srgbClr val="5B6B7E"/>
                </a:solidFill>
                <a:latin typeface="Inter"/>
              </a:rPr>
              <a:t>Créée depuis GitHub : le nom porte le numéro, l'issue se ferme à la fusion.</a:t>
            </a:r>
          </a:p>
        </p:txBody>
      </p:sp>
      <p:sp>
        <p:nvSpPr>
          <p:cNvPr id="47" name="TextBox 46"/>
          <p:cNvSpPr txBox="1"/>
          <p:nvPr/>
        </p:nvSpPr>
        <p:spPr>
          <a:xfrm>
            <a:off x="4444898" y="5285232"/>
            <a:ext cx="3301898" cy="256032"/>
          </a:xfrm>
          <a:prstGeom prst="rect">
            <a:avLst/>
          </a:prstGeom>
          <a:noFill/>
        </p:spPr>
        <p:txBody>
          <a:bodyPr wrap="square" anchor="t" lIns="0" rIns="0" tIns="0" bIns="0">
            <a:spAutoFit/>
          </a:bodyPr>
          <a:lstStyle/>
          <a:p>
            <a:pPr algn="l">
              <a:lnSpc>
                <a:spcPct val="125000"/>
              </a:lnSpc>
              <a:spcBef>
                <a:spcPts val="0"/>
              </a:spcBef>
              <a:spcAft>
                <a:spcPts val="0"/>
              </a:spcAft>
            </a:pPr>
            <a:r>
              <a:rPr sz="1300" b="1" i="0">
                <a:solidFill>
                  <a:srgbClr val="16233A"/>
                </a:solidFill>
                <a:latin typeface="Inter"/>
              </a:rPr>
              <a:t>staging et main sont protégées</a:t>
            </a:r>
          </a:p>
        </p:txBody>
      </p:sp>
      <p:sp>
        <p:nvSpPr>
          <p:cNvPr id="48" name="TextBox 47"/>
          <p:cNvSpPr txBox="1"/>
          <p:nvPr/>
        </p:nvSpPr>
        <p:spPr>
          <a:xfrm>
            <a:off x="4444898" y="5559552"/>
            <a:ext cx="3301898" cy="731520"/>
          </a:xfrm>
          <a:prstGeom prst="rect">
            <a:avLst/>
          </a:prstGeom>
          <a:noFill/>
        </p:spPr>
        <p:txBody>
          <a:bodyPr wrap="square" anchor="t" lIns="0" rIns="0" tIns="0" bIns="0">
            <a:spAutoFit/>
          </a:bodyPr>
          <a:lstStyle/>
          <a:p>
            <a:pPr algn="l">
              <a:lnSpc>
                <a:spcPct val="145000"/>
              </a:lnSpc>
              <a:spcBef>
                <a:spcPts val="0"/>
              </a:spcBef>
              <a:spcAft>
                <a:spcPts val="0"/>
              </a:spcAft>
            </a:pPr>
            <a:r>
              <a:rPr sz="1150" b="0" i="0">
                <a:solidFill>
                  <a:srgbClr val="5B6B7E"/>
                </a:solidFill>
                <a:latin typeface="Inter"/>
              </a:rPr>
              <a:t>Push direct, force push et suppression refusés, propriétaire du dépôt compris.</a:t>
            </a:r>
          </a:p>
        </p:txBody>
      </p:sp>
      <p:sp>
        <p:nvSpPr>
          <p:cNvPr id="49" name="TextBox 48"/>
          <p:cNvSpPr txBox="1"/>
          <p:nvPr/>
        </p:nvSpPr>
        <p:spPr>
          <a:xfrm>
            <a:off x="8021116" y="5285232"/>
            <a:ext cx="3301898" cy="256032"/>
          </a:xfrm>
          <a:prstGeom prst="rect">
            <a:avLst/>
          </a:prstGeom>
          <a:noFill/>
        </p:spPr>
        <p:txBody>
          <a:bodyPr wrap="square" anchor="t" lIns="0" rIns="0" tIns="0" bIns="0">
            <a:spAutoFit/>
          </a:bodyPr>
          <a:lstStyle/>
          <a:p>
            <a:pPr algn="l">
              <a:lnSpc>
                <a:spcPct val="125000"/>
              </a:lnSpc>
              <a:spcBef>
                <a:spcPts val="0"/>
              </a:spcBef>
              <a:spcAft>
                <a:spcPts val="0"/>
              </a:spcAft>
            </a:pPr>
            <a:r>
              <a:rPr sz="1300" b="1" i="0">
                <a:solidFill>
                  <a:srgbClr val="16233A"/>
                </a:solidFill>
                <a:latin typeface="Inter"/>
              </a:rPr>
              <a:t>Personne ne fusionne seul</a:t>
            </a:r>
          </a:p>
        </p:txBody>
      </p:sp>
      <p:sp>
        <p:nvSpPr>
          <p:cNvPr id="50" name="TextBox 49"/>
          <p:cNvSpPr txBox="1"/>
          <p:nvPr/>
        </p:nvSpPr>
        <p:spPr>
          <a:xfrm>
            <a:off x="8021116" y="5559552"/>
            <a:ext cx="3301898" cy="731520"/>
          </a:xfrm>
          <a:prstGeom prst="rect">
            <a:avLst/>
          </a:prstGeom>
          <a:noFill/>
        </p:spPr>
        <p:txBody>
          <a:bodyPr wrap="square" anchor="t" lIns="0" rIns="0" tIns="0" bIns="0">
            <a:spAutoFit/>
          </a:bodyPr>
          <a:lstStyle/>
          <a:p>
            <a:pPr algn="l">
              <a:lnSpc>
                <a:spcPct val="145000"/>
              </a:lnSpc>
              <a:spcBef>
                <a:spcPts val="0"/>
              </a:spcBef>
              <a:spcAft>
                <a:spcPts val="0"/>
              </a:spcAft>
            </a:pPr>
            <a:r>
              <a:rPr sz="1150" b="0" i="0">
                <a:solidFill>
                  <a:srgbClr val="5B6B7E"/>
                </a:solidFill>
                <a:latin typeface="Inter"/>
              </a:rPr>
              <a:t>main exige une approbation, et nul ne peut approuver sa propre pull request.</a:t>
            </a:r>
          </a:p>
        </p:txBody>
      </p:sp>
      <p:sp>
        <p:nvSpPr>
          <p:cNvPr id="51" name="TextBox 50"/>
          <p:cNvSpPr txBox="1"/>
          <p:nvPr/>
        </p:nvSpPr>
        <p:spPr>
          <a:xfrm>
            <a:off x="10774375" y="6309360"/>
            <a:ext cx="548640" cy="237744"/>
          </a:xfrm>
          <a:prstGeom prst="rect">
            <a:avLst/>
          </a:prstGeom>
          <a:noFill/>
        </p:spPr>
        <p:txBody>
          <a:bodyPr wrap="square" anchor="t" lIns="0" rIns="0" tIns="0" bIns="0">
            <a:spAutoFit/>
          </a:bodyPr>
          <a:lstStyle/>
          <a:p>
            <a:pPr algn="r">
              <a:lnSpc>
                <a:spcPct val="125000"/>
              </a:lnSpc>
              <a:spcBef>
                <a:spcPts val="0"/>
              </a:spcBef>
              <a:spcAft>
                <a:spcPts val="0"/>
              </a:spcAft>
            </a:pPr>
            <a:r>
              <a:rPr sz="950" b="0" i="0">
                <a:solidFill>
                  <a:srgbClr val="5B6B7E"/>
                </a:solidFill>
                <a:latin typeface="Inter"/>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5"/>
        </a:solidFill>
        <a:effectLst/>
      </p:bgPr>
    </p:bg>
    <p:spTree>
      <p:nvGrpSpPr>
        <p:cNvPr id="1" name=""/>
        <p:cNvGrpSpPr/>
        <p:nvPr/>
      </p:nvGrpSpPr>
      <p:grpSpPr/>
      <p:sp>
        <p:nvSpPr>
          <p:cNvPr id="2" name="TextBox 1"/>
          <p:cNvSpPr txBox="1"/>
          <p:nvPr/>
        </p:nvSpPr>
        <p:spPr>
          <a:xfrm>
            <a:off x="868680" y="713232"/>
            <a:ext cx="10454335" cy="237744"/>
          </a:xfrm>
          <a:prstGeom prst="rect">
            <a:avLst/>
          </a:prstGeom>
          <a:noFill/>
        </p:spPr>
        <p:txBody>
          <a:bodyPr wrap="square" anchor="t" lIns="0" rIns="0" tIns="0" bIns="0">
            <a:spAutoFit/>
          </a:bodyPr>
          <a:lstStyle/>
          <a:p>
            <a:pPr algn="l">
              <a:lnSpc>
                <a:spcPct val="125000"/>
              </a:lnSpc>
              <a:spcBef>
                <a:spcPts val="0"/>
              </a:spcBef>
              <a:spcAft>
                <a:spcPts val="0"/>
              </a:spcAft>
            </a:pPr>
            <a:r>
              <a:rPr sz="1050" b="1" i="0" spc="170">
                <a:solidFill>
                  <a:srgbClr val="3E8E68"/>
                </a:solidFill>
                <a:latin typeface="Inter"/>
              </a:rPr>
              <a:t>ARCHITECTURE ET CHOIX TECHNIQUES</a:t>
            </a:r>
          </a:p>
        </p:txBody>
      </p:sp>
      <p:sp>
        <p:nvSpPr>
          <p:cNvPr id="3" name="TextBox 2"/>
          <p:cNvSpPr txBox="1"/>
          <p:nvPr/>
        </p:nvSpPr>
        <p:spPr>
          <a:xfrm>
            <a:off x="868680" y="1042415"/>
            <a:ext cx="10454335" cy="1005840"/>
          </a:xfrm>
          <a:prstGeom prst="rect">
            <a:avLst/>
          </a:prstGeom>
          <a:noFill/>
        </p:spPr>
        <p:txBody>
          <a:bodyPr wrap="square" anchor="t" lIns="0" rIns="0" tIns="0" bIns="0">
            <a:spAutoFit/>
          </a:bodyPr>
          <a:lstStyle/>
          <a:p>
            <a:pPr algn="l">
              <a:lnSpc>
                <a:spcPct val="112000"/>
              </a:lnSpc>
              <a:spcBef>
                <a:spcPts val="0"/>
              </a:spcBef>
              <a:spcAft>
                <a:spcPts val="0"/>
              </a:spcAft>
            </a:pPr>
            <a:r>
              <a:rPr sz="3200" b="1" i="0">
                <a:solidFill>
                  <a:srgbClr val="16233A"/>
                </a:solidFill>
                <a:latin typeface="Fraunces"/>
              </a:rPr>
              <a:t>Une base de code, deux applications natives</a:t>
            </a:r>
          </a:p>
        </p:txBody>
      </p:sp>
      <p:sp>
        <p:nvSpPr>
          <p:cNvPr id="4" name="Rounded Rectangle 3"/>
          <p:cNvSpPr/>
          <p:nvPr/>
        </p:nvSpPr>
        <p:spPr>
          <a:xfrm>
            <a:off x="868680" y="2011680"/>
            <a:ext cx="2094826" cy="777240"/>
          </a:xfrm>
          <a:prstGeom prst="roundRect">
            <a:avLst>
              <a:gd name="adj" fmla="val 9000"/>
            </a:avLst>
          </a:prstGeom>
          <a:solidFill>
            <a:srgbClr val="FFFFFF"/>
          </a:solidFill>
          <a:ln w="12700">
            <a:solidFill>
              <a:srgbClr val="DEE5E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8680" y="2176272"/>
            <a:ext cx="2094826" cy="274320"/>
          </a:xfrm>
          <a:prstGeom prst="rect">
            <a:avLst/>
          </a:prstGeom>
          <a:noFill/>
        </p:spPr>
        <p:txBody>
          <a:bodyPr wrap="square" anchor="t" lIns="0" rIns="0" tIns="0" bIns="0">
            <a:spAutoFit/>
          </a:bodyPr>
          <a:lstStyle/>
          <a:p>
            <a:pPr algn="ctr">
              <a:lnSpc>
                <a:spcPct val="125000"/>
              </a:lnSpc>
              <a:spcBef>
                <a:spcPts val="0"/>
              </a:spcBef>
              <a:spcAft>
                <a:spcPts val="0"/>
              </a:spcAft>
            </a:pPr>
            <a:r>
              <a:rPr sz="1350" b="1" i="0">
                <a:solidFill>
                  <a:srgbClr val="16233A"/>
                </a:solidFill>
                <a:latin typeface="Inter"/>
              </a:rPr>
              <a:t>Android</a:t>
            </a:r>
          </a:p>
        </p:txBody>
      </p:sp>
      <p:sp>
        <p:nvSpPr>
          <p:cNvPr id="6" name="TextBox 5"/>
          <p:cNvSpPr txBox="1"/>
          <p:nvPr/>
        </p:nvSpPr>
        <p:spPr>
          <a:xfrm>
            <a:off x="868680" y="2450592"/>
            <a:ext cx="2094826" cy="237744"/>
          </a:xfrm>
          <a:prstGeom prst="rect">
            <a:avLst/>
          </a:prstGeom>
          <a:noFill/>
        </p:spPr>
        <p:txBody>
          <a:bodyPr wrap="square" anchor="t" lIns="0" rIns="0" tIns="0" bIns="0">
            <a:spAutoFit/>
          </a:bodyPr>
          <a:lstStyle/>
          <a:p>
            <a:pPr algn="ctr">
              <a:lnSpc>
                <a:spcPct val="125000"/>
              </a:lnSpc>
              <a:spcBef>
                <a:spcPts val="0"/>
              </a:spcBef>
              <a:spcAft>
                <a:spcPts val="0"/>
              </a:spcAft>
            </a:pPr>
            <a:r>
              <a:rPr sz="1000" b="0" i="0">
                <a:solidFill>
                  <a:srgbClr val="5B6B7E"/>
                </a:solidFill>
                <a:latin typeface="Inter"/>
              </a:rPr>
              <a:t>MainActivity</a:t>
            </a:r>
          </a:p>
        </p:txBody>
      </p:sp>
      <p:sp>
        <p:nvSpPr>
          <p:cNvPr id="7" name="Rounded Rectangle 6"/>
          <p:cNvSpPr/>
          <p:nvPr/>
        </p:nvSpPr>
        <p:spPr>
          <a:xfrm>
            <a:off x="3164674" y="2011680"/>
            <a:ext cx="2094826" cy="777240"/>
          </a:xfrm>
          <a:prstGeom prst="roundRect">
            <a:avLst>
              <a:gd name="adj" fmla="val 9000"/>
            </a:avLst>
          </a:prstGeom>
          <a:solidFill>
            <a:srgbClr val="FFFFFF"/>
          </a:solidFill>
          <a:ln w="12700">
            <a:solidFill>
              <a:srgbClr val="DEE5E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3164674" y="2176272"/>
            <a:ext cx="2094826" cy="274320"/>
          </a:xfrm>
          <a:prstGeom prst="rect">
            <a:avLst/>
          </a:prstGeom>
          <a:noFill/>
        </p:spPr>
        <p:txBody>
          <a:bodyPr wrap="square" anchor="t" lIns="0" rIns="0" tIns="0" bIns="0">
            <a:spAutoFit/>
          </a:bodyPr>
          <a:lstStyle/>
          <a:p>
            <a:pPr algn="ctr">
              <a:lnSpc>
                <a:spcPct val="125000"/>
              </a:lnSpc>
              <a:spcBef>
                <a:spcPts val="0"/>
              </a:spcBef>
              <a:spcAft>
                <a:spcPts val="0"/>
              </a:spcAft>
            </a:pPr>
            <a:r>
              <a:rPr sz="1350" b="1" i="0">
                <a:solidFill>
                  <a:srgbClr val="16233A"/>
                </a:solidFill>
                <a:latin typeface="Inter"/>
              </a:rPr>
              <a:t>iOS</a:t>
            </a:r>
          </a:p>
        </p:txBody>
      </p:sp>
      <p:sp>
        <p:nvSpPr>
          <p:cNvPr id="9" name="TextBox 8"/>
          <p:cNvSpPr txBox="1"/>
          <p:nvPr/>
        </p:nvSpPr>
        <p:spPr>
          <a:xfrm>
            <a:off x="3164674" y="2450592"/>
            <a:ext cx="2094826" cy="237744"/>
          </a:xfrm>
          <a:prstGeom prst="rect">
            <a:avLst/>
          </a:prstGeom>
          <a:noFill/>
        </p:spPr>
        <p:txBody>
          <a:bodyPr wrap="square" anchor="t" lIns="0" rIns="0" tIns="0" bIns="0">
            <a:spAutoFit/>
          </a:bodyPr>
          <a:lstStyle/>
          <a:p>
            <a:pPr algn="ctr">
              <a:lnSpc>
                <a:spcPct val="125000"/>
              </a:lnSpc>
              <a:spcBef>
                <a:spcPts val="0"/>
              </a:spcBef>
              <a:spcAft>
                <a:spcPts val="0"/>
              </a:spcAft>
            </a:pPr>
            <a:r>
              <a:rPr sz="1000" b="0" i="0">
                <a:solidFill>
                  <a:srgbClr val="5B6B7E"/>
                </a:solidFill>
                <a:latin typeface="Inter"/>
              </a:rPr>
              <a:t>Enveloppe SwiftUI</a:t>
            </a:r>
          </a:p>
        </p:txBody>
      </p:sp>
      <p:sp>
        <p:nvSpPr>
          <p:cNvPr id="10" name="Rounded Rectangle 9"/>
          <p:cNvSpPr/>
          <p:nvPr/>
        </p:nvSpPr>
        <p:spPr>
          <a:xfrm>
            <a:off x="868680" y="3063240"/>
            <a:ext cx="4390820" cy="1188720"/>
          </a:xfrm>
          <a:prstGeom prst="roundRect">
            <a:avLst>
              <a:gd name="adj" fmla="val 6000"/>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68680" y="3273552"/>
            <a:ext cx="4390820" cy="292608"/>
          </a:xfrm>
          <a:prstGeom prst="rect">
            <a:avLst/>
          </a:prstGeom>
          <a:noFill/>
        </p:spPr>
        <p:txBody>
          <a:bodyPr wrap="square" anchor="t" lIns="0" rIns="0" tIns="0" bIns="0">
            <a:spAutoFit/>
          </a:bodyPr>
          <a:lstStyle/>
          <a:p>
            <a:pPr algn="ctr">
              <a:lnSpc>
                <a:spcPct val="125000"/>
              </a:lnSpc>
              <a:spcBef>
                <a:spcPts val="0"/>
              </a:spcBef>
              <a:spcAft>
                <a:spcPts val="0"/>
              </a:spcAft>
            </a:pPr>
            <a:r>
              <a:rPr sz="1400" b="1" i="0">
                <a:solidFill>
                  <a:srgbClr val="FFFFFF"/>
                </a:solidFill>
                <a:latin typeface="Inter"/>
              </a:rPr>
              <a:t>shared — Kotlin Multiplatform</a:t>
            </a:r>
          </a:p>
        </p:txBody>
      </p:sp>
      <p:sp>
        <p:nvSpPr>
          <p:cNvPr id="12" name="TextBox 11"/>
          <p:cNvSpPr txBox="1"/>
          <p:nvPr/>
        </p:nvSpPr>
        <p:spPr>
          <a:xfrm>
            <a:off x="868680" y="3602736"/>
            <a:ext cx="4390820" cy="548640"/>
          </a:xfrm>
          <a:prstGeom prst="rect">
            <a:avLst/>
          </a:prstGeom>
          <a:noFill/>
        </p:spPr>
        <p:txBody>
          <a:bodyPr wrap="square" anchor="t" lIns="0" rIns="0" tIns="0" bIns="0">
            <a:spAutoFit/>
          </a:bodyPr>
          <a:lstStyle/>
          <a:p>
            <a:pPr algn="ctr">
              <a:lnSpc>
                <a:spcPct val="125000"/>
              </a:lnSpc>
              <a:spcBef>
                <a:spcPts val="0"/>
              </a:spcBef>
              <a:spcAft>
                <a:spcPts val="0"/>
              </a:spcAft>
            </a:pPr>
            <a:r>
              <a:rPr sz="1100" b="0" i="0">
                <a:solidFill>
                  <a:srgbClr val="E7F1EC"/>
                </a:solidFill>
                <a:latin typeface="Inter"/>
              </a:rPr>
              <a:t>interface · navigation · modèle · données</a:t>
            </a:r>
          </a:p>
          <a:p>
            <a:pPr algn="ctr">
              <a:lnSpc>
                <a:spcPct val="125000"/>
              </a:lnSpc>
              <a:spcBef>
                <a:spcPts val="300"/>
              </a:spcBef>
              <a:spcAft>
                <a:spcPts val="0"/>
              </a:spcAft>
            </a:pPr>
            <a:r>
              <a:rPr sz="1100" b="1" i="0">
                <a:solidFill>
                  <a:srgbClr val="FFFFFF"/>
                </a:solidFill>
                <a:latin typeface="Inter"/>
              </a:rPr>
              <a:t>l'essentiel du code, écrit une seule fois</a:t>
            </a:r>
          </a:p>
        </p:txBody>
      </p:sp>
      <p:sp>
        <p:nvSpPr>
          <p:cNvPr id="13" name="Rounded Rectangle 12"/>
          <p:cNvSpPr/>
          <p:nvPr/>
        </p:nvSpPr>
        <p:spPr>
          <a:xfrm>
            <a:off x="868680" y="4526280"/>
            <a:ext cx="4390820" cy="1097280"/>
          </a:xfrm>
          <a:prstGeom prst="roundRect">
            <a:avLst>
              <a:gd name="adj" fmla="val 6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4736592"/>
            <a:ext cx="4390820" cy="274320"/>
          </a:xfrm>
          <a:prstGeom prst="rect">
            <a:avLst/>
          </a:prstGeom>
          <a:noFill/>
        </p:spPr>
        <p:txBody>
          <a:bodyPr wrap="square" anchor="t" lIns="0" rIns="0" tIns="0" bIns="0">
            <a:spAutoFit/>
          </a:bodyPr>
          <a:lstStyle/>
          <a:p>
            <a:pPr algn="ctr">
              <a:lnSpc>
                <a:spcPct val="125000"/>
              </a:lnSpc>
              <a:spcBef>
                <a:spcPts val="0"/>
              </a:spcBef>
              <a:spcAft>
                <a:spcPts val="0"/>
              </a:spcAft>
            </a:pPr>
            <a:r>
              <a:rPr sz="1400" b="1" i="0">
                <a:solidFill>
                  <a:srgbClr val="FFFFFF"/>
                </a:solidFill>
                <a:latin typeface="Inter"/>
              </a:rPr>
              <a:t>Supabase</a:t>
            </a:r>
          </a:p>
        </p:txBody>
      </p:sp>
      <p:sp>
        <p:nvSpPr>
          <p:cNvPr id="15" name="TextBox 14"/>
          <p:cNvSpPr txBox="1"/>
          <p:nvPr/>
        </p:nvSpPr>
        <p:spPr>
          <a:xfrm>
            <a:off x="868680" y="5047488"/>
            <a:ext cx="4390820" cy="457200"/>
          </a:xfrm>
          <a:prstGeom prst="rect">
            <a:avLst/>
          </a:prstGeom>
          <a:noFill/>
        </p:spPr>
        <p:txBody>
          <a:bodyPr wrap="square" anchor="t" lIns="0" rIns="0" tIns="0" bIns="0">
            <a:spAutoFit/>
          </a:bodyPr>
          <a:lstStyle/>
          <a:p>
            <a:pPr algn="ctr">
              <a:lnSpc>
                <a:spcPct val="125000"/>
              </a:lnSpc>
              <a:spcBef>
                <a:spcPts val="0"/>
              </a:spcBef>
              <a:spcAft>
                <a:spcPts val="0"/>
              </a:spcAft>
            </a:pPr>
            <a:r>
              <a:rPr sz="1100" b="0" i="0">
                <a:solidFill>
                  <a:srgbClr val="8DA0B5"/>
                </a:solidFill>
                <a:latin typeface="Inter"/>
              </a:rPr>
              <a:t>PostgreSQL + PostGIS · Auth · Storage · Realtime</a:t>
            </a:r>
          </a:p>
        </p:txBody>
      </p:sp>
      <p:sp>
        <p:nvSpPr>
          <p:cNvPr id="16" name="TextBox 15"/>
          <p:cNvSpPr txBox="1"/>
          <p:nvPr/>
        </p:nvSpPr>
        <p:spPr>
          <a:xfrm>
            <a:off x="868680" y="5806440"/>
            <a:ext cx="4390820" cy="457200"/>
          </a:xfrm>
          <a:prstGeom prst="rect">
            <a:avLst/>
          </a:prstGeom>
          <a:noFill/>
        </p:spPr>
        <p:txBody>
          <a:bodyPr wrap="square" anchor="t" lIns="0" rIns="0" tIns="0" bIns="0">
            <a:spAutoFit/>
          </a:bodyPr>
          <a:lstStyle/>
          <a:p>
            <a:pPr algn="ctr">
              <a:lnSpc>
                <a:spcPct val="145000"/>
              </a:lnSpc>
              <a:spcBef>
                <a:spcPts val="0"/>
              </a:spcBef>
              <a:spcAft>
                <a:spcPts val="0"/>
              </a:spcAft>
            </a:pPr>
            <a:r>
              <a:rPr sz="1150" b="0" i="0">
                <a:solidFill>
                  <a:srgbClr val="5B6B7E"/>
                </a:solidFill>
                <a:latin typeface="Inter"/>
              </a:rPr>
              <a:t>Seuls la carte et la position sont spécifiques à une plateforme, derrière expect / actual.</a:t>
            </a:r>
          </a:p>
        </p:txBody>
      </p:sp>
      <p:sp>
        <p:nvSpPr>
          <p:cNvPr id="17" name="TextBox 16"/>
          <p:cNvSpPr txBox="1"/>
          <p:nvPr/>
        </p:nvSpPr>
        <p:spPr>
          <a:xfrm>
            <a:off x="5762420" y="2011680"/>
            <a:ext cx="5560595" cy="237744"/>
          </a:xfrm>
          <a:prstGeom prst="rect">
            <a:avLst/>
          </a:prstGeom>
          <a:noFill/>
        </p:spPr>
        <p:txBody>
          <a:bodyPr wrap="square" anchor="t" lIns="0" rIns="0" tIns="0" bIns="0">
            <a:spAutoFit/>
          </a:bodyPr>
          <a:lstStyle/>
          <a:p>
            <a:pPr algn="l">
              <a:lnSpc>
                <a:spcPct val="125000"/>
              </a:lnSpc>
              <a:spcBef>
                <a:spcPts val="0"/>
              </a:spcBef>
              <a:spcAft>
                <a:spcPts val="0"/>
              </a:spcAft>
            </a:pPr>
            <a:r>
              <a:rPr sz="1300" b="1" i="0">
                <a:solidFill>
                  <a:srgbClr val="16233A"/>
                </a:solidFill>
                <a:latin typeface="Inter"/>
              </a:rPr>
              <a:t>Kotlin Multiplatform 2.4.10</a:t>
            </a:r>
          </a:p>
        </p:txBody>
      </p:sp>
      <p:sp>
        <p:nvSpPr>
          <p:cNvPr id="18" name="TextBox 17"/>
          <p:cNvSpPr txBox="1"/>
          <p:nvPr/>
        </p:nvSpPr>
        <p:spPr>
          <a:xfrm>
            <a:off x="5762420" y="2286000"/>
            <a:ext cx="5560595" cy="365760"/>
          </a:xfrm>
          <a:prstGeom prst="rect">
            <a:avLst/>
          </a:prstGeom>
          <a:noFill/>
        </p:spPr>
        <p:txBody>
          <a:bodyPr wrap="square" anchor="t" lIns="0" rIns="0" tIns="0" bIns="0">
            <a:spAutoFit/>
          </a:bodyPr>
          <a:lstStyle/>
          <a:p>
            <a:pPr algn="l">
              <a:lnSpc>
                <a:spcPct val="140000"/>
              </a:lnSpc>
              <a:spcBef>
                <a:spcPts val="0"/>
              </a:spcBef>
              <a:spcAft>
                <a:spcPts val="0"/>
              </a:spcAft>
            </a:pPr>
            <a:r>
              <a:rPr sz="1150" b="0" i="0">
                <a:solidFill>
                  <a:srgbClr val="5B6B7E"/>
                </a:solidFill>
                <a:latin typeface="Inter"/>
              </a:rPr>
              <a:t>Deux plateformes exigées, quatre personnes, trois semaines.</a:t>
            </a:r>
          </a:p>
        </p:txBody>
      </p:sp>
      <p:sp>
        <p:nvSpPr>
          <p:cNvPr id="19" name="TextBox 18"/>
          <p:cNvSpPr txBox="1"/>
          <p:nvPr/>
        </p:nvSpPr>
        <p:spPr>
          <a:xfrm>
            <a:off x="5762420" y="2688336"/>
            <a:ext cx="5560595" cy="237744"/>
          </a:xfrm>
          <a:prstGeom prst="rect">
            <a:avLst/>
          </a:prstGeom>
          <a:noFill/>
        </p:spPr>
        <p:txBody>
          <a:bodyPr wrap="square" anchor="t" lIns="0" rIns="0" tIns="0" bIns="0">
            <a:spAutoFit/>
          </a:bodyPr>
          <a:lstStyle/>
          <a:p>
            <a:pPr algn="l">
              <a:lnSpc>
                <a:spcPct val="125000"/>
              </a:lnSpc>
              <a:spcBef>
                <a:spcPts val="0"/>
              </a:spcBef>
              <a:spcAft>
                <a:spcPts val="0"/>
              </a:spcAft>
            </a:pPr>
            <a:r>
              <a:rPr sz="1300" b="1" i="0">
                <a:solidFill>
                  <a:srgbClr val="16233A"/>
                </a:solidFill>
                <a:latin typeface="Inter"/>
              </a:rPr>
              <a:t>Compose Multiplatform 1.11.1</a:t>
            </a:r>
          </a:p>
        </p:txBody>
      </p:sp>
      <p:sp>
        <p:nvSpPr>
          <p:cNvPr id="20" name="TextBox 19"/>
          <p:cNvSpPr txBox="1"/>
          <p:nvPr/>
        </p:nvSpPr>
        <p:spPr>
          <a:xfrm>
            <a:off x="5762420" y="2962656"/>
            <a:ext cx="5560595" cy="365760"/>
          </a:xfrm>
          <a:prstGeom prst="rect">
            <a:avLst/>
          </a:prstGeom>
          <a:noFill/>
        </p:spPr>
        <p:txBody>
          <a:bodyPr wrap="square" anchor="t" lIns="0" rIns="0" tIns="0" bIns="0">
            <a:spAutoFit/>
          </a:bodyPr>
          <a:lstStyle/>
          <a:p>
            <a:pPr algn="l">
              <a:lnSpc>
                <a:spcPct val="140000"/>
              </a:lnSpc>
              <a:spcBef>
                <a:spcPts val="0"/>
              </a:spcBef>
              <a:spcAft>
                <a:spcPts val="0"/>
              </a:spcAft>
            </a:pPr>
            <a:r>
              <a:rPr sz="1150" b="0" i="0">
                <a:solidFill>
                  <a:srgbClr val="5B6B7E"/>
                </a:solidFill>
                <a:latin typeface="Inter"/>
              </a:rPr>
              <a:t>Partage aussi l'interface, pas seulement la logique métier.</a:t>
            </a:r>
          </a:p>
        </p:txBody>
      </p:sp>
      <p:sp>
        <p:nvSpPr>
          <p:cNvPr id="21" name="TextBox 20"/>
          <p:cNvSpPr txBox="1"/>
          <p:nvPr/>
        </p:nvSpPr>
        <p:spPr>
          <a:xfrm>
            <a:off x="5762420" y="3364992"/>
            <a:ext cx="5560595" cy="237744"/>
          </a:xfrm>
          <a:prstGeom prst="rect">
            <a:avLst/>
          </a:prstGeom>
          <a:noFill/>
        </p:spPr>
        <p:txBody>
          <a:bodyPr wrap="square" anchor="t" lIns="0" rIns="0" tIns="0" bIns="0">
            <a:spAutoFit/>
          </a:bodyPr>
          <a:lstStyle/>
          <a:p>
            <a:pPr algn="l">
              <a:lnSpc>
                <a:spcPct val="125000"/>
              </a:lnSpc>
              <a:spcBef>
                <a:spcPts val="0"/>
              </a:spcBef>
              <a:spcAft>
                <a:spcPts val="0"/>
              </a:spcAft>
            </a:pPr>
            <a:r>
              <a:rPr sz="1300" b="1" i="0">
                <a:solidFill>
                  <a:srgbClr val="16233A"/>
                </a:solidFill>
                <a:latin typeface="Inter"/>
              </a:rPr>
              <a:t>Supabase 3.7.0</a:t>
            </a:r>
          </a:p>
        </p:txBody>
      </p:sp>
      <p:sp>
        <p:nvSpPr>
          <p:cNvPr id="22" name="TextBox 21"/>
          <p:cNvSpPr txBox="1"/>
          <p:nvPr/>
        </p:nvSpPr>
        <p:spPr>
          <a:xfrm>
            <a:off x="5762420" y="3639312"/>
            <a:ext cx="5560595" cy="365760"/>
          </a:xfrm>
          <a:prstGeom prst="rect">
            <a:avLst/>
          </a:prstGeom>
          <a:noFill/>
        </p:spPr>
        <p:txBody>
          <a:bodyPr wrap="square" anchor="t" lIns="0" rIns="0" tIns="0" bIns="0">
            <a:spAutoFit/>
          </a:bodyPr>
          <a:lstStyle/>
          <a:p>
            <a:pPr algn="l">
              <a:lnSpc>
                <a:spcPct val="140000"/>
              </a:lnSpc>
              <a:spcBef>
                <a:spcPts val="0"/>
              </a:spcBef>
              <a:spcAft>
                <a:spcPts val="0"/>
              </a:spcAft>
            </a:pPr>
            <a:r>
              <a:rPr sz="1150" b="0" i="0">
                <a:solidFill>
                  <a:srgbClr val="5B6B7E"/>
                </a:solidFill>
                <a:latin typeface="Inter"/>
              </a:rPr>
              <a:t>PostgreSQL managé, auth et temps réel. Aucun serveur à administrer.</a:t>
            </a:r>
          </a:p>
        </p:txBody>
      </p:sp>
      <p:sp>
        <p:nvSpPr>
          <p:cNvPr id="23" name="TextBox 22"/>
          <p:cNvSpPr txBox="1"/>
          <p:nvPr/>
        </p:nvSpPr>
        <p:spPr>
          <a:xfrm>
            <a:off x="5762420" y="4041648"/>
            <a:ext cx="5560595" cy="237744"/>
          </a:xfrm>
          <a:prstGeom prst="rect">
            <a:avLst/>
          </a:prstGeom>
          <a:noFill/>
        </p:spPr>
        <p:txBody>
          <a:bodyPr wrap="square" anchor="t" lIns="0" rIns="0" tIns="0" bIns="0">
            <a:spAutoFit/>
          </a:bodyPr>
          <a:lstStyle/>
          <a:p>
            <a:pPr algn="l">
              <a:lnSpc>
                <a:spcPct val="125000"/>
              </a:lnSpc>
              <a:spcBef>
                <a:spcPts val="0"/>
              </a:spcBef>
              <a:spcAft>
                <a:spcPts val="0"/>
              </a:spcAft>
            </a:pPr>
            <a:r>
              <a:rPr sz="1300" b="1" i="0">
                <a:solidFill>
                  <a:srgbClr val="16233A"/>
                </a:solidFill>
                <a:latin typeface="Inter"/>
              </a:rPr>
              <a:t>PostGIS</a:t>
            </a:r>
          </a:p>
        </p:txBody>
      </p:sp>
      <p:sp>
        <p:nvSpPr>
          <p:cNvPr id="24" name="TextBox 23"/>
          <p:cNvSpPr txBox="1"/>
          <p:nvPr/>
        </p:nvSpPr>
        <p:spPr>
          <a:xfrm>
            <a:off x="5762420" y="4315968"/>
            <a:ext cx="5560595" cy="365760"/>
          </a:xfrm>
          <a:prstGeom prst="rect">
            <a:avLst/>
          </a:prstGeom>
          <a:noFill/>
        </p:spPr>
        <p:txBody>
          <a:bodyPr wrap="square" anchor="t" lIns="0" rIns="0" tIns="0" bIns="0">
            <a:spAutoFit/>
          </a:bodyPr>
          <a:lstStyle/>
          <a:p>
            <a:pPr algn="l">
              <a:lnSpc>
                <a:spcPct val="140000"/>
              </a:lnSpc>
              <a:spcBef>
                <a:spcPts val="0"/>
              </a:spcBef>
              <a:spcAft>
                <a:spcPts val="0"/>
              </a:spcAft>
            </a:pPr>
            <a:r>
              <a:rPr sz="1150" b="0" i="0">
                <a:solidFill>
                  <a:srgbClr val="5B6B7E"/>
                </a:solidFill>
                <a:latin typeface="Inter"/>
              </a:rPr>
              <a:t>La recherche par distance est une requête, pas une boucle.</a:t>
            </a:r>
          </a:p>
        </p:txBody>
      </p:sp>
      <p:sp>
        <p:nvSpPr>
          <p:cNvPr id="25" name="TextBox 24"/>
          <p:cNvSpPr txBox="1"/>
          <p:nvPr/>
        </p:nvSpPr>
        <p:spPr>
          <a:xfrm>
            <a:off x="5762420" y="4718304"/>
            <a:ext cx="5560595" cy="237744"/>
          </a:xfrm>
          <a:prstGeom prst="rect">
            <a:avLst/>
          </a:prstGeom>
          <a:noFill/>
        </p:spPr>
        <p:txBody>
          <a:bodyPr wrap="square" anchor="t" lIns="0" rIns="0" tIns="0" bIns="0">
            <a:spAutoFit/>
          </a:bodyPr>
          <a:lstStyle/>
          <a:p>
            <a:pPr algn="l">
              <a:lnSpc>
                <a:spcPct val="125000"/>
              </a:lnSpc>
              <a:spcBef>
                <a:spcPts val="0"/>
              </a:spcBef>
              <a:spcAft>
                <a:spcPts val="0"/>
              </a:spcAft>
            </a:pPr>
            <a:r>
              <a:rPr sz="1300" b="1" i="0">
                <a:solidFill>
                  <a:srgbClr val="16233A"/>
                </a:solidFill>
                <a:latin typeface="Inter"/>
              </a:rPr>
              <a:t>MapLibre 11 + OpenStreetMap</a:t>
            </a:r>
          </a:p>
        </p:txBody>
      </p:sp>
      <p:sp>
        <p:nvSpPr>
          <p:cNvPr id="26" name="TextBox 25"/>
          <p:cNvSpPr txBox="1"/>
          <p:nvPr/>
        </p:nvSpPr>
        <p:spPr>
          <a:xfrm>
            <a:off x="5762420" y="4992624"/>
            <a:ext cx="5560595" cy="365760"/>
          </a:xfrm>
          <a:prstGeom prst="rect">
            <a:avLst/>
          </a:prstGeom>
          <a:noFill/>
        </p:spPr>
        <p:txBody>
          <a:bodyPr wrap="square" anchor="t" lIns="0" rIns="0" tIns="0" bIns="0">
            <a:spAutoFit/>
          </a:bodyPr>
          <a:lstStyle/>
          <a:p>
            <a:pPr algn="l">
              <a:lnSpc>
                <a:spcPct val="140000"/>
              </a:lnSpc>
              <a:spcBef>
                <a:spcPts val="0"/>
              </a:spcBef>
              <a:spcAft>
                <a:spcPts val="0"/>
              </a:spcAft>
            </a:pPr>
            <a:r>
              <a:rPr sz="1150" b="0" i="0">
                <a:solidFill>
                  <a:srgbClr val="5B6B7E"/>
                </a:solidFill>
                <a:latin typeface="Inter"/>
              </a:rPr>
              <a:t>Libre, sans clé d'API ni facturation à l'usage.</a:t>
            </a:r>
          </a:p>
        </p:txBody>
      </p:sp>
      <p:sp>
        <p:nvSpPr>
          <p:cNvPr id="27" name="TextBox 26"/>
          <p:cNvSpPr txBox="1"/>
          <p:nvPr/>
        </p:nvSpPr>
        <p:spPr>
          <a:xfrm>
            <a:off x="5762420" y="5394960"/>
            <a:ext cx="5560595" cy="237744"/>
          </a:xfrm>
          <a:prstGeom prst="rect">
            <a:avLst/>
          </a:prstGeom>
          <a:noFill/>
        </p:spPr>
        <p:txBody>
          <a:bodyPr wrap="square" anchor="t" lIns="0" rIns="0" tIns="0" bIns="0">
            <a:spAutoFit/>
          </a:bodyPr>
          <a:lstStyle/>
          <a:p>
            <a:pPr algn="l">
              <a:lnSpc>
                <a:spcPct val="125000"/>
              </a:lnSpc>
              <a:spcBef>
                <a:spcPts val="0"/>
              </a:spcBef>
              <a:spcAft>
                <a:spcPts val="0"/>
              </a:spcAft>
            </a:pPr>
            <a:r>
              <a:rPr sz="1300" b="1" i="0">
                <a:solidFill>
                  <a:srgbClr val="16233A"/>
                </a:solidFill>
                <a:latin typeface="Inter"/>
              </a:rPr>
              <a:t>GitHub Actions</a:t>
            </a:r>
          </a:p>
        </p:txBody>
      </p:sp>
      <p:sp>
        <p:nvSpPr>
          <p:cNvPr id="28" name="TextBox 27"/>
          <p:cNvSpPr txBox="1"/>
          <p:nvPr/>
        </p:nvSpPr>
        <p:spPr>
          <a:xfrm>
            <a:off x="5762420" y="5669280"/>
            <a:ext cx="5560595" cy="365760"/>
          </a:xfrm>
          <a:prstGeom prst="rect">
            <a:avLst/>
          </a:prstGeom>
          <a:noFill/>
        </p:spPr>
        <p:txBody>
          <a:bodyPr wrap="square" anchor="t" lIns="0" rIns="0" tIns="0" bIns="0">
            <a:spAutoFit/>
          </a:bodyPr>
          <a:lstStyle/>
          <a:p>
            <a:pPr algn="l">
              <a:lnSpc>
                <a:spcPct val="140000"/>
              </a:lnSpc>
              <a:spcBef>
                <a:spcPts val="0"/>
              </a:spcBef>
              <a:spcAft>
                <a:spcPts val="0"/>
              </a:spcAft>
            </a:pPr>
            <a:r>
              <a:rPr sz="1150" b="0" i="0">
                <a:solidFill>
                  <a:srgbClr val="5B6B7E"/>
                </a:solidFill>
                <a:latin typeface="Inter"/>
              </a:rPr>
              <a:t>Dépôt, issues, relectures et pipeline au même endroit.</a:t>
            </a:r>
          </a:p>
        </p:txBody>
      </p:sp>
      <p:sp>
        <p:nvSpPr>
          <p:cNvPr id="29" name="TextBox 28"/>
          <p:cNvSpPr txBox="1"/>
          <p:nvPr/>
        </p:nvSpPr>
        <p:spPr>
          <a:xfrm>
            <a:off x="10774375" y="6309360"/>
            <a:ext cx="548640" cy="237744"/>
          </a:xfrm>
          <a:prstGeom prst="rect">
            <a:avLst/>
          </a:prstGeom>
          <a:noFill/>
        </p:spPr>
        <p:txBody>
          <a:bodyPr wrap="square" anchor="t" lIns="0" rIns="0" tIns="0" bIns="0">
            <a:spAutoFit/>
          </a:bodyPr>
          <a:lstStyle/>
          <a:p>
            <a:pPr algn="r">
              <a:lnSpc>
                <a:spcPct val="125000"/>
              </a:lnSpc>
              <a:spcBef>
                <a:spcPts val="0"/>
              </a:spcBef>
              <a:spcAft>
                <a:spcPts val="0"/>
              </a:spcAft>
            </a:pPr>
            <a:r>
              <a:rPr sz="950" b="0" i="0">
                <a:solidFill>
                  <a:srgbClr val="5B6B7E"/>
                </a:solidFill>
                <a:latin typeface="Inter"/>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5"/>
        </a:solidFill>
        <a:effectLst/>
      </p:bgPr>
    </p:bg>
    <p:spTree>
      <p:nvGrpSpPr>
        <p:cNvPr id="1" name=""/>
        <p:cNvGrpSpPr/>
        <p:nvPr/>
      </p:nvGrpSpPr>
      <p:grpSpPr/>
      <p:sp>
        <p:nvSpPr>
          <p:cNvPr id="2" name="TextBox 1"/>
          <p:cNvSpPr txBox="1"/>
          <p:nvPr/>
        </p:nvSpPr>
        <p:spPr>
          <a:xfrm>
            <a:off x="868680" y="713232"/>
            <a:ext cx="10454335" cy="237744"/>
          </a:xfrm>
          <a:prstGeom prst="rect">
            <a:avLst/>
          </a:prstGeom>
          <a:noFill/>
        </p:spPr>
        <p:txBody>
          <a:bodyPr wrap="square" anchor="t" lIns="0" rIns="0" tIns="0" bIns="0">
            <a:spAutoFit/>
          </a:bodyPr>
          <a:lstStyle/>
          <a:p>
            <a:pPr algn="l">
              <a:lnSpc>
                <a:spcPct val="125000"/>
              </a:lnSpc>
              <a:spcBef>
                <a:spcPts val="0"/>
              </a:spcBef>
              <a:spcAft>
                <a:spcPts val="0"/>
              </a:spcAft>
            </a:pPr>
            <a:r>
              <a:rPr sz="1050" b="1" i="0" spc="170">
                <a:solidFill>
                  <a:srgbClr val="3E8E68"/>
                </a:solidFill>
                <a:latin typeface="Inter"/>
              </a:rPr>
              <a:t>PIPELINE DEVOPS</a:t>
            </a:r>
          </a:p>
        </p:txBody>
      </p:sp>
      <p:sp>
        <p:nvSpPr>
          <p:cNvPr id="3" name="TextBox 2"/>
          <p:cNvSpPr txBox="1"/>
          <p:nvPr/>
        </p:nvSpPr>
        <p:spPr>
          <a:xfrm>
            <a:off x="868680" y="1042415"/>
            <a:ext cx="10454335" cy="1005840"/>
          </a:xfrm>
          <a:prstGeom prst="rect">
            <a:avLst/>
          </a:prstGeom>
          <a:noFill/>
        </p:spPr>
        <p:txBody>
          <a:bodyPr wrap="square" anchor="t" lIns="0" rIns="0" tIns="0" bIns="0">
            <a:spAutoFit/>
          </a:bodyPr>
          <a:lstStyle/>
          <a:p>
            <a:pPr algn="l">
              <a:lnSpc>
                <a:spcPct val="112000"/>
              </a:lnSpc>
              <a:spcBef>
                <a:spcPts val="0"/>
              </a:spcBef>
              <a:spcAft>
                <a:spcPts val="0"/>
              </a:spcAft>
            </a:pPr>
            <a:r>
              <a:rPr sz="3200" b="1" i="0">
                <a:solidFill>
                  <a:srgbClr val="16233A"/>
                </a:solidFill>
                <a:latin typeface="Fraunces"/>
              </a:rPr>
              <a:t>Le pipeline CI/CD</a:t>
            </a:r>
          </a:p>
        </p:txBody>
      </p:sp>
      <p:sp>
        <p:nvSpPr>
          <p:cNvPr id="4" name="Rounded Rectangle 3"/>
          <p:cNvSpPr/>
          <p:nvPr/>
        </p:nvSpPr>
        <p:spPr>
          <a:xfrm>
            <a:off x="868680" y="2487168"/>
            <a:ext cx="1828800" cy="868680"/>
          </a:xfrm>
          <a:prstGeom prst="roundRect">
            <a:avLst>
              <a:gd name="adj" fmla="val 9000"/>
            </a:avLst>
          </a:prstGeom>
          <a:solidFill>
            <a:srgbClr val="FFFFFF"/>
          </a:solidFill>
          <a:ln w="12700">
            <a:solidFill>
              <a:srgbClr val="DEE5E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8680" y="2651760"/>
            <a:ext cx="1828800" cy="274320"/>
          </a:xfrm>
          <a:prstGeom prst="rect">
            <a:avLst/>
          </a:prstGeom>
          <a:noFill/>
        </p:spPr>
        <p:txBody>
          <a:bodyPr wrap="square" anchor="t" lIns="0" rIns="0" tIns="0" bIns="0">
            <a:spAutoFit/>
          </a:bodyPr>
          <a:lstStyle/>
          <a:p>
            <a:pPr algn="ctr">
              <a:lnSpc>
                <a:spcPct val="125000"/>
              </a:lnSpc>
              <a:spcBef>
                <a:spcPts val="0"/>
              </a:spcBef>
              <a:spcAft>
                <a:spcPts val="0"/>
              </a:spcAft>
            </a:pPr>
            <a:r>
              <a:rPr sz="1300" b="1" i="0">
                <a:solidFill>
                  <a:srgbClr val="16233A"/>
                </a:solidFill>
                <a:latin typeface="Inter"/>
              </a:rPr>
              <a:t>Pull request</a:t>
            </a:r>
          </a:p>
        </p:txBody>
      </p:sp>
      <p:sp>
        <p:nvSpPr>
          <p:cNvPr id="6" name="TextBox 5"/>
          <p:cNvSpPr txBox="1"/>
          <p:nvPr/>
        </p:nvSpPr>
        <p:spPr>
          <a:xfrm>
            <a:off x="868680" y="2916936"/>
            <a:ext cx="1828800" cy="256032"/>
          </a:xfrm>
          <a:prstGeom prst="rect">
            <a:avLst/>
          </a:prstGeom>
          <a:noFill/>
        </p:spPr>
        <p:txBody>
          <a:bodyPr wrap="square" anchor="t" lIns="0" rIns="0" tIns="0" bIns="0">
            <a:spAutoFit/>
          </a:bodyPr>
          <a:lstStyle/>
          <a:p>
            <a:pPr algn="ctr">
              <a:lnSpc>
                <a:spcPct val="125000"/>
              </a:lnSpc>
              <a:spcBef>
                <a:spcPts val="0"/>
              </a:spcBef>
              <a:spcAft>
                <a:spcPts val="0"/>
              </a:spcAft>
            </a:pPr>
            <a:r>
              <a:rPr sz="1000" b="0" i="0">
                <a:solidFill>
                  <a:srgbClr val="5B6B7E"/>
                </a:solidFill>
                <a:latin typeface="Inter"/>
              </a:rPr>
              <a:t>sur staging ou main</a:t>
            </a:r>
          </a:p>
        </p:txBody>
      </p:sp>
      <p:sp>
        <p:nvSpPr>
          <p:cNvPr id="7" name="Rounded Rectangle 6"/>
          <p:cNvSpPr/>
          <p:nvPr/>
        </p:nvSpPr>
        <p:spPr>
          <a:xfrm>
            <a:off x="3044952" y="2011680"/>
            <a:ext cx="2286000" cy="868680"/>
          </a:xfrm>
          <a:prstGeom prst="roundRect">
            <a:avLst>
              <a:gd name="adj" fmla="val 8000"/>
            </a:avLst>
          </a:prstGeom>
          <a:solidFill>
            <a:srgbClr val="E7F1EC"/>
          </a:solidFill>
          <a:ln w="12700">
            <a:solidFill>
              <a:srgbClr val="3E8E6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3044952" y="2176272"/>
            <a:ext cx="2286000" cy="274320"/>
          </a:xfrm>
          <a:prstGeom prst="rect">
            <a:avLst/>
          </a:prstGeom>
          <a:noFill/>
        </p:spPr>
        <p:txBody>
          <a:bodyPr wrap="square" anchor="t" lIns="0" rIns="0" tIns="0" bIns="0">
            <a:spAutoFit/>
          </a:bodyPr>
          <a:lstStyle/>
          <a:p>
            <a:pPr algn="ctr">
              <a:lnSpc>
                <a:spcPct val="125000"/>
              </a:lnSpc>
              <a:spcBef>
                <a:spcPts val="0"/>
              </a:spcBef>
              <a:spcAft>
                <a:spcPts val="0"/>
              </a:spcAft>
            </a:pPr>
            <a:r>
              <a:rPr sz="1300" b="1" i="0">
                <a:solidFill>
                  <a:srgbClr val="2E6B4E"/>
                </a:solidFill>
                <a:latin typeface="Inter"/>
              </a:rPr>
              <a:t>Job Android</a:t>
            </a:r>
          </a:p>
        </p:txBody>
      </p:sp>
      <p:sp>
        <p:nvSpPr>
          <p:cNvPr id="9" name="TextBox 8"/>
          <p:cNvSpPr txBox="1"/>
          <p:nvPr/>
        </p:nvSpPr>
        <p:spPr>
          <a:xfrm>
            <a:off x="3044952" y="2441448"/>
            <a:ext cx="2286000" cy="256032"/>
          </a:xfrm>
          <a:prstGeom prst="rect">
            <a:avLst/>
          </a:prstGeom>
          <a:noFill/>
        </p:spPr>
        <p:txBody>
          <a:bodyPr wrap="square" anchor="t" lIns="0" rIns="0" tIns="0" bIns="0">
            <a:spAutoFit/>
          </a:bodyPr>
          <a:lstStyle/>
          <a:p>
            <a:pPr algn="ctr">
              <a:lnSpc>
                <a:spcPct val="125000"/>
              </a:lnSpc>
              <a:spcBef>
                <a:spcPts val="0"/>
              </a:spcBef>
              <a:spcAft>
                <a:spcPts val="0"/>
              </a:spcAft>
            </a:pPr>
            <a:r>
              <a:rPr sz="1000" b="0" i="0">
                <a:solidFill>
                  <a:srgbClr val="2E6B4E"/>
                </a:solidFill>
                <a:latin typeface="Inter"/>
              </a:rPr>
              <a:t>lint · tests · build APK</a:t>
            </a:r>
          </a:p>
        </p:txBody>
      </p:sp>
      <p:sp>
        <p:nvSpPr>
          <p:cNvPr id="10" name="Rounded Rectangle 9"/>
          <p:cNvSpPr/>
          <p:nvPr/>
        </p:nvSpPr>
        <p:spPr>
          <a:xfrm>
            <a:off x="3044952" y="3017520"/>
            <a:ext cx="2286000" cy="868680"/>
          </a:xfrm>
          <a:prstGeom prst="roundRect">
            <a:avLst>
              <a:gd name="adj" fmla="val 8000"/>
            </a:avLst>
          </a:prstGeom>
          <a:solidFill>
            <a:srgbClr val="E7F1EC"/>
          </a:solidFill>
          <a:ln w="12700">
            <a:solidFill>
              <a:srgbClr val="3E8E6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044952" y="3182112"/>
            <a:ext cx="2286000" cy="274320"/>
          </a:xfrm>
          <a:prstGeom prst="rect">
            <a:avLst/>
          </a:prstGeom>
          <a:noFill/>
        </p:spPr>
        <p:txBody>
          <a:bodyPr wrap="square" anchor="t" lIns="0" rIns="0" tIns="0" bIns="0">
            <a:spAutoFit/>
          </a:bodyPr>
          <a:lstStyle/>
          <a:p>
            <a:pPr algn="ctr">
              <a:lnSpc>
                <a:spcPct val="125000"/>
              </a:lnSpc>
              <a:spcBef>
                <a:spcPts val="0"/>
              </a:spcBef>
              <a:spcAft>
                <a:spcPts val="0"/>
              </a:spcAft>
            </a:pPr>
            <a:r>
              <a:rPr sz="1300" b="1" i="0">
                <a:solidFill>
                  <a:srgbClr val="2E6B4E"/>
                </a:solidFill>
                <a:latin typeface="Inter"/>
              </a:rPr>
              <a:t>Job iOS</a:t>
            </a:r>
          </a:p>
        </p:txBody>
      </p:sp>
      <p:sp>
        <p:nvSpPr>
          <p:cNvPr id="12" name="TextBox 11"/>
          <p:cNvSpPr txBox="1"/>
          <p:nvPr/>
        </p:nvSpPr>
        <p:spPr>
          <a:xfrm>
            <a:off x="3044952" y="3447288"/>
            <a:ext cx="2286000" cy="256032"/>
          </a:xfrm>
          <a:prstGeom prst="rect">
            <a:avLst/>
          </a:prstGeom>
          <a:noFill/>
        </p:spPr>
        <p:txBody>
          <a:bodyPr wrap="square" anchor="t" lIns="0" rIns="0" tIns="0" bIns="0">
            <a:spAutoFit/>
          </a:bodyPr>
          <a:lstStyle/>
          <a:p>
            <a:pPr algn="ctr">
              <a:lnSpc>
                <a:spcPct val="125000"/>
              </a:lnSpc>
              <a:spcBef>
                <a:spcPts val="0"/>
              </a:spcBef>
              <a:spcAft>
                <a:spcPts val="0"/>
              </a:spcAft>
            </a:pPr>
            <a:r>
              <a:rPr sz="1000" b="0" i="0">
                <a:solidFill>
                  <a:srgbClr val="2E6B4E"/>
                </a:solidFill>
                <a:latin typeface="Inter"/>
              </a:rPr>
              <a:t>framework partagé</a:t>
            </a:r>
          </a:p>
        </p:txBody>
      </p:sp>
      <p:sp>
        <p:nvSpPr>
          <p:cNvPr id="13" name="Rounded Rectangle 12"/>
          <p:cNvSpPr/>
          <p:nvPr/>
        </p:nvSpPr>
        <p:spPr>
          <a:xfrm>
            <a:off x="5678424" y="2487168"/>
            <a:ext cx="1828800" cy="868680"/>
          </a:xfrm>
          <a:prstGeom prst="roundRect">
            <a:avLst>
              <a:gd name="adj" fmla="val 9000"/>
            </a:avLst>
          </a:prstGeom>
          <a:solidFill>
            <a:srgbClr val="FFFFFF"/>
          </a:solidFill>
          <a:ln w="12700">
            <a:solidFill>
              <a:srgbClr val="DEE5E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678424" y="2651760"/>
            <a:ext cx="1828800" cy="274320"/>
          </a:xfrm>
          <a:prstGeom prst="rect">
            <a:avLst/>
          </a:prstGeom>
          <a:noFill/>
        </p:spPr>
        <p:txBody>
          <a:bodyPr wrap="square" anchor="t" lIns="0" rIns="0" tIns="0" bIns="0">
            <a:spAutoFit/>
          </a:bodyPr>
          <a:lstStyle/>
          <a:p>
            <a:pPr algn="ctr">
              <a:lnSpc>
                <a:spcPct val="125000"/>
              </a:lnSpc>
              <a:spcBef>
                <a:spcPts val="0"/>
              </a:spcBef>
              <a:spcAft>
                <a:spcPts val="0"/>
              </a:spcAft>
            </a:pPr>
            <a:r>
              <a:rPr sz="1300" b="1" i="0">
                <a:solidFill>
                  <a:srgbClr val="16233A"/>
                </a:solidFill>
                <a:latin typeface="Inter"/>
              </a:rPr>
              <a:t>Fusion sur main</a:t>
            </a:r>
          </a:p>
        </p:txBody>
      </p:sp>
      <p:sp>
        <p:nvSpPr>
          <p:cNvPr id="15" name="TextBox 14"/>
          <p:cNvSpPr txBox="1"/>
          <p:nvPr/>
        </p:nvSpPr>
        <p:spPr>
          <a:xfrm>
            <a:off x="5678424" y="2916936"/>
            <a:ext cx="1828800" cy="256032"/>
          </a:xfrm>
          <a:prstGeom prst="rect">
            <a:avLst/>
          </a:prstGeom>
          <a:noFill/>
        </p:spPr>
        <p:txBody>
          <a:bodyPr wrap="square" anchor="t" lIns="0" rIns="0" tIns="0" bIns="0">
            <a:spAutoFit/>
          </a:bodyPr>
          <a:lstStyle/>
          <a:p>
            <a:pPr algn="ctr">
              <a:lnSpc>
                <a:spcPct val="125000"/>
              </a:lnSpc>
              <a:spcBef>
                <a:spcPts val="0"/>
              </a:spcBef>
              <a:spcAft>
                <a:spcPts val="0"/>
              </a:spcAft>
            </a:pPr>
            <a:r>
              <a:rPr sz="1000" b="0" i="0">
                <a:solidFill>
                  <a:srgbClr val="5B6B7E"/>
                </a:solidFill>
                <a:latin typeface="Inter"/>
              </a:rPr>
              <a:t>les deux verts + 1 relecture</a:t>
            </a:r>
          </a:p>
        </p:txBody>
      </p:sp>
      <p:sp>
        <p:nvSpPr>
          <p:cNvPr id="16" name="Rounded Rectangle 15"/>
          <p:cNvSpPr/>
          <p:nvPr/>
        </p:nvSpPr>
        <p:spPr>
          <a:xfrm>
            <a:off x="7854696" y="2487168"/>
            <a:ext cx="3468319" cy="868680"/>
          </a:xfrm>
          <a:prstGeom prst="roundRect">
            <a:avLst>
              <a:gd name="adj" fmla="val 9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854696" y="2651760"/>
            <a:ext cx="3468319" cy="274320"/>
          </a:xfrm>
          <a:prstGeom prst="rect">
            <a:avLst/>
          </a:prstGeom>
          <a:noFill/>
        </p:spPr>
        <p:txBody>
          <a:bodyPr wrap="square" anchor="t" lIns="0" rIns="0" tIns="0" bIns="0">
            <a:spAutoFit/>
          </a:bodyPr>
          <a:lstStyle/>
          <a:p>
            <a:pPr algn="ctr">
              <a:lnSpc>
                <a:spcPct val="125000"/>
              </a:lnSpc>
              <a:spcBef>
                <a:spcPts val="0"/>
              </a:spcBef>
              <a:spcAft>
                <a:spcPts val="0"/>
              </a:spcAft>
            </a:pPr>
            <a:r>
              <a:rPr sz="1300" b="1" i="0">
                <a:solidFill>
                  <a:srgbClr val="FFFFFF"/>
                </a:solidFill>
                <a:latin typeface="Inter"/>
              </a:rPr>
              <a:t>Release publiée</a:t>
            </a:r>
          </a:p>
        </p:txBody>
      </p:sp>
      <p:sp>
        <p:nvSpPr>
          <p:cNvPr id="18" name="TextBox 17"/>
          <p:cNvSpPr txBox="1"/>
          <p:nvPr/>
        </p:nvSpPr>
        <p:spPr>
          <a:xfrm>
            <a:off x="7854696" y="2916936"/>
            <a:ext cx="3468319" cy="256032"/>
          </a:xfrm>
          <a:prstGeom prst="rect">
            <a:avLst/>
          </a:prstGeom>
          <a:noFill/>
        </p:spPr>
        <p:txBody>
          <a:bodyPr wrap="square" anchor="t" lIns="0" rIns="0" tIns="0" bIns="0">
            <a:spAutoFit/>
          </a:bodyPr>
          <a:lstStyle/>
          <a:p>
            <a:pPr algn="ctr">
              <a:lnSpc>
                <a:spcPct val="125000"/>
              </a:lnSpc>
              <a:spcBef>
                <a:spcPts val="0"/>
              </a:spcBef>
              <a:spcAft>
                <a:spcPts val="0"/>
              </a:spcAft>
            </a:pPr>
            <a:r>
              <a:rPr sz="1000" b="0" i="0">
                <a:solidFill>
                  <a:srgbClr val="8FC7AA"/>
                </a:solidFill>
                <a:latin typeface="Inter"/>
              </a:rPr>
              <a:t>APK joint, v1.0.35</a:t>
            </a:r>
          </a:p>
        </p:txBody>
      </p:sp>
      <p:sp>
        <p:nvSpPr>
          <p:cNvPr id="19" name="TextBox 18"/>
          <p:cNvSpPr txBox="1"/>
          <p:nvPr/>
        </p:nvSpPr>
        <p:spPr>
          <a:xfrm>
            <a:off x="2697480" y="2724912"/>
            <a:ext cx="347472" cy="274320"/>
          </a:xfrm>
          <a:prstGeom prst="rect">
            <a:avLst/>
          </a:prstGeom>
          <a:noFill/>
        </p:spPr>
        <p:txBody>
          <a:bodyPr wrap="square" anchor="t" lIns="0" rIns="0" tIns="0" bIns="0">
            <a:spAutoFit/>
          </a:bodyPr>
          <a:lstStyle/>
          <a:p>
            <a:pPr algn="ctr">
              <a:lnSpc>
                <a:spcPct val="125000"/>
              </a:lnSpc>
              <a:spcBef>
                <a:spcPts val="0"/>
              </a:spcBef>
              <a:spcAft>
                <a:spcPts val="0"/>
              </a:spcAft>
            </a:pPr>
            <a:r>
              <a:rPr sz="1500" b="0" i="0">
                <a:solidFill>
                  <a:srgbClr val="8DA0B5"/>
                </a:solidFill>
                <a:latin typeface="Inter"/>
              </a:rPr>
              <a:t>›</a:t>
            </a:r>
          </a:p>
        </p:txBody>
      </p:sp>
      <p:sp>
        <p:nvSpPr>
          <p:cNvPr id="20" name="TextBox 19"/>
          <p:cNvSpPr txBox="1"/>
          <p:nvPr/>
        </p:nvSpPr>
        <p:spPr>
          <a:xfrm>
            <a:off x="5330952" y="2724912"/>
            <a:ext cx="347472" cy="274320"/>
          </a:xfrm>
          <a:prstGeom prst="rect">
            <a:avLst/>
          </a:prstGeom>
          <a:noFill/>
        </p:spPr>
        <p:txBody>
          <a:bodyPr wrap="square" anchor="t" lIns="0" rIns="0" tIns="0" bIns="0">
            <a:spAutoFit/>
          </a:bodyPr>
          <a:lstStyle/>
          <a:p>
            <a:pPr algn="ctr">
              <a:lnSpc>
                <a:spcPct val="125000"/>
              </a:lnSpc>
              <a:spcBef>
                <a:spcPts val="0"/>
              </a:spcBef>
              <a:spcAft>
                <a:spcPts val="0"/>
              </a:spcAft>
            </a:pPr>
            <a:r>
              <a:rPr sz="1500" b="0" i="0">
                <a:solidFill>
                  <a:srgbClr val="8DA0B5"/>
                </a:solidFill>
                <a:latin typeface="Inter"/>
              </a:rPr>
              <a:t>›</a:t>
            </a:r>
          </a:p>
        </p:txBody>
      </p:sp>
      <p:sp>
        <p:nvSpPr>
          <p:cNvPr id="21" name="TextBox 20"/>
          <p:cNvSpPr txBox="1"/>
          <p:nvPr/>
        </p:nvSpPr>
        <p:spPr>
          <a:xfrm>
            <a:off x="7507224" y="2724912"/>
            <a:ext cx="347472" cy="274320"/>
          </a:xfrm>
          <a:prstGeom prst="rect">
            <a:avLst/>
          </a:prstGeom>
          <a:noFill/>
        </p:spPr>
        <p:txBody>
          <a:bodyPr wrap="square" anchor="t" lIns="0" rIns="0" tIns="0" bIns="0">
            <a:spAutoFit/>
          </a:bodyPr>
          <a:lstStyle/>
          <a:p>
            <a:pPr algn="ctr">
              <a:lnSpc>
                <a:spcPct val="125000"/>
              </a:lnSpc>
              <a:spcBef>
                <a:spcPts val="0"/>
              </a:spcBef>
              <a:spcAft>
                <a:spcPts val="0"/>
              </a:spcAft>
            </a:pPr>
            <a:r>
              <a:rPr sz="1500" b="0" i="0">
                <a:solidFill>
                  <a:srgbClr val="8DA0B5"/>
                </a:solidFill>
                <a:latin typeface="Inter"/>
              </a:rPr>
              <a:t>›</a:t>
            </a:r>
          </a:p>
        </p:txBody>
      </p:sp>
      <p:sp>
        <p:nvSpPr>
          <p:cNvPr id="22" name="TextBox 21"/>
          <p:cNvSpPr txBox="1"/>
          <p:nvPr/>
        </p:nvSpPr>
        <p:spPr>
          <a:xfrm>
            <a:off x="868680" y="4114800"/>
            <a:ext cx="3240938" cy="274320"/>
          </a:xfrm>
          <a:prstGeom prst="rect">
            <a:avLst/>
          </a:prstGeom>
          <a:noFill/>
        </p:spPr>
        <p:txBody>
          <a:bodyPr wrap="square" anchor="t" lIns="0" rIns="0" tIns="0" bIns="0">
            <a:spAutoFit/>
          </a:bodyPr>
          <a:lstStyle/>
          <a:p>
            <a:pPr algn="l">
              <a:lnSpc>
                <a:spcPct val="125000"/>
              </a:lnSpc>
              <a:spcBef>
                <a:spcPts val="0"/>
              </a:spcBef>
              <a:spcAft>
                <a:spcPts val="0"/>
              </a:spcAft>
            </a:pPr>
            <a:r>
              <a:rPr sz="1400" b="1" i="0">
                <a:solidFill>
                  <a:srgbClr val="16233A"/>
                </a:solidFill>
                <a:latin typeface="Fraunces"/>
              </a:rPr>
              <a:t>1. À chaque pull request</a:t>
            </a:r>
          </a:p>
        </p:txBody>
      </p:sp>
      <p:cxnSp>
        <p:nvCxnSpPr>
          <p:cNvPr id="23" name="Connector 22"/>
          <p:cNvCxnSpPr/>
          <p:nvPr/>
        </p:nvCxnSpPr>
        <p:spPr>
          <a:xfrm>
            <a:off x="868680" y="4507992"/>
            <a:ext cx="1280160" cy="0"/>
          </a:xfrm>
          <a:prstGeom prst="line">
            <a:avLst/>
          </a:prstGeom>
          <a:ln w="19050">
            <a:solidFill>
              <a:srgbClr val="3E8E6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68680" y="4690872"/>
            <a:ext cx="3240938" cy="1280160"/>
          </a:xfrm>
          <a:prstGeom prst="rect">
            <a:avLst/>
          </a:prstGeom>
          <a:noFill/>
        </p:spPr>
        <p:txBody>
          <a:bodyPr wrap="square" anchor="t" lIns="0" rIns="0" tIns="0" bIns="0">
            <a:spAutoFit/>
          </a:bodyPr>
          <a:lstStyle/>
          <a:p>
            <a:pPr algn="l">
              <a:lnSpc>
                <a:spcPct val="155000"/>
              </a:lnSpc>
              <a:spcBef>
                <a:spcPts val="0"/>
              </a:spcBef>
              <a:spcAft>
                <a:spcPts val="0"/>
              </a:spcAft>
            </a:pPr>
            <a:r>
              <a:rPr sz="1250" b="0" i="0">
                <a:solidFill>
                  <a:srgbClr val="5B6B7E"/>
                </a:solidFill>
                <a:latin typeface="Inter"/>
              </a:rPr>
              <a:t>Deux machines démarrent en parallèle. La Linux lance le lint, les tests partagés et construit l'APK. La macOS compile le framework iOS.</a:t>
            </a:r>
          </a:p>
        </p:txBody>
      </p:sp>
      <p:sp>
        <p:nvSpPr>
          <p:cNvPr id="25" name="TextBox 24"/>
          <p:cNvSpPr txBox="1"/>
          <p:nvPr/>
        </p:nvSpPr>
        <p:spPr>
          <a:xfrm>
            <a:off x="4475378" y="4114800"/>
            <a:ext cx="3240938" cy="274320"/>
          </a:xfrm>
          <a:prstGeom prst="rect">
            <a:avLst/>
          </a:prstGeom>
          <a:noFill/>
        </p:spPr>
        <p:txBody>
          <a:bodyPr wrap="square" anchor="t" lIns="0" rIns="0" tIns="0" bIns="0">
            <a:spAutoFit/>
          </a:bodyPr>
          <a:lstStyle/>
          <a:p>
            <a:pPr algn="l">
              <a:lnSpc>
                <a:spcPct val="125000"/>
              </a:lnSpc>
              <a:spcBef>
                <a:spcPts val="0"/>
              </a:spcBef>
              <a:spcAft>
                <a:spcPts val="0"/>
              </a:spcAft>
            </a:pPr>
            <a:r>
              <a:rPr sz="1400" b="1" i="0">
                <a:solidFill>
                  <a:srgbClr val="16233A"/>
                </a:solidFill>
                <a:latin typeface="Fraunces"/>
              </a:rPr>
              <a:t>2. Pour pouvoir fusionner</a:t>
            </a:r>
          </a:p>
        </p:txBody>
      </p:sp>
      <p:cxnSp>
        <p:nvCxnSpPr>
          <p:cNvPr id="26" name="Connector 25"/>
          <p:cNvCxnSpPr/>
          <p:nvPr/>
        </p:nvCxnSpPr>
        <p:spPr>
          <a:xfrm>
            <a:off x="4475378" y="4507992"/>
            <a:ext cx="1280160" cy="0"/>
          </a:xfrm>
          <a:prstGeom prst="line">
            <a:avLst/>
          </a:prstGeom>
          <a:ln w="19050">
            <a:solidFill>
              <a:srgbClr val="3E8E6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475378" y="4690872"/>
            <a:ext cx="3240938" cy="1280160"/>
          </a:xfrm>
          <a:prstGeom prst="rect">
            <a:avLst/>
          </a:prstGeom>
          <a:noFill/>
        </p:spPr>
        <p:txBody>
          <a:bodyPr wrap="square" anchor="t" lIns="0" rIns="0" tIns="0" bIns="0">
            <a:spAutoFit/>
          </a:bodyPr>
          <a:lstStyle/>
          <a:p>
            <a:pPr algn="l">
              <a:lnSpc>
                <a:spcPct val="155000"/>
              </a:lnSpc>
              <a:spcBef>
                <a:spcPts val="0"/>
              </a:spcBef>
              <a:spcAft>
                <a:spcPts val="0"/>
              </a:spcAft>
            </a:pPr>
            <a:r>
              <a:rPr sz="1250" b="0" i="0">
                <a:solidFill>
                  <a:srgbClr val="5B6B7E"/>
                </a:solidFill>
                <a:latin typeface="Inter"/>
              </a:rPr>
              <a:t>Les deux jobs doivent être verts. C'est une règle du dépôt, pas une convention : si un build échoue, le bouton Merge est désactivé.</a:t>
            </a:r>
          </a:p>
        </p:txBody>
      </p:sp>
      <p:sp>
        <p:nvSpPr>
          <p:cNvPr id="28" name="TextBox 27"/>
          <p:cNvSpPr txBox="1"/>
          <p:nvPr/>
        </p:nvSpPr>
        <p:spPr>
          <a:xfrm>
            <a:off x="8082076" y="4114800"/>
            <a:ext cx="3240938" cy="274320"/>
          </a:xfrm>
          <a:prstGeom prst="rect">
            <a:avLst/>
          </a:prstGeom>
          <a:noFill/>
        </p:spPr>
        <p:txBody>
          <a:bodyPr wrap="square" anchor="t" lIns="0" rIns="0" tIns="0" bIns="0">
            <a:spAutoFit/>
          </a:bodyPr>
          <a:lstStyle/>
          <a:p>
            <a:pPr algn="l">
              <a:lnSpc>
                <a:spcPct val="125000"/>
              </a:lnSpc>
              <a:spcBef>
                <a:spcPts val="0"/>
              </a:spcBef>
              <a:spcAft>
                <a:spcPts val="0"/>
              </a:spcAft>
            </a:pPr>
            <a:r>
              <a:rPr sz="1400" b="1" i="0">
                <a:solidFill>
                  <a:srgbClr val="16233A"/>
                </a:solidFill>
                <a:latin typeface="Fraunces"/>
              </a:rPr>
              <a:t>3. Après une fusion sur main</a:t>
            </a:r>
          </a:p>
        </p:txBody>
      </p:sp>
      <p:cxnSp>
        <p:nvCxnSpPr>
          <p:cNvPr id="29" name="Connector 28"/>
          <p:cNvCxnSpPr/>
          <p:nvPr/>
        </p:nvCxnSpPr>
        <p:spPr>
          <a:xfrm>
            <a:off x="8082076" y="4507992"/>
            <a:ext cx="1280160" cy="0"/>
          </a:xfrm>
          <a:prstGeom prst="line">
            <a:avLst/>
          </a:prstGeom>
          <a:ln w="19050">
            <a:solidFill>
              <a:srgbClr val="3E8E6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082076" y="4690872"/>
            <a:ext cx="3240938" cy="1280160"/>
          </a:xfrm>
          <a:prstGeom prst="rect">
            <a:avLst/>
          </a:prstGeom>
          <a:noFill/>
        </p:spPr>
        <p:txBody>
          <a:bodyPr wrap="square" anchor="t" lIns="0" rIns="0" tIns="0" bIns="0">
            <a:spAutoFit/>
          </a:bodyPr>
          <a:lstStyle/>
          <a:p>
            <a:pPr algn="l">
              <a:lnSpc>
                <a:spcPct val="155000"/>
              </a:lnSpc>
              <a:spcBef>
                <a:spcPts val="0"/>
              </a:spcBef>
              <a:spcAft>
                <a:spcPts val="0"/>
              </a:spcAft>
            </a:pPr>
            <a:r>
              <a:rPr sz="1250" b="0" i="0">
                <a:solidFill>
                  <a:srgbClr val="5B6B7E"/>
                </a:solidFill>
                <a:latin typeface="Inter"/>
              </a:rPr>
              <a:t>Une release GitHub est publiée avec l'APK que le job a déjà testé. Il n'est pas reconstruit pour la publication.</a:t>
            </a:r>
          </a:p>
        </p:txBody>
      </p:sp>
      <p:sp>
        <p:nvSpPr>
          <p:cNvPr id="31" name="TextBox 30"/>
          <p:cNvSpPr txBox="1"/>
          <p:nvPr/>
        </p:nvSpPr>
        <p:spPr>
          <a:xfrm>
            <a:off x="10774375" y="6309360"/>
            <a:ext cx="548640" cy="237744"/>
          </a:xfrm>
          <a:prstGeom prst="rect">
            <a:avLst/>
          </a:prstGeom>
          <a:noFill/>
        </p:spPr>
        <p:txBody>
          <a:bodyPr wrap="square" anchor="t" lIns="0" rIns="0" tIns="0" bIns="0">
            <a:spAutoFit/>
          </a:bodyPr>
          <a:lstStyle/>
          <a:p>
            <a:pPr algn="r">
              <a:lnSpc>
                <a:spcPct val="125000"/>
              </a:lnSpc>
              <a:spcBef>
                <a:spcPts val="0"/>
              </a:spcBef>
              <a:spcAft>
                <a:spcPts val="0"/>
              </a:spcAft>
            </a:pPr>
            <a:r>
              <a:rPr sz="950" b="0" i="0">
                <a:solidFill>
                  <a:srgbClr val="5B6B7E"/>
                </a:solidFill>
                <a:latin typeface="Inter"/>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TextBox 1"/>
          <p:cNvSpPr txBox="1"/>
          <p:nvPr/>
        </p:nvSpPr>
        <p:spPr>
          <a:xfrm>
            <a:off x="868680" y="713232"/>
            <a:ext cx="10454335" cy="237744"/>
          </a:xfrm>
          <a:prstGeom prst="rect">
            <a:avLst/>
          </a:prstGeom>
          <a:noFill/>
        </p:spPr>
        <p:txBody>
          <a:bodyPr wrap="square" anchor="t" lIns="0" rIns="0" tIns="0" bIns="0">
            <a:spAutoFit/>
          </a:bodyPr>
          <a:lstStyle/>
          <a:p>
            <a:pPr algn="l">
              <a:lnSpc>
                <a:spcPct val="125000"/>
              </a:lnSpc>
              <a:spcBef>
                <a:spcPts val="0"/>
              </a:spcBef>
              <a:spcAft>
                <a:spcPts val="0"/>
              </a:spcAft>
            </a:pPr>
            <a:r>
              <a:rPr sz="1050" b="1" i="0" spc="170">
                <a:solidFill>
                  <a:srgbClr val="8FC7AA"/>
                </a:solidFill>
                <a:latin typeface="Inter"/>
              </a:rPr>
              <a:t>INSTRUCTIONS REPRODUCTIBLES</a:t>
            </a:r>
          </a:p>
        </p:txBody>
      </p:sp>
      <p:sp>
        <p:nvSpPr>
          <p:cNvPr id="3" name="TextBox 2"/>
          <p:cNvSpPr txBox="1"/>
          <p:nvPr/>
        </p:nvSpPr>
        <p:spPr>
          <a:xfrm>
            <a:off x="868680" y="1042415"/>
            <a:ext cx="10454335" cy="1005840"/>
          </a:xfrm>
          <a:prstGeom prst="rect">
            <a:avLst/>
          </a:prstGeom>
          <a:noFill/>
        </p:spPr>
        <p:txBody>
          <a:bodyPr wrap="square" anchor="t" lIns="0" rIns="0" tIns="0" bIns="0">
            <a:spAutoFit/>
          </a:bodyPr>
          <a:lstStyle/>
          <a:p>
            <a:pPr algn="l">
              <a:lnSpc>
                <a:spcPct val="112000"/>
              </a:lnSpc>
              <a:spcBef>
                <a:spcPts val="0"/>
              </a:spcBef>
              <a:spcAft>
                <a:spcPts val="0"/>
              </a:spcAft>
            </a:pPr>
            <a:r>
              <a:rPr sz="3200" b="1" i="0">
                <a:solidFill>
                  <a:srgbClr val="FFFFFF"/>
                </a:solidFill>
                <a:latin typeface="Fraunces"/>
              </a:rPr>
              <a:t>Déployer une modification</a:t>
            </a:r>
          </a:p>
        </p:txBody>
      </p:sp>
      <p:sp>
        <p:nvSpPr>
          <p:cNvPr id="4" name="Rounded Rectangle 3"/>
          <p:cNvSpPr/>
          <p:nvPr/>
        </p:nvSpPr>
        <p:spPr>
          <a:xfrm>
            <a:off x="868680" y="2194560"/>
            <a:ext cx="3314090" cy="1463040"/>
          </a:xfrm>
          <a:prstGeom prst="roundRect">
            <a:avLst>
              <a:gd name="adj" fmla="val 6000"/>
            </a:avLst>
          </a:prstGeom>
          <a:solidFill>
            <a:srgbClr val="13345E"/>
          </a:solidFill>
          <a:ln w="12700">
            <a:solidFill>
              <a:srgbClr val="1C427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79576" y="2432304"/>
            <a:ext cx="2692298" cy="237744"/>
          </a:xfrm>
          <a:prstGeom prst="rect">
            <a:avLst/>
          </a:prstGeom>
          <a:noFill/>
        </p:spPr>
        <p:txBody>
          <a:bodyPr wrap="square" anchor="t" lIns="0" rIns="0" tIns="0" bIns="0">
            <a:spAutoFit/>
          </a:bodyPr>
          <a:lstStyle/>
          <a:p>
            <a:pPr algn="l">
              <a:lnSpc>
                <a:spcPct val="125000"/>
              </a:lnSpc>
              <a:spcBef>
                <a:spcPts val="0"/>
              </a:spcBef>
              <a:spcAft>
                <a:spcPts val="0"/>
              </a:spcAft>
            </a:pPr>
            <a:r>
              <a:rPr sz="1100" b="1" i="0" spc="150">
                <a:solidFill>
                  <a:srgbClr val="8FC7AA"/>
                </a:solidFill>
                <a:latin typeface="Inter"/>
              </a:rPr>
              <a:t>01</a:t>
            </a:r>
          </a:p>
        </p:txBody>
      </p:sp>
      <p:sp>
        <p:nvSpPr>
          <p:cNvPr id="6" name="TextBox 5"/>
          <p:cNvSpPr txBox="1"/>
          <p:nvPr/>
        </p:nvSpPr>
        <p:spPr>
          <a:xfrm>
            <a:off x="1179576" y="2724912"/>
            <a:ext cx="2692298" cy="411480"/>
          </a:xfrm>
          <a:prstGeom prst="rect">
            <a:avLst/>
          </a:prstGeom>
          <a:noFill/>
        </p:spPr>
        <p:txBody>
          <a:bodyPr wrap="square" anchor="t" lIns="0" rIns="0" tIns="0" bIns="0">
            <a:spAutoFit/>
          </a:bodyPr>
          <a:lstStyle/>
          <a:p>
            <a:pPr algn="l">
              <a:lnSpc>
                <a:spcPct val="125000"/>
              </a:lnSpc>
              <a:spcBef>
                <a:spcPts val="0"/>
              </a:spcBef>
              <a:spcAft>
                <a:spcPts val="0"/>
              </a:spcAft>
            </a:pPr>
            <a:r>
              <a:rPr sz="1400" b="1" i="0">
                <a:solidFill>
                  <a:srgbClr val="FFFFFF"/>
                </a:solidFill>
                <a:latin typeface="Inter"/>
              </a:rPr>
              <a:t>Créer la branche depuis l'issue</a:t>
            </a:r>
          </a:p>
        </p:txBody>
      </p:sp>
      <p:sp>
        <p:nvSpPr>
          <p:cNvPr id="7" name="TextBox 6"/>
          <p:cNvSpPr txBox="1"/>
          <p:nvPr/>
        </p:nvSpPr>
        <p:spPr>
          <a:xfrm>
            <a:off x="1179576" y="3218688"/>
            <a:ext cx="2692298" cy="320040"/>
          </a:xfrm>
          <a:prstGeom prst="rect">
            <a:avLst/>
          </a:prstGeom>
          <a:noFill/>
        </p:spPr>
        <p:txBody>
          <a:bodyPr wrap="square" anchor="t" lIns="0" rIns="0" tIns="0" bIns="0">
            <a:spAutoFit/>
          </a:bodyPr>
          <a:lstStyle/>
          <a:p>
            <a:pPr algn="l">
              <a:lnSpc>
                <a:spcPct val="125000"/>
              </a:lnSpc>
              <a:spcBef>
                <a:spcPts val="0"/>
              </a:spcBef>
              <a:spcAft>
                <a:spcPts val="0"/>
              </a:spcAft>
            </a:pPr>
            <a:r>
              <a:rPr sz="1050" b="0" i="0">
                <a:solidFill>
                  <a:srgbClr val="8DA0B5"/>
                </a:solidFill>
                <a:latin typeface="Consolas"/>
              </a:rPr>
              <a:t>git checkout 124-build-the-event-list</a:t>
            </a:r>
          </a:p>
        </p:txBody>
      </p:sp>
      <p:sp>
        <p:nvSpPr>
          <p:cNvPr id="8" name="Rounded Rectangle 7"/>
          <p:cNvSpPr/>
          <p:nvPr/>
        </p:nvSpPr>
        <p:spPr>
          <a:xfrm>
            <a:off x="4438802" y="2194560"/>
            <a:ext cx="3314090" cy="1463040"/>
          </a:xfrm>
          <a:prstGeom prst="roundRect">
            <a:avLst>
              <a:gd name="adj" fmla="val 6000"/>
            </a:avLst>
          </a:prstGeom>
          <a:solidFill>
            <a:srgbClr val="13345E"/>
          </a:solidFill>
          <a:ln w="12700">
            <a:solidFill>
              <a:srgbClr val="1C427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749698" y="2432304"/>
            <a:ext cx="2692298" cy="237744"/>
          </a:xfrm>
          <a:prstGeom prst="rect">
            <a:avLst/>
          </a:prstGeom>
          <a:noFill/>
        </p:spPr>
        <p:txBody>
          <a:bodyPr wrap="square" anchor="t" lIns="0" rIns="0" tIns="0" bIns="0">
            <a:spAutoFit/>
          </a:bodyPr>
          <a:lstStyle/>
          <a:p>
            <a:pPr algn="l">
              <a:lnSpc>
                <a:spcPct val="125000"/>
              </a:lnSpc>
              <a:spcBef>
                <a:spcPts val="0"/>
              </a:spcBef>
              <a:spcAft>
                <a:spcPts val="0"/>
              </a:spcAft>
            </a:pPr>
            <a:r>
              <a:rPr sz="1100" b="1" i="0" spc="150">
                <a:solidFill>
                  <a:srgbClr val="8FC7AA"/>
                </a:solidFill>
                <a:latin typeface="Inter"/>
              </a:rPr>
              <a:t>02</a:t>
            </a:r>
          </a:p>
        </p:txBody>
      </p:sp>
      <p:sp>
        <p:nvSpPr>
          <p:cNvPr id="10" name="TextBox 9"/>
          <p:cNvSpPr txBox="1"/>
          <p:nvPr/>
        </p:nvSpPr>
        <p:spPr>
          <a:xfrm>
            <a:off x="4749698" y="2724912"/>
            <a:ext cx="2692298" cy="411480"/>
          </a:xfrm>
          <a:prstGeom prst="rect">
            <a:avLst/>
          </a:prstGeom>
          <a:noFill/>
        </p:spPr>
        <p:txBody>
          <a:bodyPr wrap="square" anchor="t" lIns="0" rIns="0" tIns="0" bIns="0">
            <a:spAutoFit/>
          </a:bodyPr>
          <a:lstStyle/>
          <a:p>
            <a:pPr algn="l">
              <a:lnSpc>
                <a:spcPct val="125000"/>
              </a:lnSpc>
              <a:spcBef>
                <a:spcPts val="0"/>
              </a:spcBef>
              <a:spcAft>
                <a:spcPts val="0"/>
              </a:spcAft>
            </a:pPr>
            <a:r>
              <a:rPr sz="1400" b="1" i="0">
                <a:solidFill>
                  <a:srgbClr val="FFFFFF"/>
                </a:solidFill>
                <a:latin typeface="Inter"/>
              </a:rPr>
              <a:t>Commiter et pousser</a:t>
            </a:r>
          </a:p>
        </p:txBody>
      </p:sp>
      <p:sp>
        <p:nvSpPr>
          <p:cNvPr id="11" name="TextBox 10"/>
          <p:cNvSpPr txBox="1"/>
          <p:nvPr/>
        </p:nvSpPr>
        <p:spPr>
          <a:xfrm>
            <a:off x="4749698" y="3218688"/>
            <a:ext cx="2692298" cy="320040"/>
          </a:xfrm>
          <a:prstGeom prst="rect">
            <a:avLst/>
          </a:prstGeom>
          <a:noFill/>
        </p:spPr>
        <p:txBody>
          <a:bodyPr wrap="square" anchor="t" lIns="0" rIns="0" tIns="0" bIns="0">
            <a:spAutoFit/>
          </a:bodyPr>
          <a:lstStyle/>
          <a:p>
            <a:pPr algn="l">
              <a:lnSpc>
                <a:spcPct val="125000"/>
              </a:lnSpc>
              <a:spcBef>
                <a:spcPts val="0"/>
              </a:spcBef>
              <a:spcAft>
                <a:spcPts val="0"/>
              </a:spcAft>
            </a:pPr>
            <a:r>
              <a:rPr sz="1050" b="0" i="0">
                <a:solidFill>
                  <a:srgbClr val="8DA0B5"/>
                </a:solidFill>
                <a:latin typeface="Consolas"/>
              </a:rPr>
              <a:t>git push -u origin &lt;branche&gt;</a:t>
            </a:r>
          </a:p>
        </p:txBody>
      </p:sp>
      <p:sp>
        <p:nvSpPr>
          <p:cNvPr id="12" name="Rounded Rectangle 11"/>
          <p:cNvSpPr/>
          <p:nvPr/>
        </p:nvSpPr>
        <p:spPr>
          <a:xfrm>
            <a:off x="8008924" y="2194560"/>
            <a:ext cx="3314090" cy="1463040"/>
          </a:xfrm>
          <a:prstGeom prst="roundRect">
            <a:avLst>
              <a:gd name="adj" fmla="val 6000"/>
            </a:avLst>
          </a:prstGeom>
          <a:solidFill>
            <a:srgbClr val="13345E"/>
          </a:solidFill>
          <a:ln w="12700">
            <a:solidFill>
              <a:srgbClr val="1C427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19820" y="2432304"/>
            <a:ext cx="2692298" cy="237744"/>
          </a:xfrm>
          <a:prstGeom prst="rect">
            <a:avLst/>
          </a:prstGeom>
          <a:noFill/>
        </p:spPr>
        <p:txBody>
          <a:bodyPr wrap="square" anchor="t" lIns="0" rIns="0" tIns="0" bIns="0">
            <a:spAutoFit/>
          </a:bodyPr>
          <a:lstStyle/>
          <a:p>
            <a:pPr algn="l">
              <a:lnSpc>
                <a:spcPct val="125000"/>
              </a:lnSpc>
              <a:spcBef>
                <a:spcPts val="0"/>
              </a:spcBef>
              <a:spcAft>
                <a:spcPts val="0"/>
              </a:spcAft>
            </a:pPr>
            <a:r>
              <a:rPr sz="1100" b="1" i="0" spc="150">
                <a:solidFill>
                  <a:srgbClr val="8FC7AA"/>
                </a:solidFill>
                <a:latin typeface="Inter"/>
              </a:rPr>
              <a:t>03</a:t>
            </a:r>
          </a:p>
        </p:txBody>
      </p:sp>
      <p:sp>
        <p:nvSpPr>
          <p:cNvPr id="14" name="TextBox 13"/>
          <p:cNvSpPr txBox="1"/>
          <p:nvPr/>
        </p:nvSpPr>
        <p:spPr>
          <a:xfrm>
            <a:off x="8319820" y="2724912"/>
            <a:ext cx="2692298" cy="411480"/>
          </a:xfrm>
          <a:prstGeom prst="rect">
            <a:avLst/>
          </a:prstGeom>
          <a:noFill/>
        </p:spPr>
        <p:txBody>
          <a:bodyPr wrap="square" anchor="t" lIns="0" rIns="0" tIns="0" bIns="0">
            <a:spAutoFit/>
          </a:bodyPr>
          <a:lstStyle/>
          <a:p>
            <a:pPr algn="l">
              <a:lnSpc>
                <a:spcPct val="125000"/>
              </a:lnSpc>
              <a:spcBef>
                <a:spcPts val="0"/>
              </a:spcBef>
              <a:spcAft>
                <a:spcPts val="0"/>
              </a:spcAft>
            </a:pPr>
            <a:r>
              <a:rPr sz="1400" b="1" i="0">
                <a:solidFill>
                  <a:srgbClr val="FFFFFF"/>
                </a:solidFill>
                <a:latin typeface="Inter"/>
              </a:rPr>
              <a:t>Ouvrir la pull request</a:t>
            </a:r>
          </a:p>
        </p:txBody>
      </p:sp>
      <p:sp>
        <p:nvSpPr>
          <p:cNvPr id="15" name="TextBox 14"/>
          <p:cNvSpPr txBox="1"/>
          <p:nvPr/>
        </p:nvSpPr>
        <p:spPr>
          <a:xfrm>
            <a:off x="8319820" y="3218688"/>
            <a:ext cx="2692298" cy="320040"/>
          </a:xfrm>
          <a:prstGeom prst="rect">
            <a:avLst/>
          </a:prstGeom>
          <a:noFill/>
        </p:spPr>
        <p:txBody>
          <a:bodyPr wrap="square" anchor="t" lIns="0" rIns="0" tIns="0" bIns="0">
            <a:spAutoFit/>
          </a:bodyPr>
          <a:lstStyle/>
          <a:p>
            <a:pPr algn="l">
              <a:lnSpc>
                <a:spcPct val="125000"/>
              </a:lnSpc>
              <a:spcBef>
                <a:spcPts val="0"/>
              </a:spcBef>
              <a:spcAft>
                <a:spcPts val="0"/>
              </a:spcAft>
            </a:pPr>
            <a:r>
              <a:rPr sz="1050" b="0" i="0">
                <a:solidFill>
                  <a:srgbClr val="8DA0B5"/>
                </a:solidFill>
                <a:latin typeface="Consolas"/>
              </a:rPr>
              <a:t>gh pr create --base staging</a:t>
            </a:r>
          </a:p>
        </p:txBody>
      </p:sp>
      <p:sp>
        <p:nvSpPr>
          <p:cNvPr id="16" name="Rounded Rectangle 15"/>
          <p:cNvSpPr/>
          <p:nvPr/>
        </p:nvSpPr>
        <p:spPr>
          <a:xfrm>
            <a:off x="868680" y="3931920"/>
            <a:ext cx="3314090" cy="1463040"/>
          </a:xfrm>
          <a:prstGeom prst="roundRect">
            <a:avLst>
              <a:gd name="adj" fmla="val 6000"/>
            </a:avLst>
          </a:prstGeom>
          <a:solidFill>
            <a:srgbClr val="13345E"/>
          </a:solidFill>
          <a:ln w="12700">
            <a:solidFill>
              <a:srgbClr val="1C427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179576" y="4169664"/>
            <a:ext cx="2692298" cy="237744"/>
          </a:xfrm>
          <a:prstGeom prst="rect">
            <a:avLst/>
          </a:prstGeom>
          <a:noFill/>
        </p:spPr>
        <p:txBody>
          <a:bodyPr wrap="square" anchor="t" lIns="0" rIns="0" tIns="0" bIns="0">
            <a:spAutoFit/>
          </a:bodyPr>
          <a:lstStyle/>
          <a:p>
            <a:pPr algn="l">
              <a:lnSpc>
                <a:spcPct val="125000"/>
              </a:lnSpc>
              <a:spcBef>
                <a:spcPts val="0"/>
              </a:spcBef>
              <a:spcAft>
                <a:spcPts val="0"/>
              </a:spcAft>
            </a:pPr>
            <a:r>
              <a:rPr sz="1100" b="1" i="0" spc="150">
                <a:solidFill>
                  <a:srgbClr val="8FC7AA"/>
                </a:solidFill>
                <a:latin typeface="Inter"/>
              </a:rPr>
              <a:t>04</a:t>
            </a:r>
          </a:p>
        </p:txBody>
      </p:sp>
      <p:sp>
        <p:nvSpPr>
          <p:cNvPr id="18" name="TextBox 17"/>
          <p:cNvSpPr txBox="1"/>
          <p:nvPr/>
        </p:nvSpPr>
        <p:spPr>
          <a:xfrm>
            <a:off x="1179576" y="4462272"/>
            <a:ext cx="2692298" cy="411480"/>
          </a:xfrm>
          <a:prstGeom prst="rect">
            <a:avLst/>
          </a:prstGeom>
          <a:noFill/>
        </p:spPr>
        <p:txBody>
          <a:bodyPr wrap="square" anchor="t" lIns="0" rIns="0" tIns="0" bIns="0">
            <a:spAutoFit/>
          </a:bodyPr>
          <a:lstStyle/>
          <a:p>
            <a:pPr algn="l">
              <a:lnSpc>
                <a:spcPct val="125000"/>
              </a:lnSpc>
              <a:spcBef>
                <a:spcPts val="0"/>
              </a:spcBef>
              <a:spcAft>
                <a:spcPts val="0"/>
              </a:spcAft>
            </a:pPr>
            <a:r>
              <a:rPr sz="1400" b="1" i="0">
                <a:solidFill>
                  <a:srgbClr val="FFFFFF"/>
                </a:solidFill>
                <a:latin typeface="Inter"/>
              </a:rPr>
              <a:t>Attendre les contrôles</a:t>
            </a:r>
          </a:p>
        </p:txBody>
      </p:sp>
      <p:sp>
        <p:nvSpPr>
          <p:cNvPr id="19" name="TextBox 18"/>
          <p:cNvSpPr txBox="1"/>
          <p:nvPr/>
        </p:nvSpPr>
        <p:spPr>
          <a:xfrm>
            <a:off x="1179576" y="4956048"/>
            <a:ext cx="2692298" cy="320040"/>
          </a:xfrm>
          <a:prstGeom prst="rect">
            <a:avLst/>
          </a:prstGeom>
          <a:noFill/>
        </p:spPr>
        <p:txBody>
          <a:bodyPr wrap="square" anchor="t" lIns="0" rIns="0" tIns="0" bIns="0">
            <a:spAutoFit/>
          </a:bodyPr>
          <a:lstStyle/>
          <a:p>
            <a:pPr algn="l">
              <a:lnSpc>
                <a:spcPct val="125000"/>
              </a:lnSpc>
              <a:spcBef>
                <a:spcPts val="0"/>
              </a:spcBef>
              <a:spcAft>
                <a:spcPts val="0"/>
              </a:spcAft>
            </a:pPr>
            <a:r>
              <a:rPr sz="1050" b="0" i="0">
                <a:solidFill>
                  <a:srgbClr val="8DA0B5"/>
                </a:solidFill>
                <a:latin typeface="Consolas"/>
              </a:rPr>
              <a:t>gh pr checks &lt;n&gt; --watch</a:t>
            </a:r>
          </a:p>
        </p:txBody>
      </p:sp>
      <p:sp>
        <p:nvSpPr>
          <p:cNvPr id="20" name="Rounded Rectangle 19"/>
          <p:cNvSpPr/>
          <p:nvPr/>
        </p:nvSpPr>
        <p:spPr>
          <a:xfrm>
            <a:off x="4438802" y="3931920"/>
            <a:ext cx="3314090" cy="1463040"/>
          </a:xfrm>
          <a:prstGeom prst="roundRect">
            <a:avLst>
              <a:gd name="adj" fmla="val 6000"/>
            </a:avLst>
          </a:prstGeom>
          <a:solidFill>
            <a:srgbClr val="13345E"/>
          </a:solidFill>
          <a:ln w="12700">
            <a:solidFill>
              <a:srgbClr val="1C427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749698" y="4169664"/>
            <a:ext cx="2692298" cy="237744"/>
          </a:xfrm>
          <a:prstGeom prst="rect">
            <a:avLst/>
          </a:prstGeom>
          <a:noFill/>
        </p:spPr>
        <p:txBody>
          <a:bodyPr wrap="square" anchor="t" lIns="0" rIns="0" tIns="0" bIns="0">
            <a:spAutoFit/>
          </a:bodyPr>
          <a:lstStyle/>
          <a:p>
            <a:pPr algn="l">
              <a:lnSpc>
                <a:spcPct val="125000"/>
              </a:lnSpc>
              <a:spcBef>
                <a:spcPts val="0"/>
              </a:spcBef>
              <a:spcAft>
                <a:spcPts val="0"/>
              </a:spcAft>
            </a:pPr>
            <a:r>
              <a:rPr sz="1100" b="1" i="0" spc="150">
                <a:solidFill>
                  <a:srgbClr val="8FC7AA"/>
                </a:solidFill>
                <a:latin typeface="Inter"/>
              </a:rPr>
              <a:t>05</a:t>
            </a:r>
          </a:p>
        </p:txBody>
      </p:sp>
      <p:sp>
        <p:nvSpPr>
          <p:cNvPr id="22" name="TextBox 21"/>
          <p:cNvSpPr txBox="1"/>
          <p:nvPr/>
        </p:nvSpPr>
        <p:spPr>
          <a:xfrm>
            <a:off x="4749698" y="4462272"/>
            <a:ext cx="2692298" cy="411480"/>
          </a:xfrm>
          <a:prstGeom prst="rect">
            <a:avLst/>
          </a:prstGeom>
          <a:noFill/>
        </p:spPr>
        <p:txBody>
          <a:bodyPr wrap="square" anchor="t" lIns="0" rIns="0" tIns="0" bIns="0">
            <a:spAutoFit/>
          </a:bodyPr>
          <a:lstStyle/>
          <a:p>
            <a:pPr algn="l">
              <a:lnSpc>
                <a:spcPct val="125000"/>
              </a:lnSpc>
              <a:spcBef>
                <a:spcPts val="0"/>
              </a:spcBef>
              <a:spcAft>
                <a:spcPts val="0"/>
              </a:spcAft>
            </a:pPr>
            <a:r>
              <a:rPr sz="1400" b="1" i="0">
                <a:solidFill>
                  <a:srgbClr val="FFFFFF"/>
                </a:solidFill>
                <a:latin typeface="Inter"/>
              </a:rPr>
              <a:t>Fusionner</a:t>
            </a:r>
          </a:p>
        </p:txBody>
      </p:sp>
      <p:sp>
        <p:nvSpPr>
          <p:cNvPr id="23" name="TextBox 22"/>
          <p:cNvSpPr txBox="1"/>
          <p:nvPr/>
        </p:nvSpPr>
        <p:spPr>
          <a:xfrm>
            <a:off x="4749698" y="4956048"/>
            <a:ext cx="2692298" cy="320040"/>
          </a:xfrm>
          <a:prstGeom prst="rect">
            <a:avLst/>
          </a:prstGeom>
          <a:noFill/>
        </p:spPr>
        <p:txBody>
          <a:bodyPr wrap="square" anchor="t" lIns="0" rIns="0" tIns="0" bIns="0">
            <a:spAutoFit/>
          </a:bodyPr>
          <a:lstStyle/>
          <a:p>
            <a:pPr algn="l">
              <a:lnSpc>
                <a:spcPct val="125000"/>
              </a:lnSpc>
              <a:spcBef>
                <a:spcPts val="0"/>
              </a:spcBef>
              <a:spcAft>
                <a:spcPts val="0"/>
              </a:spcAft>
            </a:pPr>
            <a:r>
              <a:rPr sz="1050" b="0" i="0">
                <a:solidFill>
                  <a:srgbClr val="8DA0B5"/>
                </a:solidFill>
                <a:latin typeface="Consolas"/>
              </a:rPr>
              <a:t>gh pr merge &lt;n&gt; --merge</a:t>
            </a:r>
          </a:p>
        </p:txBody>
      </p:sp>
      <p:sp>
        <p:nvSpPr>
          <p:cNvPr id="24" name="Rounded Rectangle 23"/>
          <p:cNvSpPr/>
          <p:nvPr/>
        </p:nvSpPr>
        <p:spPr>
          <a:xfrm>
            <a:off x="8008924" y="3931920"/>
            <a:ext cx="3314090" cy="1463040"/>
          </a:xfrm>
          <a:prstGeom prst="roundRect">
            <a:avLst>
              <a:gd name="adj" fmla="val 6000"/>
            </a:avLst>
          </a:prstGeom>
          <a:solidFill>
            <a:srgbClr val="2E6B4E"/>
          </a:solidFill>
          <a:ln w="12700">
            <a:solidFill>
              <a:srgbClr val="3E8E6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319820" y="4169664"/>
            <a:ext cx="2692298" cy="237744"/>
          </a:xfrm>
          <a:prstGeom prst="rect">
            <a:avLst/>
          </a:prstGeom>
          <a:noFill/>
        </p:spPr>
        <p:txBody>
          <a:bodyPr wrap="square" anchor="t" lIns="0" rIns="0" tIns="0" bIns="0">
            <a:spAutoFit/>
          </a:bodyPr>
          <a:lstStyle/>
          <a:p>
            <a:pPr algn="l">
              <a:lnSpc>
                <a:spcPct val="125000"/>
              </a:lnSpc>
              <a:spcBef>
                <a:spcPts val="0"/>
              </a:spcBef>
              <a:spcAft>
                <a:spcPts val="0"/>
              </a:spcAft>
            </a:pPr>
            <a:r>
              <a:rPr sz="1100" b="1" i="0" spc="150">
                <a:solidFill>
                  <a:srgbClr val="8FC7AA"/>
                </a:solidFill>
                <a:latin typeface="Inter"/>
              </a:rPr>
              <a:t>06</a:t>
            </a:r>
          </a:p>
        </p:txBody>
      </p:sp>
      <p:sp>
        <p:nvSpPr>
          <p:cNvPr id="26" name="TextBox 25"/>
          <p:cNvSpPr txBox="1"/>
          <p:nvPr/>
        </p:nvSpPr>
        <p:spPr>
          <a:xfrm>
            <a:off x="8319820" y="4462272"/>
            <a:ext cx="2692298" cy="411480"/>
          </a:xfrm>
          <a:prstGeom prst="rect">
            <a:avLst/>
          </a:prstGeom>
          <a:noFill/>
        </p:spPr>
        <p:txBody>
          <a:bodyPr wrap="square" anchor="t" lIns="0" rIns="0" tIns="0" bIns="0">
            <a:spAutoFit/>
          </a:bodyPr>
          <a:lstStyle/>
          <a:p>
            <a:pPr algn="l">
              <a:lnSpc>
                <a:spcPct val="125000"/>
              </a:lnSpc>
              <a:spcBef>
                <a:spcPts val="0"/>
              </a:spcBef>
              <a:spcAft>
                <a:spcPts val="0"/>
              </a:spcAft>
            </a:pPr>
            <a:r>
              <a:rPr sz="1400" b="1" i="0">
                <a:solidFill>
                  <a:srgbClr val="FFFFFF"/>
                </a:solidFill>
                <a:latin typeface="Inter"/>
              </a:rPr>
              <a:t>La release part seule</a:t>
            </a:r>
          </a:p>
        </p:txBody>
      </p:sp>
      <p:sp>
        <p:nvSpPr>
          <p:cNvPr id="27" name="TextBox 26"/>
          <p:cNvSpPr txBox="1"/>
          <p:nvPr/>
        </p:nvSpPr>
        <p:spPr>
          <a:xfrm>
            <a:off x="8319820" y="4956048"/>
            <a:ext cx="2692298" cy="320040"/>
          </a:xfrm>
          <a:prstGeom prst="rect">
            <a:avLst/>
          </a:prstGeom>
          <a:noFill/>
        </p:spPr>
        <p:txBody>
          <a:bodyPr wrap="square" anchor="t" lIns="0" rIns="0" tIns="0" bIns="0">
            <a:spAutoFit/>
          </a:bodyPr>
          <a:lstStyle/>
          <a:p>
            <a:pPr algn="l">
              <a:lnSpc>
                <a:spcPct val="125000"/>
              </a:lnSpc>
              <a:spcBef>
                <a:spcPts val="0"/>
              </a:spcBef>
              <a:spcAft>
                <a:spcPts val="0"/>
              </a:spcAft>
            </a:pPr>
            <a:r>
              <a:rPr sz="1050" b="0" i="0">
                <a:solidFill>
                  <a:srgbClr val="E7F1EC"/>
                </a:solidFill>
                <a:latin typeface="Consolas"/>
              </a:rPr>
              <a:t>aucune commande</a:t>
            </a:r>
          </a:p>
        </p:txBody>
      </p:sp>
      <p:sp>
        <p:nvSpPr>
          <p:cNvPr id="28" name="TextBox 27"/>
          <p:cNvSpPr txBox="1"/>
          <p:nvPr/>
        </p:nvSpPr>
        <p:spPr>
          <a:xfrm>
            <a:off x="868680" y="5806440"/>
            <a:ext cx="10454335" cy="365760"/>
          </a:xfrm>
          <a:prstGeom prst="rect">
            <a:avLst/>
          </a:prstGeom>
          <a:noFill/>
        </p:spPr>
        <p:txBody>
          <a:bodyPr wrap="square" anchor="t" lIns="0" rIns="0" tIns="0" bIns="0">
            <a:spAutoFit/>
          </a:bodyPr>
          <a:lstStyle/>
          <a:p>
            <a:pPr algn="ctr">
              <a:lnSpc>
                <a:spcPct val="125000"/>
              </a:lnSpc>
              <a:spcBef>
                <a:spcPts val="0"/>
              </a:spcBef>
              <a:spcAft>
                <a:spcPts val="0"/>
              </a:spcAft>
            </a:pPr>
            <a:r>
              <a:rPr sz="1200" b="0" i="0">
                <a:solidFill>
                  <a:srgbClr val="8DA0B5"/>
                </a:solidFill>
                <a:latin typeface="Inter"/>
              </a:rPr>
              <a:t>Ces instructions sont dans le README, avec celles pour lancer le projet en local et pour contribuer de l'extérieur.</a:t>
            </a:r>
          </a:p>
        </p:txBody>
      </p:sp>
      <p:sp>
        <p:nvSpPr>
          <p:cNvPr id="29" name="TextBox 28"/>
          <p:cNvSpPr txBox="1"/>
          <p:nvPr/>
        </p:nvSpPr>
        <p:spPr>
          <a:xfrm>
            <a:off x="10774375" y="6309360"/>
            <a:ext cx="548640" cy="237744"/>
          </a:xfrm>
          <a:prstGeom prst="rect">
            <a:avLst/>
          </a:prstGeom>
          <a:noFill/>
        </p:spPr>
        <p:txBody>
          <a:bodyPr wrap="square" anchor="t" lIns="0" rIns="0" tIns="0" bIns="0">
            <a:spAutoFit/>
          </a:bodyPr>
          <a:lstStyle/>
          <a:p>
            <a:pPr algn="r">
              <a:lnSpc>
                <a:spcPct val="125000"/>
              </a:lnSpc>
              <a:spcBef>
                <a:spcPts val="0"/>
              </a:spcBef>
              <a:spcAft>
                <a:spcPts val="0"/>
              </a:spcAft>
            </a:pPr>
            <a:r>
              <a:rPr sz="950" b="0" i="0">
                <a:solidFill>
                  <a:srgbClr val="8DA0B5"/>
                </a:solidFill>
                <a:latin typeface="Inter"/>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5"/>
        </a:solidFill>
        <a:effectLst/>
      </p:bgPr>
    </p:bg>
    <p:spTree>
      <p:nvGrpSpPr>
        <p:cNvPr id="1" name=""/>
        <p:cNvGrpSpPr/>
        <p:nvPr/>
      </p:nvGrpSpPr>
      <p:grpSpPr/>
      <p:sp>
        <p:nvSpPr>
          <p:cNvPr id="2" name="TextBox 1"/>
          <p:cNvSpPr txBox="1"/>
          <p:nvPr/>
        </p:nvSpPr>
        <p:spPr>
          <a:xfrm>
            <a:off x="868680" y="713232"/>
            <a:ext cx="10454335" cy="237744"/>
          </a:xfrm>
          <a:prstGeom prst="rect">
            <a:avLst/>
          </a:prstGeom>
          <a:noFill/>
        </p:spPr>
        <p:txBody>
          <a:bodyPr wrap="square" anchor="t" lIns="0" rIns="0" tIns="0" bIns="0">
            <a:spAutoFit/>
          </a:bodyPr>
          <a:lstStyle/>
          <a:p>
            <a:pPr algn="l">
              <a:lnSpc>
                <a:spcPct val="125000"/>
              </a:lnSpc>
              <a:spcBef>
                <a:spcPts val="0"/>
              </a:spcBef>
              <a:spcAft>
                <a:spcPts val="0"/>
              </a:spcAft>
            </a:pPr>
            <a:r>
              <a:rPr sz="1050" b="1" i="0" spc="170">
                <a:solidFill>
                  <a:srgbClr val="3E8E68"/>
                </a:solidFill>
                <a:latin typeface="Inter"/>
              </a:rPr>
              <a:t>TESTS ET LIMITES</a:t>
            </a:r>
          </a:p>
        </p:txBody>
      </p:sp>
      <p:sp>
        <p:nvSpPr>
          <p:cNvPr id="3" name="TextBox 2"/>
          <p:cNvSpPr txBox="1"/>
          <p:nvPr/>
        </p:nvSpPr>
        <p:spPr>
          <a:xfrm>
            <a:off x="868680" y="1042415"/>
            <a:ext cx="10454335" cy="1005840"/>
          </a:xfrm>
          <a:prstGeom prst="rect">
            <a:avLst/>
          </a:prstGeom>
          <a:noFill/>
        </p:spPr>
        <p:txBody>
          <a:bodyPr wrap="square" anchor="t" lIns="0" rIns="0" tIns="0" bIns="0">
            <a:spAutoFit/>
          </a:bodyPr>
          <a:lstStyle/>
          <a:p>
            <a:pPr algn="l">
              <a:lnSpc>
                <a:spcPct val="112000"/>
              </a:lnSpc>
              <a:spcBef>
                <a:spcPts val="0"/>
              </a:spcBef>
              <a:spcAft>
                <a:spcPts val="0"/>
              </a:spcAft>
            </a:pPr>
            <a:r>
              <a:rPr sz="3200" b="1" i="0">
                <a:solidFill>
                  <a:srgbClr val="16233A"/>
                </a:solidFill>
                <a:latin typeface="Fraunces"/>
              </a:rPr>
              <a:t>Ce que nous testons, ce que nous n'avons pas fait</a:t>
            </a:r>
          </a:p>
        </p:txBody>
      </p:sp>
      <p:sp>
        <p:nvSpPr>
          <p:cNvPr id="4" name="Rounded Rectangle 3"/>
          <p:cNvSpPr/>
          <p:nvPr/>
        </p:nvSpPr>
        <p:spPr>
          <a:xfrm>
            <a:off x="2148840" y="2011680"/>
            <a:ext cx="2011680" cy="768096"/>
          </a:xfrm>
          <a:prstGeom prst="roundRect">
            <a:avLst>
              <a:gd name="adj" fmla="val 8000"/>
            </a:avLst>
          </a:prstGeom>
          <a:solidFill>
            <a:srgbClr val="FBEDE7"/>
          </a:solidFill>
          <a:ln w="12700">
            <a:solidFill>
              <a:srgbClr val="E06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2148840" y="2139696"/>
            <a:ext cx="2011680" cy="274320"/>
          </a:xfrm>
          <a:prstGeom prst="rect">
            <a:avLst/>
          </a:prstGeom>
          <a:noFill/>
        </p:spPr>
        <p:txBody>
          <a:bodyPr wrap="square" anchor="t" lIns="0" rIns="0" tIns="0" bIns="0">
            <a:spAutoFit/>
          </a:bodyPr>
          <a:lstStyle/>
          <a:p>
            <a:pPr algn="ctr">
              <a:lnSpc>
                <a:spcPct val="125000"/>
              </a:lnSpc>
              <a:spcBef>
                <a:spcPts val="0"/>
              </a:spcBef>
              <a:spcAft>
                <a:spcPts val="0"/>
              </a:spcAft>
            </a:pPr>
            <a:r>
              <a:rPr sz="1350" b="1" i="0">
                <a:solidFill>
                  <a:srgbClr val="16233A"/>
                </a:solidFill>
                <a:latin typeface="Inter"/>
              </a:rPr>
              <a:t>Bout en bout</a:t>
            </a:r>
          </a:p>
        </p:txBody>
      </p:sp>
      <p:sp>
        <p:nvSpPr>
          <p:cNvPr id="6" name="TextBox 5"/>
          <p:cNvSpPr txBox="1"/>
          <p:nvPr/>
        </p:nvSpPr>
        <p:spPr>
          <a:xfrm>
            <a:off x="2148840" y="2404872"/>
            <a:ext cx="2011680" cy="365760"/>
          </a:xfrm>
          <a:prstGeom prst="rect">
            <a:avLst/>
          </a:prstGeom>
          <a:noFill/>
        </p:spPr>
        <p:txBody>
          <a:bodyPr wrap="square" anchor="t" lIns="0" rIns="0" tIns="0" bIns="0">
            <a:spAutoFit/>
          </a:bodyPr>
          <a:lstStyle/>
          <a:p>
            <a:pPr algn="ctr">
              <a:lnSpc>
                <a:spcPct val="130000"/>
              </a:lnSpc>
              <a:spcBef>
                <a:spcPts val="0"/>
              </a:spcBef>
              <a:spcAft>
                <a:spcPts val="0"/>
              </a:spcAft>
            </a:pPr>
            <a:r>
              <a:rPr sz="1000" b="0" i="0">
                <a:solidFill>
                  <a:srgbClr val="5B6B7E"/>
                </a:solidFill>
                <a:latin typeface="Inter"/>
              </a:rPr>
              <a:t>Manuel, sur appareil réel</a:t>
            </a:r>
          </a:p>
        </p:txBody>
      </p:sp>
      <p:sp>
        <p:nvSpPr>
          <p:cNvPr id="7" name="Rounded Rectangle 6"/>
          <p:cNvSpPr/>
          <p:nvPr/>
        </p:nvSpPr>
        <p:spPr>
          <a:xfrm>
            <a:off x="1554480" y="2926080"/>
            <a:ext cx="3200400" cy="768096"/>
          </a:xfrm>
          <a:prstGeom prst="roundRect">
            <a:avLst>
              <a:gd name="adj" fmla="val 8000"/>
            </a:avLst>
          </a:prstGeom>
          <a:solidFill>
            <a:srgbClr val="E7F1EC"/>
          </a:solidFill>
          <a:ln w="12700">
            <a:solidFill>
              <a:srgbClr val="3E8E6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554480" y="3054096"/>
            <a:ext cx="3200400" cy="274320"/>
          </a:xfrm>
          <a:prstGeom prst="rect">
            <a:avLst/>
          </a:prstGeom>
          <a:noFill/>
        </p:spPr>
        <p:txBody>
          <a:bodyPr wrap="square" anchor="t" lIns="0" rIns="0" tIns="0" bIns="0">
            <a:spAutoFit/>
          </a:bodyPr>
          <a:lstStyle/>
          <a:p>
            <a:pPr algn="ctr">
              <a:lnSpc>
                <a:spcPct val="125000"/>
              </a:lnSpc>
              <a:spcBef>
                <a:spcPts val="0"/>
              </a:spcBef>
              <a:spcAft>
                <a:spcPts val="0"/>
              </a:spcAft>
            </a:pPr>
            <a:r>
              <a:rPr sz="1350" b="1" i="0">
                <a:solidFill>
                  <a:srgbClr val="16233A"/>
                </a:solidFill>
                <a:latin typeface="Inter"/>
              </a:rPr>
              <a:t>Intégration</a:t>
            </a:r>
          </a:p>
        </p:txBody>
      </p:sp>
      <p:sp>
        <p:nvSpPr>
          <p:cNvPr id="9" name="TextBox 8"/>
          <p:cNvSpPr txBox="1"/>
          <p:nvPr/>
        </p:nvSpPr>
        <p:spPr>
          <a:xfrm>
            <a:off x="1554480" y="3319272"/>
            <a:ext cx="3200400" cy="365760"/>
          </a:xfrm>
          <a:prstGeom prst="rect">
            <a:avLst/>
          </a:prstGeom>
          <a:noFill/>
        </p:spPr>
        <p:txBody>
          <a:bodyPr wrap="square" anchor="t" lIns="0" rIns="0" tIns="0" bIns="0">
            <a:spAutoFit/>
          </a:bodyPr>
          <a:lstStyle/>
          <a:p>
            <a:pPr algn="ctr">
              <a:lnSpc>
                <a:spcPct val="130000"/>
              </a:lnSpc>
              <a:spcBef>
                <a:spcPts val="0"/>
              </a:spcBef>
              <a:spcAft>
                <a:spcPts val="0"/>
              </a:spcAft>
            </a:pPr>
            <a:r>
              <a:rPr sz="1000" b="0" i="0">
                <a:solidFill>
                  <a:srgbClr val="5B6B7E"/>
                </a:solidFill>
                <a:latin typeface="Inter"/>
              </a:rPr>
              <a:t>Migrations SQL rejouées sur une base vierge</a:t>
            </a:r>
          </a:p>
        </p:txBody>
      </p:sp>
      <p:sp>
        <p:nvSpPr>
          <p:cNvPr id="10" name="Rounded Rectangle 9"/>
          <p:cNvSpPr/>
          <p:nvPr/>
        </p:nvSpPr>
        <p:spPr>
          <a:xfrm>
            <a:off x="868680" y="3840480"/>
            <a:ext cx="4572000" cy="768096"/>
          </a:xfrm>
          <a:prstGeom prst="roundRect">
            <a:avLst>
              <a:gd name="adj" fmla="val 8000"/>
            </a:avLst>
          </a:prstGeom>
          <a:solidFill>
            <a:srgbClr val="FFFFFF"/>
          </a:solidFill>
          <a:ln w="12700">
            <a:solidFill>
              <a:srgbClr val="DEE5E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68680" y="3968496"/>
            <a:ext cx="4572000" cy="274320"/>
          </a:xfrm>
          <a:prstGeom prst="rect">
            <a:avLst/>
          </a:prstGeom>
          <a:noFill/>
        </p:spPr>
        <p:txBody>
          <a:bodyPr wrap="square" anchor="t" lIns="0" rIns="0" tIns="0" bIns="0">
            <a:spAutoFit/>
          </a:bodyPr>
          <a:lstStyle/>
          <a:p>
            <a:pPr algn="ctr">
              <a:lnSpc>
                <a:spcPct val="125000"/>
              </a:lnSpc>
              <a:spcBef>
                <a:spcPts val="0"/>
              </a:spcBef>
              <a:spcAft>
                <a:spcPts val="0"/>
              </a:spcAft>
            </a:pPr>
            <a:r>
              <a:rPr sz="1350" b="1" i="0">
                <a:solidFill>
                  <a:srgbClr val="16233A"/>
                </a:solidFill>
                <a:latin typeface="Inter"/>
              </a:rPr>
              <a:t>Unitaires</a:t>
            </a:r>
          </a:p>
        </p:txBody>
      </p:sp>
      <p:sp>
        <p:nvSpPr>
          <p:cNvPr id="12" name="TextBox 11"/>
          <p:cNvSpPr txBox="1"/>
          <p:nvPr/>
        </p:nvSpPr>
        <p:spPr>
          <a:xfrm>
            <a:off x="868680" y="4233672"/>
            <a:ext cx="4572000" cy="365760"/>
          </a:xfrm>
          <a:prstGeom prst="rect">
            <a:avLst/>
          </a:prstGeom>
          <a:noFill/>
        </p:spPr>
        <p:txBody>
          <a:bodyPr wrap="square" anchor="t" lIns="0" rIns="0" tIns="0" bIns="0">
            <a:spAutoFit/>
          </a:bodyPr>
          <a:lstStyle/>
          <a:p>
            <a:pPr algn="ctr">
              <a:lnSpc>
                <a:spcPct val="130000"/>
              </a:lnSpc>
              <a:spcBef>
                <a:spcPts val="0"/>
              </a:spcBef>
              <a:spcAft>
                <a:spcPts val="0"/>
              </a:spcAft>
            </a:pPr>
            <a:r>
              <a:rPr sz="1000" b="0" i="0">
                <a:solidFill>
                  <a:srgbClr val="5B6B7E"/>
                </a:solidFill>
                <a:latin typeface="Inter"/>
              </a:rPr>
              <a:t>8 tests partagés : filtres, tri par distance, onboarding</a:t>
            </a:r>
          </a:p>
        </p:txBody>
      </p:sp>
      <p:sp>
        <p:nvSpPr>
          <p:cNvPr id="13" name="TextBox 12"/>
          <p:cNvSpPr txBox="1"/>
          <p:nvPr/>
        </p:nvSpPr>
        <p:spPr>
          <a:xfrm>
            <a:off x="868680" y="4754880"/>
            <a:ext cx="4572000" cy="548640"/>
          </a:xfrm>
          <a:prstGeom prst="rect">
            <a:avLst/>
          </a:prstGeom>
          <a:noFill/>
        </p:spPr>
        <p:txBody>
          <a:bodyPr wrap="square" anchor="t" lIns="0" rIns="0" tIns="0" bIns="0">
            <a:spAutoFit/>
          </a:bodyPr>
          <a:lstStyle/>
          <a:p>
            <a:pPr algn="l">
              <a:lnSpc>
                <a:spcPct val="150000"/>
              </a:lnSpc>
              <a:spcBef>
                <a:spcPts val="0"/>
              </a:spcBef>
              <a:spcAft>
                <a:spcPts val="0"/>
              </a:spcAft>
            </a:pPr>
            <a:r>
              <a:rPr sz="1200" b="0" i="0">
                <a:solidFill>
                  <a:srgbClr val="5B6B7E"/>
                </a:solidFill>
                <a:latin typeface="Inter"/>
              </a:rPr>
              <a:t>Les tests vivent dans commonTest et s'exécutent sur les deux plateformes, à chaque pull request.</a:t>
            </a:r>
          </a:p>
        </p:txBody>
      </p:sp>
      <p:sp>
        <p:nvSpPr>
          <p:cNvPr id="14" name="TextBox 13"/>
          <p:cNvSpPr txBox="1"/>
          <p:nvPr/>
        </p:nvSpPr>
        <p:spPr>
          <a:xfrm>
            <a:off x="6080760" y="2011680"/>
            <a:ext cx="5242255" cy="256032"/>
          </a:xfrm>
          <a:prstGeom prst="rect">
            <a:avLst/>
          </a:prstGeom>
          <a:noFill/>
        </p:spPr>
        <p:txBody>
          <a:bodyPr wrap="square" anchor="t" lIns="0" rIns="0" tIns="0" bIns="0">
            <a:spAutoFit/>
          </a:bodyPr>
          <a:lstStyle/>
          <a:p>
            <a:pPr algn="l">
              <a:lnSpc>
                <a:spcPct val="125000"/>
              </a:lnSpc>
              <a:spcBef>
                <a:spcPts val="0"/>
              </a:spcBef>
              <a:spcAft>
                <a:spcPts val="0"/>
              </a:spcAft>
            </a:pPr>
            <a:r>
              <a:rPr sz="1300" b="1" i="0">
                <a:solidFill>
                  <a:srgbClr val="E0623C"/>
                </a:solidFill>
                <a:latin typeface="Inter"/>
              </a:rPr>
              <a:t>Notifications push</a:t>
            </a:r>
          </a:p>
        </p:txBody>
      </p:sp>
      <p:sp>
        <p:nvSpPr>
          <p:cNvPr id="15" name="TextBox 14"/>
          <p:cNvSpPr txBox="1"/>
          <p:nvPr/>
        </p:nvSpPr>
        <p:spPr>
          <a:xfrm>
            <a:off x="6080760" y="2286000"/>
            <a:ext cx="5242255" cy="457200"/>
          </a:xfrm>
          <a:prstGeom prst="rect">
            <a:avLst/>
          </a:prstGeom>
          <a:noFill/>
        </p:spPr>
        <p:txBody>
          <a:bodyPr wrap="square" anchor="t" lIns="0" rIns="0" tIns="0" bIns="0">
            <a:spAutoFit/>
          </a:bodyPr>
          <a:lstStyle/>
          <a:p>
            <a:pPr algn="l">
              <a:lnSpc>
                <a:spcPct val="140000"/>
              </a:lnSpc>
              <a:spcBef>
                <a:spcPts val="0"/>
              </a:spcBef>
              <a:spcAft>
                <a:spcPts val="0"/>
              </a:spcAft>
            </a:pPr>
            <a:r>
              <a:rPr sz="1200" b="0" i="0">
                <a:solidFill>
                  <a:srgbClr val="5B6B7E"/>
                </a:solidFill>
                <a:latin typeface="Inter"/>
              </a:rPr>
              <a:t>exigence RF-12, non livrée</a:t>
            </a:r>
          </a:p>
        </p:txBody>
      </p:sp>
      <p:sp>
        <p:nvSpPr>
          <p:cNvPr id="16" name="TextBox 15"/>
          <p:cNvSpPr txBox="1"/>
          <p:nvPr/>
        </p:nvSpPr>
        <p:spPr>
          <a:xfrm>
            <a:off x="6080760" y="2779776"/>
            <a:ext cx="5242255" cy="256032"/>
          </a:xfrm>
          <a:prstGeom prst="rect">
            <a:avLst/>
          </a:prstGeom>
          <a:noFill/>
        </p:spPr>
        <p:txBody>
          <a:bodyPr wrap="square" anchor="t" lIns="0" rIns="0" tIns="0" bIns="0">
            <a:spAutoFit/>
          </a:bodyPr>
          <a:lstStyle/>
          <a:p>
            <a:pPr algn="l">
              <a:lnSpc>
                <a:spcPct val="125000"/>
              </a:lnSpc>
              <a:spcBef>
                <a:spcPts val="0"/>
              </a:spcBef>
              <a:spcAft>
                <a:spcPts val="0"/>
              </a:spcAft>
            </a:pPr>
            <a:r>
              <a:rPr sz="1300" b="1" i="0">
                <a:solidFill>
                  <a:srgbClr val="E0623C"/>
                </a:solidFill>
                <a:latin typeface="Inter"/>
              </a:rPr>
              <a:t>Couverture de tests mince</a:t>
            </a:r>
          </a:p>
        </p:txBody>
      </p:sp>
      <p:sp>
        <p:nvSpPr>
          <p:cNvPr id="17" name="TextBox 16"/>
          <p:cNvSpPr txBox="1"/>
          <p:nvPr/>
        </p:nvSpPr>
        <p:spPr>
          <a:xfrm>
            <a:off x="6080760" y="3054096"/>
            <a:ext cx="5242255" cy="457200"/>
          </a:xfrm>
          <a:prstGeom prst="rect">
            <a:avLst/>
          </a:prstGeom>
          <a:noFill/>
        </p:spPr>
        <p:txBody>
          <a:bodyPr wrap="square" anchor="t" lIns="0" rIns="0" tIns="0" bIns="0">
            <a:spAutoFit/>
          </a:bodyPr>
          <a:lstStyle/>
          <a:p>
            <a:pPr algn="l">
              <a:lnSpc>
                <a:spcPct val="140000"/>
              </a:lnSpc>
              <a:spcBef>
                <a:spcPts val="0"/>
              </a:spcBef>
              <a:spcAft>
                <a:spcPts val="0"/>
              </a:spcAft>
            </a:pPr>
            <a:r>
              <a:rPr sz="1200" b="0" i="0">
                <a:solidFill>
                  <a:srgbClr val="5B6B7E"/>
                </a:solidFill>
                <a:latin typeface="Inter"/>
              </a:rPr>
              <a:t>8 tests unitaires, pas un filet de sécurité</a:t>
            </a:r>
          </a:p>
        </p:txBody>
      </p:sp>
      <p:sp>
        <p:nvSpPr>
          <p:cNvPr id="18" name="TextBox 17"/>
          <p:cNvSpPr txBox="1"/>
          <p:nvPr/>
        </p:nvSpPr>
        <p:spPr>
          <a:xfrm>
            <a:off x="6080760" y="3547872"/>
            <a:ext cx="5242255" cy="256032"/>
          </a:xfrm>
          <a:prstGeom prst="rect">
            <a:avLst/>
          </a:prstGeom>
          <a:noFill/>
        </p:spPr>
        <p:txBody>
          <a:bodyPr wrap="square" anchor="t" lIns="0" rIns="0" tIns="0" bIns="0">
            <a:spAutoFit/>
          </a:bodyPr>
          <a:lstStyle/>
          <a:p>
            <a:pPr algn="l">
              <a:lnSpc>
                <a:spcPct val="125000"/>
              </a:lnSpc>
              <a:spcBef>
                <a:spcPts val="0"/>
              </a:spcBef>
              <a:spcAft>
                <a:spcPts val="0"/>
              </a:spcAft>
            </a:pPr>
            <a:r>
              <a:rPr sz="1300" b="1" i="0">
                <a:solidFill>
                  <a:srgbClr val="E0623C"/>
                </a:solidFill>
                <a:latin typeface="Inter"/>
              </a:rPr>
              <a:t>iOS compilé, peu éprouvé</a:t>
            </a:r>
          </a:p>
        </p:txBody>
      </p:sp>
      <p:sp>
        <p:nvSpPr>
          <p:cNvPr id="19" name="TextBox 18"/>
          <p:cNvSpPr txBox="1"/>
          <p:nvPr/>
        </p:nvSpPr>
        <p:spPr>
          <a:xfrm>
            <a:off x="6080760" y="3822192"/>
            <a:ext cx="5242255" cy="457200"/>
          </a:xfrm>
          <a:prstGeom prst="rect">
            <a:avLst/>
          </a:prstGeom>
          <a:noFill/>
        </p:spPr>
        <p:txBody>
          <a:bodyPr wrap="square" anchor="t" lIns="0" rIns="0" tIns="0" bIns="0">
            <a:spAutoFit/>
          </a:bodyPr>
          <a:lstStyle/>
          <a:p>
            <a:pPr algn="l">
              <a:lnSpc>
                <a:spcPct val="140000"/>
              </a:lnSpc>
              <a:spcBef>
                <a:spcPts val="0"/>
              </a:spcBef>
              <a:spcAft>
                <a:spcPts val="0"/>
              </a:spcAft>
            </a:pPr>
            <a:r>
              <a:rPr sz="1200" b="0" i="0">
                <a:solidFill>
                  <a:srgbClr val="5B6B7E"/>
                </a:solidFill>
                <a:latin typeface="Inter"/>
              </a:rPr>
              <a:t>construit à chaque changement, peu utilisé sur un appareil réel</a:t>
            </a:r>
          </a:p>
        </p:txBody>
      </p:sp>
      <p:sp>
        <p:nvSpPr>
          <p:cNvPr id="20" name="Rounded Rectangle 19"/>
          <p:cNvSpPr/>
          <p:nvPr/>
        </p:nvSpPr>
        <p:spPr>
          <a:xfrm>
            <a:off x="868680" y="5440680"/>
            <a:ext cx="10454335" cy="731520"/>
          </a:xfrm>
          <a:prstGeom prst="roundRect">
            <a:avLst>
              <a:gd name="adj" fmla="val 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68680" y="5577840"/>
            <a:ext cx="2090867" cy="310896"/>
          </a:xfrm>
          <a:prstGeom prst="rect">
            <a:avLst/>
          </a:prstGeom>
          <a:noFill/>
        </p:spPr>
        <p:txBody>
          <a:bodyPr wrap="square" anchor="t" lIns="0" rIns="0" tIns="0" bIns="0">
            <a:spAutoFit/>
          </a:bodyPr>
          <a:lstStyle/>
          <a:p>
            <a:pPr algn="ctr">
              <a:lnSpc>
                <a:spcPct val="125000"/>
              </a:lnSpc>
              <a:spcBef>
                <a:spcPts val="0"/>
              </a:spcBef>
              <a:spcAft>
                <a:spcPts val="0"/>
              </a:spcAft>
            </a:pPr>
            <a:r>
              <a:rPr sz="2100" b="1" i="0">
                <a:solidFill>
                  <a:srgbClr val="FFFFFF"/>
                </a:solidFill>
                <a:latin typeface="Fraunces"/>
              </a:rPr>
              <a:t>242</a:t>
            </a:r>
          </a:p>
        </p:txBody>
      </p:sp>
      <p:sp>
        <p:nvSpPr>
          <p:cNvPr id="22" name="TextBox 21"/>
          <p:cNvSpPr txBox="1"/>
          <p:nvPr/>
        </p:nvSpPr>
        <p:spPr>
          <a:xfrm>
            <a:off x="868680" y="5907024"/>
            <a:ext cx="2090867" cy="237744"/>
          </a:xfrm>
          <a:prstGeom prst="rect">
            <a:avLst/>
          </a:prstGeom>
          <a:noFill/>
        </p:spPr>
        <p:txBody>
          <a:bodyPr wrap="square" anchor="t" lIns="0" rIns="0" tIns="0" bIns="0">
            <a:spAutoFit/>
          </a:bodyPr>
          <a:lstStyle/>
          <a:p>
            <a:pPr algn="ctr">
              <a:lnSpc>
                <a:spcPct val="125000"/>
              </a:lnSpc>
              <a:spcBef>
                <a:spcPts val="0"/>
              </a:spcBef>
              <a:spcAft>
                <a:spcPts val="0"/>
              </a:spcAft>
            </a:pPr>
            <a:r>
              <a:rPr sz="1000" b="0" i="0">
                <a:solidFill>
                  <a:srgbClr val="8DA0B5"/>
                </a:solidFill>
                <a:latin typeface="Inter"/>
              </a:rPr>
              <a:t>commits</a:t>
            </a:r>
          </a:p>
        </p:txBody>
      </p:sp>
      <p:sp>
        <p:nvSpPr>
          <p:cNvPr id="23" name="TextBox 22"/>
          <p:cNvSpPr txBox="1"/>
          <p:nvPr/>
        </p:nvSpPr>
        <p:spPr>
          <a:xfrm>
            <a:off x="2959547" y="5577840"/>
            <a:ext cx="2090867" cy="310896"/>
          </a:xfrm>
          <a:prstGeom prst="rect">
            <a:avLst/>
          </a:prstGeom>
          <a:noFill/>
        </p:spPr>
        <p:txBody>
          <a:bodyPr wrap="square" anchor="t" lIns="0" rIns="0" tIns="0" bIns="0">
            <a:spAutoFit/>
          </a:bodyPr>
          <a:lstStyle/>
          <a:p>
            <a:pPr algn="ctr">
              <a:lnSpc>
                <a:spcPct val="125000"/>
              </a:lnSpc>
              <a:spcBef>
                <a:spcPts val="0"/>
              </a:spcBef>
              <a:spcAft>
                <a:spcPts val="0"/>
              </a:spcAft>
            </a:pPr>
            <a:r>
              <a:rPr sz="2100" b="1" i="0">
                <a:solidFill>
                  <a:srgbClr val="FFFFFF"/>
                </a:solidFill>
                <a:latin typeface="Fraunces"/>
              </a:rPr>
              <a:t>52</a:t>
            </a:r>
          </a:p>
        </p:txBody>
      </p:sp>
      <p:sp>
        <p:nvSpPr>
          <p:cNvPr id="24" name="TextBox 23"/>
          <p:cNvSpPr txBox="1"/>
          <p:nvPr/>
        </p:nvSpPr>
        <p:spPr>
          <a:xfrm>
            <a:off x="2959547" y="5907024"/>
            <a:ext cx="2090867" cy="237744"/>
          </a:xfrm>
          <a:prstGeom prst="rect">
            <a:avLst/>
          </a:prstGeom>
          <a:noFill/>
        </p:spPr>
        <p:txBody>
          <a:bodyPr wrap="square" anchor="t" lIns="0" rIns="0" tIns="0" bIns="0">
            <a:spAutoFit/>
          </a:bodyPr>
          <a:lstStyle/>
          <a:p>
            <a:pPr algn="ctr">
              <a:lnSpc>
                <a:spcPct val="125000"/>
              </a:lnSpc>
              <a:spcBef>
                <a:spcPts val="0"/>
              </a:spcBef>
              <a:spcAft>
                <a:spcPts val="0"/>
              </a:spcAft>
            </a:pPr>
            <a:r>
              <a:rPr sz="1000" b="0" i="0">
                <a:solidFill>
                  <a:srgbClr val="8DA0B5"/>
                </a:solidFill>
                <a:latin typeface="Inter"/>
              </a:rPr>
              <a:t>pull requests</a:t>
            </a:r>
          </a:p>
        </p:txBody>
      </p:sp>
      <p:sp>
        <p:nvSpPr>
          <p:cNvPr id="25" name="TextBox 24"/>
          <p:cNvSpPr txBox="1"/>
          <p:nvPr/>
        </p:nvSpPr>
        <p:spPr>
          <a:xfrm>
            <a:off x="5050414" y="5577840"/>
            <a:ext cx="2090867" cy="310896"/>
          </a:xfrm>
          <a:prstGeom prst="rect">
            <a:avLst/>
          </a:prstGeom>
          <a:noFill/>
        </p:spPr>
        <p:txBody>
          <a:bodyPr wrap="square" anchor="t" lIns="0" rIns="0" tIns="0" bIns="0">
            <a:spAutoFit/>
          </a:bodyPr>
          <a:lstStyle/>
          <a:p>
            <a:pPr algn="ctr">
              <a:lnSpc>
                <a:spcPct val="125000"/>
              </a:lnSpc>
              <a:spcBef>
                <a:spcPts val="0"/>
              </a:spcBef>
              <a:spcAft>
                <a:spcPts val="0"/>
              </a:spcAft>
            </a:pPr>
            <a:r>
              <a:rPr sz="2100" b="1" i="0">
                <a:solidFill>
                  <a:srgbClr val="FFFFFF"/>
                </a:solidFill>
                <a:latin typeface="Fraunces"/>
              </a:rPr>
              <a:t>35</a:t>
            </a:r>
          </a:p>
        </p:txBody>
      </p:sp>
      <p:sp>
        <p:nvSpPr>
          <p:cNvPr id="26" name="TextBox 25"/>
          <p:cNvSpPr txBox="1"/>
          <p:nvPr/>
        </p:nvSpPr>
        <p:spPr>
          <a:xfrm>
            <a:off x="5050414" y="5907024"/>
            <a:ext cx="2090867" cy="237744"/>
          </a:xfrm>
          <a:prstGeom prst="rect">
            <a:avLst/>
          </a:prstGeom>
          <a:noFill/>
        </p:spPr>
        <p:txBody>
          <a:bodyPr wrap="square" anchor="t" lIns="0" rIns="0" tIns="0" bIns="0">
            <a:spAutoFit/>
          </a:bodyPr>
          <a:lstStyle/>
          <a:p>
            <a:pPr algn="ctr">
              <a:lnSpc>
                <a:spcPct val="125000"/>
              </a:lnSpc>
              <a:spcBef>
                <a:spcPts val="0"/>
              </a:spcBef>
              <a:spcAft>
                <a:spcPts val="0"/>
              </a:spcAft>
            </a:pPr>
            <a:r>
              <a:rPr sz="1000" b="0" i="0">
                <a:solidFill>
                  <a:srgbClr val="8DA0B5"/>
                </a:solidFill>
                <a:latin typeface="Inter"/>
              </a:rPr>
              <a:t>releases</a:t>
            </a:r>
          </a:p>
        </p:txBody>
      </p:sp>
      <p:sp>
        <p:nvSpPr>
          <p:cNvPr id="27" name="TextBox 26"/>
          <p:cNvSpPr txBox="1"/>
          <p:nvPr/>
        </p:nvSpPr>
        <p:spPr>
          <a:xfrm>
            <a:off x="7141281" y="5577840"/>
            <a:ext cx="2090867" cy="310896"/>
          </a:xfrm>
          <a:prstGeom prst="rect">
            <a:avLst/>
          </a:prstGeom>
          <a:noFill/>
        </p:spPr>
        <p:txBody>
          <a:bodyPr wrap="square" anchor="t" lIns="0" rIns="0" tIns="0" bIns="0">
            <a:spAutoFit/>
          </a:bodyPr>
          <a:lstStyle/>
          <a:p>
            <a:pPr algn="ctr">
              <a:lnSpc>
                <a:spcPct val="125000"/>
              </a:lnSpc>
              <a:spcBef>
                <a:spcPts val="0"/>
              </a:spcBef>
              <a:spcAft>
                <a:spcPts val="0"/>
              </a:spcAft>
            </a:pPr>
            <a:r>
              <a:rPr sz="2100" b="1" i="0">
                <a:solidFill>
                  <a:srgbClr val="FFFFFF"/>
                </a:solidFill>
                <a:latin typeface="Fraunces"/>
              </a:rPr>
              <a:t>19</a:t>
            </a:r>
          </a:p>
        </p:txBody>
      </p:sp>
      <p:sp>
        <p:nvSpPr>
          <p:cNvPr id="28" name="TextBox 27"/>
          <p:cNvSpPr txBox="1"/>
          <p:nvPr/>
        </p:nvSpPr>
        <p:spPr>
          <a:xfrm>
            <a:off x="7141281" y="5907024"/>
            <a:ext cx="2090867" cy="237744"/>
          </a:xfrm>
          <a:prstGeom prst="rect">
            <a:avLst/>
          </a:prstGeom>
          <a:noFill/>
        </p:spPr>
        <p:txBody>
          <a:bodyPr wrap="square" anchor="t" lIns="0" rIns="0" tIns="0" bIns="0">
            <a:spAutoFit/>
          </a:bodyPr>
          <a:lstStyle/>
          <a:p>
            <a:pPr algn="ctr">
              <a:lnSpc>
                <a:spcPct val="125000"/>
              </a:lnSpc>
              <a:spcBef>
                <a:spcPts val="0"/>
              </a:spcBef>
              <a:spcAft>
                <a:spcPts val="0"/>
              </a:spcAft>
            </a:pPr>
            <a:r>
              <a:rPr sz="1000" b="0" i="0">
                <a:solidFill>
                  <a:srgbClr val="8DA0B5"/>
                </a:solidFill>
                <a:latin typeface="Inter"/>
              </a:rPr>
              <a:t>migrations</a:t>
            </a:r>
          </a:p>
        </p:txBody>
      </p:sp>
      <p:sp>
        <p:nvSpPr>
          <p:cNvPr id="29" name="TextBox 28"/>
          <p:cNvSpPr txBox="1"/>
          <p:nvPr/>
        </p:nvSpPr>
        <p:spPr>
          <a:xfrm>
            <a:off x="9232148" y="5577840"/>
            <a:ext cx="2090867" cy="310896"/>
          </a:xfrm>
          <a:prstGeom prst="rect">
            <a:avLst/>
          </a:prstGeom>
          <a:noFill/>
        </p:spPr>
        <p:txBody>
          <a:bodyPr wrap="square" anchor="t" lIns="0" rIns="0" tIns="0" bIns="0">
            <a:spAutoFit/>
          </a:bodyPr>
          <a:lstStyle/>
          <a:p>
            <a:pPr algn="ctr">
              <a:lnSpc>
                <a:spcPct val="125000"/>
              </a:lnSpc>
              <a:spcBef>
                <a:spcPts val="0"/>
              </a:spcBef>
              <a:spcAft>
                <a:spcPts val="0"/>
              </a:spcAft>
            </a:pPr>
            <a:r>
              <a:rPr sz="2100" b="1" i="0">
                <a:solidFill>
                  <a:srgbClr val="FFFFFF"/>
                </a:solidFill>
                <a:latin typeface="Fraunces"/>
              </a:rPr>
              <a:t>6 044</a:t>
            </a:r>
          </a:p>
        </p:txBody>
      </p:sp>
      <p:sp>
        <p:nvSpPr>
          <p:cNvPr id="30" name="TextBox 29"/>
          <p:cNvSpPr txBox="1"/>
          <p:nvPr/>
        </p:nvSpPr>
        <p:spPr>
          <a:xfrm>
            <a:off x="9232148" y="5907024"/>
            <a:ext cx="2090867" cy="237744"/>
          </a:xfrm>
          <a:prstGeom prst="rect">
            <a:avLst/>
          </a:prstGeom>
          <a:noFill/>
        </p:spPr>
        <p:txBody>
          <a:bodyPr wrap="square" anchor="t" lIns="0" rIns="0" tIns="0" bIns="0">
            <a:spAutoFit/>
          </a:bodyPr>
          <a:lstStyle/>
          <a:p>
            <a:pPr algn="ctr">
              <a:lnSpc>
                <a:spcPct val="125000"/>
              </a:lnSpc>
              <a:spcBef>
                <a:spcPts val="0"/>
              </a:spcBef>
              <a:spcAft>
                <a:spcPts val="0"/>
              </a:spcAft>
            </a:pPr>
            <a:r>
              <a:rPr sz="1000" b="0" i="0">
                <a:solidFill>
                  <a:srgbClr val="8DA0B5"/>
                </a:solidFill>
                <a:latin typeface="Inter"/>
              </a:rPr>
              <a:t>lignes de Kotlin</a:t>
            </a:r>
          </a:p>
        </p:txBody>
      </p:sp>
      <p:sp>
        <p:nvSpPr>
          <p:cNvPr id="31" name="TextBox 30"/>
          <p:cNvSpPr txBox="1"/>
          <p:nvPr/>
        </p:nvSpPr>
        <p:spPr>
          <a:xfrm>
            <a:off x="10774375" y="6309360"/>
            <a:ext cx="548640" cy="237744"/>
          </a:xfrm>
          <a:prstGeom prst="rect">
            <a:avLst/>
          </a:prstGeom>
          <a:noFill/>
        </p:spPr>
        <p:txBody>
          <a:bodyPr wrap="square" anchor="t" lIns="0" rIns="0" tIns="0" bIns="0">
            <a:spAutoFit/>
          </a:bodyPr>
          <a:lstStyle/>
          <a:p>
            <a:pPr algn="r">
              <a:lnSpc>
                <a:spcPct val="125000"/>
              </a:lnSpc>
              <a:spcBef>
                <a:spcPts val="0"/>
              </a:spcBef>
              <a:spcAft>
                <a:spcPts val="0"/>
              </a:spcAft>
            </a:pPr>
            <a:r>
              <a:rPr sz="950" b="0" i="0">
                <a:solidFill>
                  <a:srgbClr val="5B6B7E"/>
                </a:solidFill>
                <a:latin typeface="Inter"/>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E6B4E"/>
        </a:solidFill>
        <a:effectLst/>
      </p:bgPr>
    </p:bg>
    <p:spTree>
      <p:nvGrpSpPr>
        <p:cNvPr id="1" name=""/>
        <p:cNvGrpSpPr/>
        <p:nvPr/>
      </p:nvGrpSpPr>
      <p:grpSpPr/>
      <p:sp>
        <p:nvSpPr>
          <p:cNvPr id="2" name="TextBox 1"/>
          <p:cNvSpPr txBox="1"/>
          <p:nvPr/>
        </p:nvSpPr>
        <p:spPr>
          <a:xfrm>
            <a:off x="868680" y="2286000"/>
            <a:ext cx="5852160" cy="320040"/>
          </a:xfrm>
          <a:prstGeom prst="rect">
            <a:avLst/>
          </a:prstGeom>
          <a:noFill/>
        </p:spPr>
        <p:txBody>
          <a:bodyPr wrap="square" anchor="t" lIns="0" rIns="0" tIns="0" bIns="0">
            <a:spAutoFit/>
          </a:bodyPr>
          <a:lstStyle/>
          <a:p>
            <a:pPr algn="l">
              <a:lnSpc>
                <a:spcPct val="125000"/>
              </a:lnSpc>
              <a:spcBef>
                <a:spcPts val="0"/>
              </a:spcBef>
              <a:spcAft>
                <a:spcPts val="0"/>
              </a:spcAft>
            </a:pPr>
            <a:r>
              <a:rPr sz="1100" b="1" i="0" spc="190">
                <a:solidFill>
                  <a:srgbClr val="8FC7AA"/>
                </a:solidFill>
                <a:latin typeface="Inter"/>
              </a:rPr>
              <a:t>DÉMONSTRATION</a:t>
            </a:r>
          </a:p>
        </p:txBody>
      </p:sp>
      <p:sp>
        <p:nvSpPr>
          <p:cNvPr id="3" name="TextBox 2"/>
          <p:cNvSpPr txBox="1"/>
          <p:nvPr/>
        </p:nvSpPr>
        <p:spPr>
          <a:xfrm>
            <a:off x="868680" y="2743200"/>
            <a:ext cx="10454335" cy="914400"/>
          </a:xfrm>
          <a:prstGeom prst="rect">
            <a:avLst/>
          </a:prstGeom>
          <a:noFill/>
        </p:spPr>
        <p:txBody>
          <a:bodyPr wrap="square" anchor="t" lIns="0" rIns="0" tIns="0" bIns="0">
            <a:spAutoFit/>
          </a:bodyPr>
          <a:lstStyle/>
          <a:p>
            <a:pPr algn="l">
              <a:lnSpc>
                <a:spcPct val="125000"/>
              </a:lnSpc>
              <a:spcBef>
                <a:spcPts val="0"/>
              </a:spcBef>
              <a:spcAft>
                <a:spcPts val="0"/>
              </a:spcAft>
            </a:pPr>
            <a:r>
              <a:rPr sz="4400" b="1" i="0">
                <a:solidFill>
                  <a:srgbClr val="FFFFFF"/>
                </a:solidFill>
                <a:latin typeface="Fraunces"/>
              </a:rPr>
              <a:t>L'application</a:t>
            </a:r>
          </a:p>
        </p:txBody>
      </p:sp>
      <p:cxnSp>
        <p:nvCxnSpPr>
          <p:cNvPr id="4" name="Connector 3"/>
          <p:cNvCxnSpPr/>
          <p:nvPr/>
        </p:nvCxnSpPr>
        <p:spPr>
          <a:xfrm>
            <a:off x="868680" y="3931920"/>
            <a:ext cx="2377440" cy="0"/>
          </a:xfrm>
          <a:prstGeom prst="line">
            <a:avLst/>
          </a:prstGeom>
          <a:ln w="19050">
            <a:solidFill>
              <a:srgbClr val="8FC7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68680" y="4206240"/>
            <a:ext cx="7132320" cy="1645920"/>
          </a:xfrm>
          <a:prstGeom prst="rect">
            <a:avLst/>
          </a:prstGeom>
          <a:noFill/>
        </p:spPr>
        <p:txBody>
          <a:bodyPr wrap="square" anchor="t" lIns="0" rIns="0" tIns="0" bIns="0">
            <a:spAutoFit/>
          </a:bodyPr>
          <a:lstStyle/>
          <a:p>
            <a:pPr algn="l">
              <a:lnSpc>
                <a:spcPct val="140000"/>
              </a:lnSpc>
              <a:spcBef>
                <a:spcPts val="0"/>
              </a:spcBef>
              <a:spcAft>
                <a:spcPts val="900"/>
              </a:spcAft>
            </a:pPr>
            <a:r>
              <a:rPr sz="1550" b="0" i="0">
                <a:solidFill>
                  <a:srgbClr val="FFFFFF"/>
                </a:solidFill>
                <a:latin typeface="Inter"/>
              </a:rPr>
              <a:t>—   Je crée une séance de badminton à Yverdon.</a:t>
            </a:r>
          </a:p>
          <a:p>
            <a:pPr algn="l">
              <a:lnSpc>
                <a:spcPct val="140000"/>
              </a:lnSpc>
              <a:spcBef>
                <a:spcPts val="0"/>
              </a:spcBef>
              <a:spcAft>
                <a:spcPts val="900"/>
              </a:spcAft>
            </a:pPr>
            <a:r>
              <a:rPr sz="1550" b="0" i="0">
                <a:solidFill>
                  <a:srgbClr val="FFFFFF"/>
                </a:solidFill>
                <a:latin typeface="Inter"/>
              </a:rPr>
              <a:t>—   Elle apparaît dans la liste et sur la carte.</a:t>
            </a:r>
          </a:p>
          <a:p>
            <a:pPr algn="l">
              <a:lnSpc>
                <a:spcPct val="140000"/>
              </a:lnSpc>
              <a:spcBef>
                <a:spcPts val="0"/>
              </a:spcBef>
              <a:spcAft>
                <a:spcPts val="900"/>
              </a:spcAft>
            </a:pPr>
            <a:r>
              <a:rPr sz="1550" b="0" i="0">
                <a:solidFill>
                  <a:srgbClr val="FFFFFF"/>
                </a:solidFill>
                <a:latin typeface="Inter"/>
              </a:rPr>
              <a:t>—   Un deuxième compte la rejoint : la place disparaît.</a:t>
            </a:r>
          </a:p>
        </p:txBody>
      </p:sp>
      <p:sp>
        <p:nvSpPr>
          <p:cNvPr id="6" name="TextBox 5"/>
          <p:cNvSpPr txBox="1"/>
          <p:nvPr/>
        </p:nvSpPr>
        <p:spPr>
          <a:xfrm>
            <a:off x="10774375" y="6309360"/>
            <a:ext cx="548640" cy="237744"/>
          </a:xfrm>
          <a:prstGeom prst="rect">
            <a:avLst/>
          </a:prstGeom>
          <a:noFill/>
        </p:spPr>
        <p:txBody>
          <a:bodyPr wrap="square" anchor="t" lIns="0" rIns="0" tIns="0" bIns="0">
            <a:spAutoFit/>
          </a:bodyPr>
          <a:lstStyle/>
          <a:p>
            <a:pPr algn="r">
              <a:lnSpc>
                <a:spcPct val="125000"/>
              </a:lnSpc>
              <a:spcBef>
                <a:spcPts val="0"/>
              </a:spcBef>
              <a:spcAft>
                <a:spcPts val="0"/>
              </a:spcAft>
            </a:pPr>
            <a:r>
              <a:rPr sz="950" b="0" i="0">
                <a:solidFill>
                  <a:srgbClr val="8DA0B5"/>
                </a:solidFill>
                <a:latin typeface="Inte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8680" y="2148840"/>
            <a:ext cx="8229600" cy="320040"/>
          </a:xfrm>
          <a:prstGeom prst="rect">
            <a:avLst/>
          </a:prstGeom>
          <a:noFill/>
        </p:spPr>
        <p:txBody>
          <a:bodyPr wrap="square" anchor="t" lIns="0" rIns="0" tIns="0" bIns="0">
            <a:spAutoFit/>
          </a:bodyPr>
          <a:lstStyle/>
          <a:p>
            <a:pPr algn="l">
              <a:lnSpc>
                <a:spcPct val="125000"/>
              </a:lnSpc>
              <a:spcBef>
                <a:spcPts val="0"/>
              </a:spcBef>
              <a:spcAft>
                <a:spcPts val="0"/>
              </a:spcAft>
            </a:pPr>
            <a:r>
              <a:rPr sz="1200" b="1" i="0" spc="220">
                <a:solidFill>
                  <a:srgbClr val="8FC7AA"/>
                </a:solidFill>
                <a:latin typeface="Inter"/>
              </a:rPr>
              <a:t>MERCI</a:t>
            </a:r>
          </a:p>
        </p:txBody>
      </p:sp>
      <p:sp>
        <p:nvSpPr>
          <p:cNvPr id="4" name="TextBox 3"/>
          <p:cNvSpPr txBox="1"/>
          <p:nvPr/>
        </p:nvSpPr>
        <p:spPr>
          <a:xfrm>
            <a:off x="868680" y="2578608"/>
            <a:ext cx="10454335" cy="914400"/>
          </a:xfrm>
          <a:prstGeom prst="rect">
            <a:avLst/>
          </a:prstGeom>
          <a:noFill/>
        </p:spPr>
        <p:txBody>
          <a:bodyPr wrap="square" anchor="t" lIns="0" rIns="0" tIns="0" bIns="0">
            <a:spAutoFit/>
          </a:bodyPr>
          <a:lstStyle/>
          <a:p>
            <a:pPr algn="l">
              <a:lnSpc>
                <a:spcPct val="125000"/>
              </a:lnSpc>
              <a:spcBef>
                <a:spcPts val="0"/>
              </a:spcBef>
              <a:spcAft>
                <a:spcPts val="0"/>
              </a:spcAft>
            </a:pPr>
            <a:r>
              <a:rPr sz="4600" b="1" i="0">
                <a:solidFill>
                  <a:srgbClr val="FFFFFF"/>
                </a:solidFill>
                <a:latin typeface="Fraunces"/>
              </a:rPr>
              <a:t>Des questions ?</a:t>
            </a:r>
          </a:p>
        </p:txBody>
      </p:sp>
      <p:cxnSp>
        <p:nvCxnSpPr>
          <p:cNvPr id="5" name="Connector 4"/>
          <p:cNvCxnSpPr/>
          <p:nvPr/>
        </p:nvCxnSpPr>
        <p:spPr>
          <a:xfrm>
            <a:off x="868680" y="3794760"/>
            <a:ext cx="2926080" cy="0"/>
          </a:xfrm>
          <a:prstGeom prst="line">
            <a:avLst/>
          </a:prstGeom>
          <a:ln w="19050">
            <a:solidFill>
              <a:srgbClr val="3E8E6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 y="4114800"/>
            <a:ext cx="5120640" cy="1371600"/>
          </a:xfrm>
          <a:prstGeom prst="rect">
            <a:avLst/>
          </a:prstGeom>
          <a:noFill/>
        </p:spPr>
        <p:txBody>
          <a:bodyPr wrap="square" anchor="t" lIns="0" rIns="0" tIns="0" bIns="0">
            <a:spAutoFit/>
          </a:bodyPr>
          <a:lstStyle/>
          <a:p>
            <a:pPr algn="l">
              <a:lnSpc>
                <a:spcPct val="125000"/>
              </a:lnSpc>
              <a:spcBef>
                <a:spcPts val="0"/>
              </a:spcBef>
              <a:spcAft>
                <a:spcPts val="700"/>
              </a:spcAft>
            </a:pPr>
            <a:r>
              <a:rPr sz="1450" b="0" i="0">
                <a:solidFill>
                  <a:srgbClr val="FFFFFF"/>
                </a:solidFill>
                <a:latin typeface="Inter"/>
              </a:rPr>
              <a:t>github.com/mircoprofico/FitMeet</a:t>
            </a:r>
          </a:p>
          <a:p>
            <a:pPr algn="l">
              <a:lnSpc>
                <a:spcPct val="125000"/>
              </a:lnSpc>
              <a:spcBef>
                <a:spcPts val="0"/>
              </a:spcBef>
              <a:spcAft>
                <a:spcPts val="700"/>
              </a:spcAft>
            </a:pPr>
            <a:r>
              <a:rPr sz="1450" b="0" i="0">
                <a:solidFill>
                  <a:srgbClr val="8FC7AA"/>
                </a:solidFill>
                <a:latin typeface="Inter"/>
              </a:rPr>
              <a:t>mircoprofico.github.io/FitMeet</a:t>
            </a:r>
          </a:p>
        </p:txBody>
      </p:sp>
      <p:sp>
        <p:nvSpPr>
          <p:cNvPr id="7" name="TextBox 6"/>
          <p:cNvSpPr txBox="1"/>
          <p:nvPr/>
        </p:nvSpPr>
        <p:spPr>
          <a:xfrm>
            <a:off x="6766560" y="4114800"/>
            <a:ext cx="4480560" cy="1463040"/>
          </a:xfrm>
          <a:prstGeom prst="rect">
            <a:avLst/>
          </a:prstGeom>
          <a:noFill/>
        </p:spPr>
        <p:txBody>
          <a:bodyPr wrap="square" anchor="t" lIns="0" rIns="0" tIns="0" bIns="0">
            <a:spAutoFit/>
          </a:bodyPr>
          <a:lstStyle/>
          <a:p>
            <a:pPr algn="l">
              <a:lnSpc>
                <a:spcPct val="125000"/>
              </a:lnSpc>
              <a:spcBef>
                <a:spcPts val="0"/>
              </a:spcBef>
              <a:spcAft>
                <a:spcPts val="600"/>
              </a:spcAft>
            </a:pPr>
            <a:r>
              <a:rPr sz="1300" b="0" i="0">
                <a:solidFill>
                  <a:srgbClr val="8DA0B5"/>
                </a:solidFill>
                <a:latin typeface="Inter"/>
              </a:rPr>
              <a:t>Mirco Profico   ·   Antoine Aubry</a:t>
            </a:r>
          </a:p>
          <a:p>
            <a:pPr algn="l">
              <a:lnSpc>
                <a:spcPct val="125000"/>
              </a:lnSpc>
              <a:spcBef>
                <a:spcPts val="0"/>
              </a:spcBef>
              <a:spcAft>
                <a:spcPts val="600"/>
              </a:spcAft>
            </a:pPr>
            <a:r>
              <a:rPr sz="1300" b="0" i="0">
                <a:solidFill>
                  <a:srgbClr val="8DA0B5"/>
                </a:solidFill>
                <a:latin typeface="Inter"/>
              </a:rPr>
              <a:t>François Bernard   ·   Pierre Gellet</a:t>
            </a:r>
          </a:p>
          <a:p>
            <a:pPr algn="l">
              <a:lnSpc>
                <a:spcPct val="125000"/>
              </a:lnSpc>
              <a:spcBef>
                <a:spcPts val="800"/>
              </a:spcBef>
              <a:spcAft>
                <a:spcPts val="0"/>
              </a:spcAft>
            </a:pPr>
            <a:r>
              <a:rPr sz="1150" b="0" i="0" spc="90">
                <a:solidFill>
                  <a:srgbClr val="8DA0B5"/>
                </a:solidFill>
                <a:latin typeface="Inter"/>
              </a:rPr>
              <a:t>HEIG-VD   ·   Projet de groupe   ·   2026</a:t>
            </a:r>
          </a:p>
        </p:txBody>
      </p:sp>
      <p:sp>
        <p:nvSpPr>
          <p:cNvPr id="8" name="TextBox 7"/>
          <p:cNvSpPr txBox="1"/>
          <p:nvPr/>
        </p:nvSpPr>
        <p:spPr>
          <a:xfrm>
            <a:off x="10774375" y="6309360"/>
            <a:ext cx="548640" cy="237744"/>
          </a:xfrm>
          <a:prstGeom prst="rect">
            <a:avLst/>
          </a:prstGeom>
          <a:noFill/>
        </p:spPr>
        <p:txBody>
          <a:bodyPr wrap="square" anchor="t" lIns="0" rIns="0" tIns="0" bIns="0">
            <a:spAutoFit/>
          </a:bodyPr>
          <a:lstStyle/>
          <a:p>
            <a:pPr algn="r">
              <a:lnSpc>
                <a:spcPct val="125000"/>
              </a:lnSpc>
              <a:spcBef>
                <a:spcPts val="0"/>
              </a:spcBef>
              <a:spcAft>
                <a:spcPts val="0"/>
              </a:spcAft>
            </a:pPr>
            <a:r>
              <a:rPr sz="950" b="0" i="0">
                <a:solidFill>
                  <a:srgbClr val="8DA0B5"/>
                </a:solidFill>
                <a:latin typeface="Inter"/>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