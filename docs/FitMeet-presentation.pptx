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FitMeet est une application mobile pour créer et rejoindre des séances de sport. Développée à quatre en trois semaines, pour Android et iOS, à partir d'un seul code source.</a:t>
            </a:r>
          </a:p>
          <a:p/>
          <a:p>
            <a:r>
              <a:t>Plan : le problème, la solution, une démonstration, puis comment nous avons travaillé, l'architecture et le pipeline.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de départ est une situation banale : du temps libre, l'envie de jouer, personne en face.</a:t>
            </a:r>
          </a:p>
          <a:p/>
          <a:p>
            <a:r>
              <a:t>Nous avons isolé trois frictions. L'information est éclatée entre des dizaines de canaux. Quatre critères doivent tomber juste en même temps, et aucun outil généraliste ne les croise. Et les clubs ont des places vides que personne ne voit.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parti pris, et ce qui nous distingue d'une application comme Smatch : l'unité de base n'est pas la personne, c'est la séance.</a:t>
            </a:r>
          </a:p>
          <a:p/>
          <a:p>
            <a:r>
              <a:t>Chez eux, deux profils compatibles sont mis en relation et il reste tout à organiser. Chez nous, la séance existe avant la rencontre. Elle a une date, un lieu, un niveau, un nombre de places. On la rejoint.</a:t>
            </a:r>
          </a:p>
          <a:p/>
          <a:p>
            <a:r>
              <a:t>Côté exigences, nous en avions écrit douze fonctionnelles et six non fonctionnelles en semaine 1. Toutes sont livrées sauf les notifications, j'y reviens à la fin.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produit tient en trois gestes. Créer une séance : un sport, une date, un point sur la carte, un niveau, des places. La découvrir en liste triée par distance ou sur la carte, les deux alimentées par les mêmes données. La rejoindre, ce qui ouvre une conversation de groupe avec les autres inscrits.</a:t>
            </a:r>
          </a:p>
          <a:p/>
          <a:p>
            <a:r>
              <a:t>Ce sont des captures réelles, prises sur l'application connectée à la base de production.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Avant d'écrire du code, nous avons maquetté cinq écrans. Ils ont servi de référence commune : chacun savait ce qu'il devait construire et à quoi cela devait ressembler une fois assemblé.</a:t>
            </a:r>
          </a:p>
          <a:p/>
          <a:p>
            <a:r>
              <a:t>À droite, la landing page. Elle n'est pas déployée à la main : elle est servie par GitHub Pages et se régénère à chaque fusion, par le même pipeline que l'application.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bascule sur l'application.</a:t>
            </a:r>
          </a:p>
          <a:p/>
          <a:p>
            <a:r>
              <a:t>Scénario : je crée une séance de badminton à Yverdon, elle apparaît dans la liste et sur la carte, puis un deuxième compte la rejoint et la place disparaît.</a:t>
            </a:r>
          </a:p>
          <a:p/>
          <a:p>
            <a:r>
              <a:t>Repli prévu si le réseau lâche : les captures de la diapositive précédente.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Chacun a pris un domaine, et surtout un écran de l'application. C'est ce qui nous a évité les conflits : deux personnes ne travaillaient jamais dans le même fichier. Il y a toujours deux personnes par issue, une qui la porte et une qui relit.</a:t>
            </a:r>
          </a:p>
          <a:p/>
          <a:p>
            <a:r>
              <a:t>Côté code, GitHub Flow sans exception. Une branche par issue, créée depuis GitHub pour que l'issue se ferme automatiquement. Deux branches protégées sur lesquelles personne ne peut pousser directement, y compris le propriétaire du dépôt. Cinquante-deux pull requests, toutes relues.</a:t>
            </a:r>
          </a:p>
          <a:p/>
          <a:p>
            <a:r>
              <a:t>Notre définition de « terminé » : cases de l'issue cochées, build local vert, pull request approuvée, contrôles Android et iOS verts, branche fusionnée.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L'architecture tient en trois couches : deux points d'entrée natifs, le module partagé qui représente l'essentiel du code, et Supabase.</a:t>
            </a:r>
          </a:p>
          <a:p/>
          <a:p>
            <a:r>
              <a:t>La particularité de Compose Multiplatform, c'est que l'interface elle-même est partagée. Il ne reste réellement spécifique que le rendu de la carte et l'accès à la position.</a:t>
            </a:r>
          </a:p>
          <a:p/>
          <a:p>
            <a:r>
              <a:t>À droite, les six choix techniques et leur justification. Nous avions une liberté totale, donc chaque choix devait répondre à une contrainte : les deux plateformes en trois semaines, aucun serveur à administrer, et la recherche par distance traitée comme une requête de base de données plutôt qu'une boucle dans l'application.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exemple de ce que nous entendons par code organisé.</a:t>
            </a:r>
          </a:p>
          <a:p/>
          <a:p>
            <a:r>
              <a:t>Deux personnes appuient sur « Rejoindre » en même temps, il reste une place. Si la vérification est faite dans l'application, les deux téléphones lisent « il reste 1 » avant que l'un des deux n'écrive : les deux passent, et la séance est en surréservation.</a:t>
            </a:r>
          </a:p>
          <a:p/>
          <a:p>
            <a:r>
              <a:t>La règle vit donc dans la base : on verrouille la ligne de l'événement et on compte les participants dans la même transaction. La deuxième demande est refusée.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chaque pull request, deux machines démarrent en parallèle : une Linux qui lance le lint, les tests partagés et construit l'APK, et une macOS qui compile le framework iOS. Les deux contrôles sont exigés par une règle du dépôt : si l'un est rouge, le bouton « Merge » n'est pas disponible.</a:t>
            </a:r>
          </a:p>
          <a:p/>
          <a:p>
            <a:r>
              <a:t>Après une fusion sur main, une release est publiée avec l'APK, exactement celui qui a été testé. Trente-cinq releases à ce jour.</a:t>
            </a:r>
          </a:p>
          <a:p/>
          <a:p>
            <a:r>
              <a:t>En bas, la démonstration demandée : déployer une modification en six étapes reproductibles. Le développeur s'arrête à l'étape cinq, la release part seule. Ces instructions sont dans le README, avec celles pour lancer le projet en local et pour contribuer de l'extérieur.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 les tests, nous préférons être précis. Huit tests unitaires partagés, sur la logique qui se casse sans se voir : les filtres et le tri par distance. Un exemple réel : le tri remontait les activités sans coordonnées comme si elles étaient les plus proches. C'est un test qui l'a détecté.</a:t>
            </a:r>
          </a:p>
          <a:p/>
          <a:p>
            <a:r>
              <a:t>À droite, ce que nous n'avons pas fait : les notifications, une couverture de tests mince, et un iOS compilé à chaque changement mais peu utilisé sur un appareil réel. Nous avons préféré terminer un petit nombre de fonctionnalités plutôt que d'en livrer davantage à moitié.</a:t>
            </a:r>
          </a:p>
          <a:p/>
          <a:p>
            <a:r>
              <a:t>En bas, l'effort sur trois semaines.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nous prenons vos questions.</a:t>
            </a:r>
          </a:p>
          <a:p/>
          <a:p>
            <a:r>
              <a:t>Questions probables : pourquoi Kotlin Multiplatform plutôt que React Native ou Flutter — rendu natif et l'équipe connaissait déjà Kotlin. Pourquoi si peu de tests — arbitrage expliqué à la diapositive précédente. Comment la concurrence sur la dernière place est gérée — la fonction join_event.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Rectangle 1"/>
          <p:cNvSpPr/>
          <p:nvPr/>
        </p:nvSpPr>
        <p:spPr>
          <a:xfrm>
            <a:off x="0" y="6729984"/>
            <a:ext cx="12191695" cy="128016"/>
          </a:xfrm>
          <a:prstGeom prst="rect">
            <a:avLst/>
          </a:prstGeom>
          <a:solidFill>
            <a:srgbClr val="3E8E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 name="Picture 2" descr="logo.png"/>
          <p:cNvPicPr>
            <a:picLocks noChangeAspect="1"/>
          </p:cNvPicPr>
          <p:nvPr/>
        </p:nvPicPr>
        <p:blipFill>
          <a:blip r:embed="rId2"/>
          <a:stretch>
            <a:fillRect/>
          </a:stretch>
        </p:blipFill>
        <p:spPr>
          <a:xfrm>
            <a:off x="868680" y="1554480"/>
            <a:ext cx="3063240" cy="1096236"/>
          </a:xfrm>
          <a:prstGeom prst="rect">
            <a:avLst/>
          </a:prstGeom>
        </p:spPr>
      </p:pic>
      <p:sp>
        <p:nvSpPr>
          <p:cNvPr id="4" name="TextBox 3"/>
          <p:cNvSpPr txBox="1"/>
          <p:nvPr/>
        </p:nvSpPr>
        <p:spPr>
          <a:xfrm>
            <a:off x="868680" y="3063240"/>
            <a:ext cx="10454335" cy="914400"/>
          </a:xfrm>
          <a:prstGeom prst="rect">
            <a:avLst/>
          </a:prstGeom>
          <a:noFill/>
        </p:spPr>
        <p:txBody>
          <a:bodyPr wrap="square" anchor="t" lIns="0" rIns="0" tIns="0" bIns="0">
            <a:spAutoFit/>
          </a:bodyPr>
          <a:lstStyle/>
          <a:p>
            <a:pPr algn="l">
              <a:lnSpc>
                <a:spcPct val="115000"/>
              </a:lnSpc>
              <a:spcBef>
                <a:spcPts val="0"/>
              </a:spcBef>
              <a:spcAft>
                <a:spcPts val="0"/>
              </a:spcAft>
            </a:pPr>
            <a:r>
              <a:rPr sz="4000" b="1" i="0">
                <a:solidFill>
                  <a:srgbClr val="FFFFFF"/>
                </a:solidFill>
                <a:latin typeface="Fraunces"/>
              </a:rPr>
              <a:t>Créer et rejoindre des séances de sport</a:t>
            </a:r>
          </a:p>
        </p:txBody>
      </p:sp>
      <p:sp>
        <p:nvSpPr>
          <p:cNvPr id="5" name="TextBox 4"/>
          <p:cNvSpPr txBox="1"/>
          <p:nvPr/>
        </p:nvSpPr>
        <p:spPr>
          <a:xfrm>
            <a:off x="868680" y="3977639"/>
            <a:ext cx="6949440" cy="548640"/>
          </a:xfrm>
          <a:prstGeom prst="rect">
            <a:avLst/>
          </a:prstGeom>
          <a:noFill/>
        </p:spPr>
        <p:txBody>
          <a:bodyPr wrap="square" anchor="t" lIns="0" rIns="0" tIns="0" bIns="0">
            <a:spAutoFit/>
          </a:bodyPr>
          <a:lstStyle/>
          <a:p>
            <a:pPr algn="l">
              <a:lnSpc>
                <a:spcPct val="150000"/>
              </a:lnSpc>
              <a:spcBef>
                <a:spcPts val="0"/>
              </a:spcBef>
              <a:spcAft>
                <a:spcPts val="0"/>
              </a:spcAft>
            </a:pPr>
            <a:r>
              <a:rPr sz="1600" b="0" i="0">
                <a:solidFill>
                  <a:srgbClr val="8DA0B5"/>
                </a:solidFill>
                <a:latin typeface="Inter"/>
              </a:rPr>
              <a:t>Application mobile Android et iOS, un seul code source.</a:t>
            </a:r>
          </a:p>
        </p:txBody>
      </p:sp>
      <p:cxnSp>
        <p:nvCxnSpPr>
          <p:cNvPr id="6" name="Connector 5"/>
          <p:cNvCxnSpPr/>
          <p:nvPr/>
        </p:nvCxnSpPr>
        <p:spPr>
          <a:xfrm>
            <a:off x="868680" y="4892040"/>
            <a:ext cx="2926080" cy="0"/>
          </a:xfrm>
          <a:prstGeom prst="line">
            <a:avLst/>
          </a:prstGeom>
          <a:ln w="19050">
            <a:solidFill>
              <a:srgbClr val="3E8E6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68680" y="5120640"/>
            <a:ext cx="10058400" cy="822960"/>
          </a:xfrm>
          <a:prstGeom prst="rect">
            <a:avLst/>
          </a:prstGeom>
          <a:noFill/>
        </p:spPr>
        <p:txBody>
          <a:bodyPr wrap="square" anchor="t" lIns="0" rIns="0" tIns="0" bIns="0">
            <a:spAutoFit/>
          </a:bodyPr>
          <a:lstStyle/>
          <a:p>
            <a:pPr algn="l">
              <a:lnSpc>
                <a:spcPct val="125000"/>
              </a:lnSpc>
              <a:spcBef>
                <a:spcPts val="0"/>
              </a:spcBef>
              <a:spcAft>
                <a:spcPts val="0"/>
              </a:spcAft>
            </a:pPr>
            <a:r>
              <a:rPr sz="1350" b="0" i="0">
                <a:solidFill>
                  <a:srgbClr val="FFFFFF"/>
                </a:solidFill>
                <a:latin typeface="Inter"/>
              </a:rPr>
              <a:t>Mirco Profico   ·   Antoine Aubry   ·   François Bernard   ·   Pierre Gellet</a:t>
            </a:r>
          </a:p>
          <a:p>
            <a:pPr algn="l">
              <a:lnSpc>
                <a:spcPct val="125000"/>
              </a:lnSpc>
              <a:spcBef>
                <a:spcPts val="700"/>
              </a:spcBef>
              <a:spcAft>
                <a:spcPts val="0"/>
              </a:spcAft>
            </a:pPr>
            <a:r>
              <a:rPr sz="1150" b="0" i="0" spc="90">
                <a:solidFill>
                  <a:srgbClr val="8DA0B5"/>
                </a:solidFill>
                <a:latin typeface="Inter"/>
              </a:rPr>
              <a:t>Projet de groupe   ·   HEIG-VD   ·   4 septembre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3E8E68"/>
                </a:solidFill>
                <a:latin typeface="Inter"/>
              </a:rPr>
              <a:t>LA PROBLÉMATIQUE</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000" b="1" i="0">
                <a:solidFill>
                  <a:srgbClr val="16233A"/>
                </a:solidFill>
                <a:latin typeface="Fraunces"/>
              </a:rPr>
              <a:t>Jeudi, 18 h. Deux heures de libre,
l'envie de jouer au badminton.</a:t>
            </a:r>
          </a:p>
        </p:txBody>
      </p:sp>
      <p:sp>
        <p:nvSpPr>
          <p:cNvPr id="4" name="TextBox 3"/>
          <p:cNvSpPr txBox="1"/>
          <p:nvPr/>
        </p:nvSpPr>
        <p:spPr>
          <a:xfrm>
            <a:off x="868680" y="2240280"/>
            <a:ext cx="8961120" cy="457200"/>
          </a:xfrm>
          <a:prstGeom prst="rect">
            <a:avLst/>
          </a:prstGeom>
          <a:noFill/>
        </p:spPr>
        <p:txBody>
          <a:bodyPr wrap="square" anchor="t" lIns="0" rIns="0" tIns="0" bIns="0">
            <a:spAutoFit/>
          </a:bodyPr>
          <a:lstStyle/>
          <a:p>
            <a:pPr algn="l">
              <a:lnSpc>
                <a:spcPct val="150000"/>
              </a:lnSpc>
              <a:spcBef>
                <a:spcPts val="0"/>
              </a:spcBef>
              <a:spcAft>
                <a:spcPts val="0"/>
              </a:spcAft>
            </a:pPr>
            <a:r>
              <a:rPr sz="1450" b="0" i="0">
                <a:solidFill>
                  <a:srgbClr val="5B6B7E"/>
                </a:solidFill>
                <a:latin typeface="Inter"/>
              </a:rPr>
              <a:t>Trouver un partenaire au bon niveau, au bon endroit et au bon moment demande plus d'organisation que la séance elle-même.</a:t>
            </a:r>
          </a:p>
        </p:txBody>
      </p:sp>
      <p:sp>
        <p:nvSpPr>
          <p:cNvPr id="5" name="Rounded Rectangle 4"/>
          <p:cNvSpPr/>
          <p:nvPr/>
        </p:nvSpPr>
        <p:spPr>
          <a:xfrm>
            <a:off x="868680" y="3108960"/>
            <a:ext cx="3301898" cy="2606040"/>
          </a:xfrm>
          <a:prstGeom prst="roundRect">
            <a:avLst>
              <a:gd name="adj" fmla="val 55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79576" y="3401568"/>
            <a:ext cx="2680106" cy="228600"/>
          </a:xfrm>
          <a:prstGeom prst="rect">
            <a:avLst/>
          </a:prstGeom>
          <a:noFill/>
        </p:spPr>
        <p:txBody>
          <a:bodyPr wrap="square" anchor="t" lIns="0" rIns="0" tIns="0" bIns="0">
            <a:spAutoFit/>
          </a:bodyPr>
          <a:lstStyle/>
          <a:p>
            <a:pPr algn="l">
              <a:lnSpc>
                <a:spcPct val="125000"/>
              </a:lnSpc>
              <a:spcBef>
                <a:spcPts val="0"/>
              </a:spcBef>
              <a:spcAft>
                <a:spcPts val="0"/>
              </a:spcAft>
            </a:pPr>
            <a:r>
              <a:rPr sz="1000" b="1" i="0" spc="160">
                <a:solidFill>
                  <a:srgbClr val="3E8E68"/>
                </a:solidFill>
                <a:latin typeface="Inter"/>
              </a:rPr>
              <a:t>01</a:t>
            </a:r>
          </a:p>
        </p:txBody>
      </p:sp>
      <p:sp>
        <p:nvSpPr>
          <p:cNvPr id="7" name="TextBox 6"/>
          <p:cNvSpPr txBox="1"/>
          <p:nvPr/>
        </p:nvSpPr>
        <p:spPr>
          <a:xfrm>
            <a:off x="1179576" y="3749039"/>
            <a:ext cx="2680106" cy="45720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16233A"/>
                </a:solidFill>
                <a:latin typeface="Fraunces"/>
              </a:rPr>
              <a:t>Communautés éclatées</a:t>
            </a:r>
          </a:p>
        </p:txBody>
      </p:sp>
      <p:sp>
        <p:nvSpPr>
          <p:cNvPr id="8" name="TextBox 7"/>
          <p:cNvSpPr txBox="1"/>
          <p:nvPr/>
        </p:nvSpPr>
        <p:spPr>
          <a:xfrm>
            <a:off x="1179576" y="4370832"/>
            <a:ext cx="2680106" cy="1005840"/>
          </a:xfrm>
          <a:prstGeom prst="rect">
            <a:avLst/>
          </a:prstGeom>
          <a:noFill/>
        </p:spPr>
        <p:txBody>
          <a:bodyPr wrap="square" anchor="t" lIns="0" rIns="0" tIns="0" bIns="0">
            <a:spAutoFit/>
          </a:bodyPr>
          <a:lstStyle/>
          <a:p>
            <a:pPr algn="l">
              <a:lnSpc>
                <a:spcPct val="150000"/>
              </a:lnSpc>
              <a:spcBef>
                <a:spcPts val="0"/>
              </a:spcBef>
              <a:spcAft>
                <a:spcPts val="0"/>
              </a:spcAft>
            </a:pPr>
            <a:r>
              <a:rPr sz="1250" b="0" i="0">
                <a:solidFill>
                  <a:srgbClr val="5B6B7E"/>
                </a:solidFill>
                <a:latin typeface="Inter"/>
              </a:rPr>
              <a:t>Un groupe WhatsApp par club, un fil par quartier. L'information n'est rassemblée nulle part.</a:t>
            </a:r>
          </a:p>
        </p:txBody>
      </p:sp>
      <p:sp>
        <p:nvSpPr>
          <p:cNvPr id="9" name="Rounded Rectangle 8"/>
          <p:cNvSpPr/>
          <p:nvPr/>
        </p:nvSpPr>
        <p:spPr>
          <a:xfrm>
            <a:off x="4444898" y="3108960"/>
            <a:ext cx="3301898" cy="2606040"/>
          </a:xfrm>
          <a:prstGeom prst="roundRect">
            <a:avLst>
              <a:gd name="adj" fmla="val 55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755794" y="3401568"/>
            <a:ext cx="2680106" cy="228600"/>
          </a:xfrm>
          <a:prstGeom prst="rect">
            <a:avLst/>
          </a:prstGeom>
          <a:noFill/>
        </p:spPr>
        <p:txBody>
          <a:bodyPr wrap="square" anchor="t" lIns="0" rIns="0" tIns="0" bIns="0">
            <a:spAutoFit/>
          </a:bodyPr>
          <a:lstStyle/>
          <a:p>
            <a:pPr algn="l">
              <a:lnSpc>
                <a:spcPct val="125000"/>
              </a:lnSpc>
              <a:spcBef>
                <a:spcPts val="0"/>
              </a:spcBef>
              <a:spcAft>
                <a:spcPts val="0"/>
              </a:spcAft>
            </a:pPr>
            <a:r>
              <a:rPr sz="1000" b="1" i="0" spc="160">
                <a:solidFill>
                  <a:srgbClr val="3E8E68"/>
                </a:solidFill>
                <a:latin typeface="Inter"/>
              </a:rPr>
              <a:t>02</a:t>
            </a:r>
          </a:p>
        </p:txBody>
      </p:sp>
      <p:sp>
        <p:nvSpPr>
          <p:cNvPr id="11" name="TextBox 10"/>
          <p:cNvSpPr txBox="1"/>
          <p:nvPr/>
        </p:nvSpPr>
        <p:spPr>
          <a:xfrm>
            <a:off x="4755794" y="3749039"/>
            <a:ext cx="2680106" cy="45720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16233A"/>
                </a:solidFill>
                <a:latin typeface="Fraunces"/>
              </a:rPr>
              <a:t>Critères difficiles à croiser</a:t>
            </a:r>
          </a:p>
        </p:txBody>
      </p:sp>
      <p:sp>
        <p:nvSpPr>
          <p:cNvPr id="12" name="TextBox 11"/>
          <p:cNvSpPr txBox="1"/>
          <p:nvPr/>
        </p:nvSpPr>
        <p:spPr>
          <a:xfrm>
            <a:off x="4755794" y="4370832"/>
            <a:ext cx="2680106" cy="1005840"/>
          </a:xfrm>
          <a:prstGeom prst="rect">
            <a:avLst/>
          </a:prstGeom>
          <a:noFill/>
        </p:spPr>
        <p:txBody>
          <a:bodyPr wrap="square" anchor="t" lIns="0" rIns="0" tIns="0" bIns="0">
            <a:spAutoFit/>
          </a:bodyPr>
          <a:lstStyle/>
          <a:p>
            <a:pPr algn="l">
              <a:lnSpc>
                <a:spcPct val="150000"/>
              </a:lnSpc>
              <a:spcBef>
                <a:spcPts val="0"/>
              </a:spcBef>
              <a:spcAft>
                <a:spcPts val="0"/>
              </a:spcAft>
            </a:pPr>
            <a:r>
              <a:rPr sz="1250" b="0" i="0">
                <a:solidFill>
                  <a:srgbClr val="5B6B7E"/>
                </a:solidFill>
                <a:latin typeface="Inter"/>
              </a:rPr>
              <a:t>Sport, niveau, lieu et disponibilité à la fois : aucun outil généraliste ne croise ces critères.</a:t>
            </a:r>
          </a:p>
        </p:txBody>
      </p:sp>
      <p:sp>
        <p:nvSpPr>
          <p:cNvPr id="13" name="Rounded Rectangle 12"/>
          <p:cNvSpPr/>
          <p:nvPr/>
        </p:nvSpPr>
        <p:spPr>
          <a:xfrm>
            <a:off x="8021116" y="3108960"/>
            <a:ext cx="3301898" cy="2606040"/>
          </a:xfrm>
          <a:prstGeom prst="roundRect">
            <a:avLst>
              <a:gd name="adj" fmla="val 55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332012" y="3401568"/>
            <a:ext cx="2680106" cy="228600"/>
          </a:xfrm>
          <a:prstGeom prst="rect">
            <a:avLst/>
          </a:prstGeom>
          <a:noFill/>
        </p:spPr>
        <p:txBody>
          <a:bodyPr wrap="square" anchor="t" lIns="0" rIns="0" tIns="0" bIns="0">
            <a:spAutoFit/>
          </a:bodyPr>
          <a:lstStyle/>
          <a:p>
            <a:pPr algn="l">
              <a:lnSpc>
                <a:spcPct val="125000"/>
              </a:lnSpc>
              <a:spcBef>
                <a:spcPts val="0"/>
              </a:spcBef>
              <a:spcAft>
                <a:spcPts val="0"/>
              </a:spcAft>
            </a:pPr>
            <a:r>
              <a:rPr sz="1000" b="1" i="0" spc="160">
                <a:solidFill>
                  <a:srgbClr val="3E8E68"/>
                </a:solidFill>
                <a:latin typeface="Inter"/>
              </a:rPr>
              <a:t>03</a:t>
            </a:r>
          </a:p>
        </p:txBody>
      </p:sp>
      <p:sp>
        <p:nvSpPr>
          <p:cNvPr id="15" name="TextBox 14"/>
          <p:cNvSpPr txBox="1"/>
          <p:nvPr/>
        </p:nvSpPr>
        <p:spPr>
          <a:xfrm>
            <a:off x="8332012" y="3749039"/>
            <a:ext cx="2680106" cy="45720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16233A"/>
                </a:solidFill>
                <a:latin typeface="Fraunces"/>
              </a:rPr>
              <a:t>Peu de visibilité locale</a:t>
            </a:r>
          </a:p>
        </p:txBody>
      </p:sp>
      <p:sp>
        <p:nvSpPr>
          <p:cNvPr id="16" name="TextBox 15"/>
          <p:cNvSpPr txBox="1"/>
          <p:nvPr/>
        </p:nvSpPr>
        <p:spPr>
          <a:xfrm>
            <a:off x="8332012" y="4370832"/>
            <a:ext cx="2680106" cy="1005840"/>
          </a:xfrm>
          <a:prstGeom prst="rect">
            <a:avLst/>
          </a:prstGeom>
          <a:noFill/>
        </p:spPr>
        <p:txBody>
          <a:bodyPr wrap="square" anchor="t" lIns="0" rIns="0" tIns="0" bIns="0">
            <a:spAutoFit/>
          </a:bodyPr>
          <a:lstStyle/>
          <a:p>
            <a:pPr algn="l">
              <a:lnSpc>
                <a:spcPct val="150000"/>
              </a:lnSpc>
              <a:spcBef>
                <a:spcPts val="0"/>
              </a:spcBef>
              <a:spcAft>
                <a:spcPts val="0"/>
              </a:spcAft>
            </a:pPr>
            <a:r>
              <a:rPr sz="1250" b="0" i="0">
                <a:solidFill>
                  <a:srgbClr val="5B6B7E"/>
                </a:solidFill>
                <a:latin typeface="Inter"/>
              </a:rPr>
              <a:t>Les clubs ont des créneaux ouverts, mais seuls leurs membres habituels les voient.</a:t>
            </a:r>
          </a:p>
        </p:txBody>
      </p:sp>
      <p:sp>
        <p:nvSpPr>
          <p:cNvPr id="17" name="TextBox 16"/>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5B6B7E"/>
                </a:solidFill>
                <a:latin typeface="Inte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8FC7AA"/>
                </a:solidFill>
                <a:latin typeface="Inter"/>
              </a:rPr>
              <a:t>LA SOLUTION</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000" b="1" i="0">
                <a:solidFill>
                  <a:srgbClr val="FFFFFF"/>
                </a:solidFill>
                <a:latin typeface="Fraunces"/>
              </a:rPr>
              <a:t>Nous ne mettons pas en relation des personnes,
mais des séances.</a:t>
            </a:r>
          </a:p>
        </p:txBody>
      </p:sp>
      <p:sp>
        <p:nvSpPr>
          <p:cNvPr id="4" name="Rounded Rectangle 3"/>
          <p:cNvSpPr/>
          <p:nvPr/>
        </p:nvSpPr>
        <p:spPr>
          <a:xfrm>
            <a:off x="868680" y="2926080"/>
            <a:ext cx="5044287" cy="2286000"/>
          </a:xfrm>
          <a:prstGeom prst="roundRect">
            <a:avLst>
              <a:gd name="adj" fmla="val 5000"/>
            </a:avLst>
          </a:prstGeom>
          <a:solidFill>
            <a:srgbClr val="13345E"/>
          </a:solidFill>
          <a:ln w="12700">
            <a:solidFill>
              <a:srgbClr val="1C427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52728" y="3236976"/>
            <a:ext cx="4276191" cy="274320"/>
          </a:xfrm>
          <a:prstGeom prst="rect">
            <a:avLst/>
          </a:prstGeom>
          <a:noFill/>
        </p:spPr>
        <p:txBody>
          <a:bodyPr wrap="square" anchor="t" lIns="0" rIns="0" tIns="0" bIns="0">
            <a:spAutoFit/>
          </a:bodyPr>
          <a:lstStyle/>
          <a:p>
            <a:pPr algn="l">
              <a:lnSpc>
                <a:spcPct val="125000"/>
              </a:lnSpc>
              <a:spcBef>
                <a:spcPts val="0"/>
              </a:spcBef>
              <a:spcAft>
                <a:spcPts val="0"/>
              </a:spcAft>
            </a:pPr>
            <a:r>
              <a:rPr sz="1000" b="1" i="0" spc="150">
                <a:solidFill>
                  <a:srgbClr val="8DA0B5"/>
                </a:solidFill>
                <a:latin typeface="Inter"/>
              </a:rPr>
              <a:t>LES APPLICATIONS EXISTANTES</a:t>
            </a:r>
          </a:p>
        </p:txBody>
      </p:sp>
      <p:sp>
        <p:nvSpPr>
          <p:cNvPr id="6" name="TextBox 5"/>
          <p:cNvSpPr txBox="1"/>
          <p:nvPr/>
        </p:nvSpPr>
        <p:spPr>
          <a:xfrm>
            <a:off x="1252728" y="3703320"/>
            <a:ext cx="4276191" cy="914400"/>
          </a:xfrm>
          <a:prstGeom prst="rect">
            <a:avLst/>
          </a:prstGeom>
          <a:noFill/>
        </p:spPr>
        <p:txBody>
          <a:bodyPr wrap="square" anchor="t" lIns="0" rIns="0" tIns="0" bIns="0">
            <a:spAutoFit/>
          </a:bodyPr>
          <a:lstStyle/>
          <a:p>
            <a:pPr algn="l">
              <a:lnSpc>
                <a:spcPct val="130000"/>
              </a:lnSpc>
              <a:spcBef>
                <a:spcPts val="0"/>
              </a:spcBef>
              <a:spcAft>
                <a:spcPts val="0"/>
              </a:spcAft>
            </a:pPr>
            <a:r>
              <a:rPr sz="1900" b="0" i="1">
                <a:solidFill>
                  <a:srgbClr val="8DA0B5"/>
                </a:solidFill>
                <a:latin typeface="Fraunces"/>
              </a:rPr>
              <a:t>« Je cherche quelqu'un
avec qui faire du sport. »</a:t>
            </a:r>
          </a:p>
        </p:txBody>
      </p:sp>
      <p:sp>
        <p:nvSpPr>
          <p:cNvPr id="7" name="TextBox 6"/>
          <p:cNvSpPr txBox="1"/>
          <p:nvPr/>
        </p:nvSpPr>
        <p:spPr>
          <a:xfrm>
            <a:off x="1252728" y="4590288"/>
            <a:ext cx="4276191" cy="502920"/>
          </a:xfrm>
          <a:prstGeom prst="rect">
            <a:avLst/>
          </a:prstGeom>
          <a:noFill/>
        </p:spPr>
        <p:txBody>
          <a:bodyPr wrap="square" anchor="t" lIns="0" rIns="0" tIns="0" bIns="0">
            <a:spAutoFit/>
          </a:bodyPr>
          <a:lstStyle/>
          <a:p>
            <a:pPr algn="l">
              <a:lnSpc>
                <a:spcPct val="145000"/>
              </a:lnSpc>
              <a:spcBef>
                <a:spcPts val="0"/>
              </a:spcBef>
              <a:spcAft>
                <a:spcPts val="0"/>
              </a:spcAft>
            </a:pPr>
            <a:r>
              <a:rPr sz="1250" b="0" i="0">
                <a:solidFill>
                  <a:srgbClr val="8DA0B5"/>
                </a:solidFill>
                <a:latin typeface="Inter"/>
              </a:rPr>
              <a:t>Deux profils compatibles sont mis en relation. La séance reste entièrement à organiser.</a:t>
            </a:r>
          </a:p>
        </p:txBody>
      </p:sp>
      <p:sp>
        <p:nvSpPr>
          <p:cNvPr id="8" name="Rounded Rectangle 7"/>
          <p:cNvSpPr/>
          <p:nvPr/>
        </p:nvSpPr>
        <p:spPr>
          <a:xfrm>
            <a:off x="6278727" y="2926080"/>
            <a:ext cx="5044287" cy="2286000"/>
          </a:xfrm>
          <a:prstGeom prst="roundRect">
            <a:avLst>
              <a:gd name="adj" fmla="val 5000"/>
            </a:avLst>
          </a:prstGeom>
          <a:solidFill>
            <a:srgbClr val="2E6B4E"/>
          </a:solidFill>
          <a:ln w="12700">
            <a:solidFill>
              <a:srgbClr val="3E8E6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62775" y="3236976"/>
            <a:ext cx="4276191" cy="274320"/>
          </a:xfrm>
          <a:prstGeom prst="rect">
            <a:avLst/>
          </a:prstGeom>
          <a:noFill/>
        </p:spPr>
        <p:txBody>
          <a:bodyPr wrap="square" anchor="t" lIns="0" rIns="0" tIns="0" bIns="0">
            <a:spAutoFit/>
          </a:bodyPr>
          <a:lstStyle/>
          <a:p>
            <a:pPr algn="l">
              <a:lnSpc>
                <a:spcPct val="125000"/>
              </a:lnSpc>
              <a:spcBef>
                <a:spcPts val="0"/>
              </a:spcBef>
              <a:spcAft>
                <a:spcPts val="0"/>
              </a:spcAft>
            </a:pPr>
            <a:r>
              <a:rPr sz="1000" b="1" i="0" spc="150">
                <a:solidFill>
                  <a:srgbClr val="8FC7AA"/>
                </a:solidFill>
                <a:latin typeface="Inter"/>
              </a:rPr>
              <a:t>FITMEET</a:t>
            </a:r>
          </a:p>
        </p:txBody>
      </p:sp>
      <p:sp>
        <p:nvSpPr>
          <p:cNvPr id="10" name="TextBox 9"/>
          <p:cNvSpPr txBox="1"/>
          <p:nvPr/>
        </p:nvSpPr>
        <p:spPr>
          <a:xfrm>
            <a:off x="6662775" y="3703320"/>
            <a:ext cx="4276191" cy="914400"/>
          </a:xfrm>
          <a:prstGeom prst="rect">
            <a:avLst/>
          </a:prstGeom>
          <a:noFill/>
        </p:spPr>
        <p:txBody>
          <a:bodyPr wrap="square" anchor="t" lIns="0" rIns="0" tIns="0" bIns="0">
            <a:spAutoFit/>
          </a:bodyPr>
          <a:lstStyle/>
          <a:p>
            <a:pPr algn="l">
              <a:lnSpc>
                <a:spcPct val="130000"/>
              </a:lnSpc>
              <a:spcBef>
                <a:spcPts val="0"/>
              </a:spcBef>
              <a:spcAft>
                <a:spcPts val="0"/>
              </a:spcAft>
            </a:pPr>
            <a:r>
              <a:rPr sz="1900" b="1" i="0">
                <a:solidFill>
                  <a:srgbClr val="FFFFFF"/>
                </a:solidFill>
                <a:latin typeface="Fraunces"/>
              </a:rPr>
              <a:t>« Je joue au badminton
jeudi à 18 h, qui vient ? »</a:t>
            </a:r>
          </a:p>
        </p:txBody>
      </p:sp>
      <p:sp>
        <p:nvSpPr>
          <p:cNvPr id="11" name="TextBox 10"/>
          <p:cNvSpPr txBox="1"/>
          <p:nvPr/>
        </p:nvSpPr>
        <p:spPr>
          <a:xfrm>
            <a:off x="6662775" y="4590288"/>
            <a:ext cx="4276191" cy="502920"/>
          </a:xfrm>
          <a:prstGeom prst="rect">
            <a:avLst/>
          </a:prstGeom>
          <a:noFill/>
        </p:spPr>
        <p:txBody>
          <a:bodyPr wrap="square" anchor="t" lIns="0" rIns="0" tIns="0" bIns="0">
            <a:spAutoFit/>
          </a:bodyPr>
          <a:lstStyle/>
          <a:p>
            <a:pPr algn="l">
              <a:lnSpc>
                <a:spcPct val="145000"/>
              </a:lnSpc>
              <a:spcBef>
                <a:spcPts val="0"/>
              </a:spcBef>
              <a:spcAft>
                <a:spcPts val="0"/>
              </a:spcAft>
            </a:pPr>
            <a:r>
              <a:rPr sz="1250" b="0" i="0">
                <a:solidFill>
                  <a:srgbClr val="E7F1EC"/>
                </a:solidFill>
                <a:latin typeface="Inter"/>
              </a:rPr>
              <a:t>La séance existe avant la rencontre : un lieu, une heure, un niveau, des places.</a:t>
            </a:r>
          </a:p>
        </p:txBody>
      </p:sp>
      <p:sp>
        <p:nvSpPr>
          <p:cNvPr id="12" name="TextBox 11"/>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8DA0B5"/>
                </a:solidFill>
                <a:latin typeface="Inte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3E8E68"/>
                </a:solidFill>
                <a:latin typeface="Inter"/>
              </a:rPr>
              <a:t>LE PRODUIT</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200" b="1" i="0">
                <a:solidFill>
                  <a:srgbClr val="16233A"/>
                </a:solidFill>
                <a:latin typeface="Fraunces"/>
              </a:rPr>
              <a:t>Créer, découvrir, rejoindre</a:t>
            </a:r>
          </a:p>
        </p:txBody>
      </p:sp>
      <p:pic>
        <p:nvPicPr>
          <p:cNvPr id="4" name="Picture 3" descr="phone_list.png"/>
          <p:cNvPicPr>
            <a:picLocks noChangeAspect="1"/>
          </p:cNvPicPr>
          <p:nvPr/>
        </p:nvPicPr>
        <p:blipFill>
          <a:blip r:embed="rId2"/>
          <a:stretch>
            <a:fillRect/>
          </a:stretch>
        </p:blipFill>
        <p:spPr>
          <a:xfrm>
            <a:off x="868680" y="2011680"/>
            <a:ext cx="1887369" cy="3566160"/>
          </a:xfrm>
          <a:prstGeom prst="rect">
            <a:avLst/>
          </a:prstGeom>
        </p:spPr>
      </p:pic>
      <p:sp>
        <p:nvSpPr>
          <p:cNvPr id="5" name="TextBox 4"/>
          <p:cNvSpPr txBox="1"/>
          <p:nvPr/>
        </p:nvSpPr>
        <p:spPr>
          <a:xfrm>
            <a:off x="685800" y="5623560"/>
            <a:ext cx="2253128" cy="274320"/>
          </a:xfrm>
          <a:prstGeom prst="rect">
            <a:avLst/>
          </a:prstGeom>
          <a:noFill/>
        </p:spPr>
        <p:txBody>
          <a:bodyPr wrap="square" anchor="t" lIns="0" rIns="0" tIns="0" bIns="0">
            <a:spAutoFit/>
          </a:bodyPr>
          <a:lstStyle/>
          <a:p>
            <a:pPr algn="ctr">
              <a:lnSpc>
                <a:spcPct val="125000"/>
              </a:lnSpc>
              <a:spcBef>
                <a:spcPts val="0"/>
              </a:spcBef>
              <a:spcAft>
                <a:spcPts val="0"/>
              </a:spcAft>
            </a:pPr>
            <a:r>
              <a:rPr sz="1150" b="0" i="0">
                <a:solidFill>
                  <a:srgbClr val="5B6B7E"/>
                </a:solidFill>
                <a:latin typeface="Inter"/>
              </a:rPr>
              <a:t>Liste et filtres</a:t>
            </a:r>
          </a:p>
        </p:txBody>
      </p:sp>
      <p:pic>
        <p:nvPicPr>
          <p:cNvPr id="6" name="Picture 5" descr="phone_map.png"/>
          <p:cNvPicPr>
            <a:picLocks noChangeAspect="1"/>
          </p:cNvPicPr>
          <p:nvPr/>
        </p:nvPicPr>
        <p:blipFill>
          <a:blip r:embed="rId3"/>
          <a:stretch>
            <a:fillRect/>
          </a:stretch>
        </p:blipFill>
        <p:spPr>
          <a:xfrm>
            <a:off x="3121808" y="2011680"/>
            <a:ext cx="1887369" cy="3566160"/>
          </a:xfrm>
          <a:prstGeom prst="rect">
            <a:avLst/>
          </a:prstGeom>
        </p:spPr>
      </p:pic>
      <p:sp>
        <p:nvSpPr>
          <p:cNvPr id="7" name="TextBox 6"/>
          <p:cNvSpPr txBox="1"/>
          <p:nvPr/>
        </p:nvSpPr>
        <p:spPr>
          <a:xfrm>
            <a:off x="2938928" y="5623560"/>
            <a:ext cx="2253128" cy="274320"/>
          </a:xfrm>
          <a:prstGeom prst="rect">
            <a:avLst/>
          </a:prstGeom>
          <a:noFill/>
        </p:spPr>
        <p:txBody>
          <a:bodyPr wrap="square" anchor="t" lIns="0" rIns="0" tIns="0" bIns="0">
            <a:spAutoFit/>
          </a:bodyPr>
          <a:lstStyle/>
          <a:p>
            <a:pPr algn="ctr">
              <a:lnSpc>
                <a:spcPct val="125000"/>
              </a:lnSpc>
              <a:spcBef>
                <a:spcPts val="0"/>
              </a:spcBef>
              <a:spcAft>
                <a:spcPts val="0"/>
              </a:spcAft>
            </a:pPr>
            <a:r>
              <a:rPr sz="1150" b="0" i="0">
                <a:solidFill>
                  <a:srgbClr val="5B6B7E"/>
                </a:solidFill>
                <a:latin typeface="Inter"/>
              </a:rPr>
              <a:t>Carte</a:t>
            </a:r>
          </a:p>
        </p:txBody>
      </p:sp>
      <p:pic>
        <p:nvPicPr>
          <p:cNvPr id="8" name="Picture 7" descr="phone_login.png"/>
          <p:cNvPicPr>
            <a:picLocks noChangeAspect="1"/>
          </p:cNvPicPr>
          <p:nvPr/>
        </p:nvPicPr>
        <p:blipFill>
          <a:blip r:embed="rId4"/>
          <a:stretch>
            <a:fillRect/>
          </a:stretch>
        </p:blipFill>
        <p:spPr>
          <a:xfrm>
            <a:off x="5374936" y="2011680"/>
            <a:ext cx="1887369" cy="3566160"/>
          </a:xfrm>
          <a:prstGeom prst="rect">
            <a:avLst/>
          </a:prstGeom>
        </p:spPr>
      </p:pic>
      <p:sp>
        <p:nvSpPr>
          <p:cNvPr id="9" name="TextBox 8"/>
          <p:cNvSpPr txBox="1"/>
          <p:nvPr/>
        </p:nvSpPr>
        <p:spPr>
          <a:xfrm>
            <a:off x="5192056" y="5623560"/>
            <a:ext cx="2253128" cy="274320"/>
          </a:xfrm>
          <a:prstGeom prst="rect">
            <a:avLst/>
          </a:prstGeom>
          <a:noFill/>
        </p:spPr>
        <p:txBody>
          <a:bodyPr wrap="square" anchor="t" lIns="0" rIns="0" tIns="0" bIns="0">
            <a:spAutoFit/>
          </a:bodyPr>
          <a:lstStyle/>
          <a:p>
            <a:pPr algn="ctr">
              <a:lnSpc>
                <a:spcPct val="125000"/>
              </a:lnSpc>
              <a:spcBef>
                <a:spcPts val="0"/>
              </a:spcBef>
              <a:spcAft>
                <a:spcPts val="0"/>
              </a:spcAft>
            </a:pPr>
            <a:r>
              <a:rPr sz="1150" b="0" i="0">
                <a:solidFill>
                  <a:srgbClr val="5B6B7E"/>
                </a:solidFill>
                <a:latin typeface="Inter"/>
              </a:rPr>
              <a:t>Compte</a:t>
            </a:r>
          </a:p>
        </p:txBody>
      </p:sp>
      <p:sp>
        <p:nvSpPr>
          <p:cNvPr id="10" name="TextBox 9"/>
          <p:cNvSpPr txBox="1"/>
          <p:nvPr/>
        </p:nvSpPr>
        <p:spPr>
          <a:xfrm>
            <a:off x="7948104" y="2103120"/>
            <a:ext cx="3374911" cy="274320"/>
          </a:xfrm>
          <a:prstGeom prst="rect">
            <a:avLst/>
          </a:prstGeom>
          <a:noFill/>
        </p:spPr>
        <p:txBody>
          <a:bodyPr wrap="square" anchor="t" lIns="0" rIns="0" tIns="0" bIns="0">
            <a:spAutoFit/>
          </a:bodyPr>
          <a:lstStyle/>
          <a:p>
            <a:pPr algn="l">
              <a:lnSpc>
                <a:spcPct val="125000"/>
              </a:lnSpc>
              <a:spcBef>
                <a:spcPts val="0"/>
              </a:spcBef>
              <a:spcAft>
                <a:spcPts val="0"/>
              </a:spcAft>
            </a:pPr>
            <a:r>
              <a:rPr sz="1700" b="1" i="0">
                <a:solidFill>
                  <a:srgbClr val="16233A"/>
                </a:solidFill>
                <a:latin typeface="Fraunces"/>
              </a:rPr>
              <a:t>Créer une séance</a:t>
            </a:r>
          </a:p>
        </p:txBody>
      </p:sp>
      <p:cxnSp>
        <p:nvCxnSpPr>
          <p:cNvPr id="11" name="Connector 10"/>
          <p:cNvCxnSpPr/>
          <p:nvPr/>
        </p:nvCxnSpPr>
        <p:spPr>
          <a:xfrm>
            <a:off x="7948104" y="2542032"/>
            <a:ext cx="1188720" cy="0"/>
          </a:xfrm>
          <a:prstGeom prst="line">
            <a:avLst/>
          </a:prstGeom>
          <a:ln w="19050">
            <a:solidFill>
              <a:srgbClr val="3E8E6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948104" y="2706624"/>
            <a:ext cx="3374911" cy="1005840"/>
          </a:xfrm>
          <a:prstGeom prst="rect">
            <a:avLst/>
          </a:prstGeom>
          <a:noFill/>
        </p:spPr>
        <p:txBody>
          <a:bodyPr wrap="square" anchor="t" lIns="0" rIns="0" tIns="0" bIns="0">
            <a:spAutoFit/>
          </a:bodyPr>
          <a:lstStyle/>
          <a:p>
            <a:pPr algn="l">
              <a:lnSpc>
                <a:spcPct val="145000"/>
              </a:lnSpc>
              <a:spcBef>
                <a:spcPts val="0"/>
              </a:spcBef>
              <a:spcAft>
                <a:spcPts val="0"/>
              </a:spcAft>
            </a:pPr>
            <a:r>
              <a:rPr sz="1200" b="0" i="0">
                <a:solidFill>
                  <a:srgbClr val="5B6B7E"/>
                </a:solidFill>
                <a:latin typeface="Inter"/>
              </a:rPr>
              <a:t>Sport, date, durée, lieu posé sur la carte, niveau, places et prix éventuel.</a:t>
            </a:r>
          </a:p>
        </p:txBody>
      </p:sp>
      <p:sp>
        <p:nvSpPr>
          <p:cNvPr id="13" name="TextBox 12"/>
          <p:cNvSpPr txBox="1"/>
          <p:nvPr/>
        </p:nvSpPr>
        <p:spPr>
          <a:xfrm>
            <a:off x="7948104" y="3474720"/>
            <a:ext cx="3374911" cy="274320"/>
          </a:xfrm>
          <a:prstGeom prst="rect">
            <a:avLst/>
          </a:prstGeom>
          <a:noFill/>
        </p:spPr>
        <p:txBody>
          <a:bodyPr wrap="square" anchor="t" lIns="0" rIns="0" tIns="0" bIns="0">
            <a:spAutoFit/>
          </a:bodyPr>
          <a:lstStyle/>
          <a:p>
            <a:pPr algn="l">
              <a:lnSpc>
                <a:spcPct val="125000"/>
              </a:lnSpc>
              <a:spcBef>
                <a:spcPts val="0"/>
              </a:spcBef>
              <a:spcAft>
                <a:spcPts val="0"/>
              </a:spcAft>
            </a:pPr>
            <a:r>
              <a:rPr sz="1700" b="1" i="0">
                <a:solidFill>
                  <a:srgbClr val="16233A"/>
                </a:solidFill>
                <a:latin typeface="Fraunces"/>
              </a:rPr>
              <a:t>Découvrir</a:t>
            </a:r>
          </a:p>
        </p:txBody>
      </p:sp>
      <p:cxnSp>
        <p:nvCxnSpPr>
          <p:cNvPr id="14" name="Connector 13"/>
          <p:cNvCxnSpPr/>
          <p:nvPr/>
        </p:nvCxnSpPr>
        <p:spPr>
          <a:xfrm>
            <a:off x="7948104" y="3913632"/>
            <a:ext cx="1188720" cy="0"/>
          </a:xfrm>
          <a:prstGeom prst="line">
            <a:avLst/>
          </a:prstGeom>
          <a:ln w="19050">
            <a:solidFill>
              <a:srgbClr val="3E8E6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948104" y="4078224"/>
            <a:ext cx="3374911" cy="1005840"/>
          </a:xfrm>
          <a:prstGeom prst="rect">
            <a:avLst/>
          </a:prstGeom>
          <a:noFill/>
        </p:spPr>
        <p:txBody>
          <a:bodyPr wrap="square" anchor="t" lIns="0" rIns="0" tIns="0" bIns="0">
            <a:spAutoFit/>
          </a:bodyPr>
          <a:lstStyle/>
          <a:p>
            <a:pPr algn="l">
              <a:lnSpc>
                <a:spcPct val="145000"/>
              </a:lnSpc>
              <a:spcBef>
                <a:spcPts val="0"/>
              </a:spcBef>
              <a:spcAft>
                <a:spcPts val="0"/>
              </a:spcAft>
            </a:pPr>
            <a:r>
              <a:rPr sz="1200" b="0" i="0">
                <a:solidFill>
                  <a:srgbClr val="5B6B7E"/>
                </a:solidFill>
                <a:latin typeface="Inter"/>
              </a:rPr>
              <a:t>Liste triée par distance ou carte interactive, filtrables par sport, date et places restantes.</a:t>
            </a:r>
          </a:p>
        </p:txBody>
      </p:sp>
      <p:sp>
        <p:nvSpPr>
          <p:cNvPr id="16" name="TextBox 15"/>
          <p:cNvSpPr txBox="1"/>
          <p:nvPr/>
        </p:nvSpPr>
        <p:spPr>
          <a:xfrm>
            <a:off x="7948104" y="4846320"/>
            <a:ext cx="3374911" cy="274320"/>
          </a:xfrm>
          <a:prstGeom prst="rect">
            <a:avLst/>
          </a:prstGeom>
          <a:noFill/>
        </p:spPr>
        <p:txBody>
          <a:bodyPr wrap="square" anchor="t" lIns="0" rIns="0" tIns="0" bIns="0">
            <a:spAutoFit/>
          </a:bodyPr>
          <a:lstStyle/>
          <a:p>
            <a:pPr algn="l">
              <a:lnSpc>
                <a:spcPct val="125000"/>
              </a:lnSpc>
              <a:spcBef>
                <a:spcPts val="0"/>
              </a:spcBef>
              <a:spcAft>
                <a:spcPts val="0"/>
              </a:spcAft>
            </a:pPr>
            <a:r>
              <a:rPr sz="1700" b="1" i="0">
                <a:solidFill>
                  <a:srgbClr val="16233A"/>
                </a:solidFill>
                <a:latin typeface="Fraunces"/>
              </a:rPr>
              <a:t>Rejoindre</a:t>
            </a:r>
          </a:p>
        </p:txBody>
      </p:sp>
      <p:cxnSp>
        <p:nvCxnSpPr>
          <p:cNvPr id="17" name="Connector 16"/>
          <p:cNvCxnSpPr/>
          <p:nvPr/>
        </p:nvCxnSpPr>
        <p:spPr>
          <a:xfrm>
            <a:off x="7948104" y="5285232"/>
            <a:ext cx="1188720" cy="0"/>
          </a:xfrm>
          <a:prstGeom prst="line">
            <a:avLst/>
          </a:prstGeom>
          <a:ln w="19050">
            <a:solidFill>
              <a:srgbClr val="3E8E6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948104" y="5449824"/>
            <a:ext cx="3374911" cy="1005840"/>
          </a:xfrm>
          <a:prstGeom prst="rect">
            <a:avLst/>
          </a:prstGeom>
          <a:noFill/>
        </p:spPr>
        <p:txBody>
          <a:bodyPr wrap="square" anchor="t" lIns="0" rIns="0" tIns="0" bIns="0">
            <a:spAutoFit/>
          </a:bodyPr>
          <a:lstStyle/>
          <a:p>
            <a:pPr algn="l">
              <a:lnSpc>
                <a:spcPct val="145000"/>
              </a:lnSpc>
              <a:spcBef>
                <a:spcPts val="0"/>
              </a:spcBef>
              <a:spcAft>
                <a:spcPts val="0"/>
              </a:spcAft>
            </a:pPr>
            <a:r>
              <a:rPr sz="1200" b="0" i="0">
                <a:solidFill>
                  <a:srgbClr val="5B6B7E"/>
                </a:solidFill>
                <a:latin typeface="Inter"/>
              </a:rPr>
              <a:t>Une place est prise dans la limite de la capacité, et un salon de discussion s'ouvre.</a:t>
            </a:r>
          </a:p>
        </p:txBody>
      </p:sp>
      <p:sp>
        <p:nvSpPr>
          <p:cNvPr id="19" name="TextBox 18"/>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5B6B7E"/>
                </a:solidFill>
                <a:latin typeface="Inte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8FC7AA"/>
                </a:solidFill>
                <a:latin typeface="Inter"/>
              </a:rPr>
              <a:t>CONCEPTION</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000" b="1" i="0">
                <a:solidFill>
                  <a:srgbClr val="FFFFFF"/>
                </a:solidFill>
                <a:latin typeface="Fraunces"/>
              </a:rPr>
              <a:t>Des maquettes à la vitrine publique</a:t>
            </a:r>
          </a:p>
        </p:txBody>
      </p:sp>
      <p:pic>
        <p:nvPicPr>
          <p:cNvPr id="4" name="Picture 3" descr="mockup_login.png"/>
          <p:cNvPicPr>
            <a:picLocks noChangeAspect="1"/>
          </p:cNvPicPr>
          <p:nvPr/>
        </p:nvPicPr>
        <p:blipFill>
          <a:blip r:embed="rId2"/>
          <a:stretch>
            <a:fillRect/>
          </a:stretch>
        </p:blipFill>
        <p:spPr>
          <a:xfrm>
            <a:off x="868680" y="2103120"/>
            <a:ext cx="1415819" cy="2606040"/>
          </a:xfrm>
          <a:prstGeom prst="rect">
            <a:avLst/>
          </a:prstGeom>
        </p:spPr>
      </p:pic>
      <p:pic>
        <p:nvPicPr>
          <p:cNvPr id="5" name="Picture 4" descr="mockup_liste.png"/>
          <p:cNvPicPr>
            <a:picLocks noChangeAspect="1"/>
          </p:cNvPicPr>
          <p:nvPr/>
        </p:nvPicPr>
        <p:blipFill>
          <a:blip r:embed="rId3"/>
          <a:stretch>
            <a:fillRect/>
          </a:stretch>
        </p:blipFill>
        <p:spPr>
          <a:xfrm>
            <a:off x="2449090" y="2103120"/>
            <a:ext cx="1380784" cy="2606040"/>
          </a:xfrm>
          <a:prstGeom prst="rect">
            <a:avLst/>
          </a:prstGeom>
        </p:spPr>
      </p:pic>
      <p:pic>
        <p:nvPicPr>
          <p:cNvPr id="6" name="Picture 5" descr="mockup_carte.png"/>
          <p:cNvPicPr>
            <a:picLocks noChangeAspect="1"/>
          </p:cNvPicPr>
          <p:nvPr/>
        </p:nvPicPr>
        <p:blipFill>
          <a:blip r:embed="rId4"/>
          <a:stretch>
            <a:fillRect/>
          </a:stretch>
        </p:blipFill>
        <p:spPr>
          <a:xfrm>
            <a:off x="3994465" y="2103120"/>
            <a:ext cx="1339807" cy="2606040"/>
          </a:xfrm>
          <a:prstGeom prst="rect">
            <a:avLst/>
          </a:prstGeom>
        </p:spPr>
      </p:pic>
      <p:pic>
        <p:nvPicPr>
          <p:cNvPr id="7" name="Picture 6" descr="mockup_creation.png"/>
          <p:cNvPicPr>
            <a:picLocks noChangeAspect="1"/>
          </p:cNvPicPr>
          <p:nvPr/>
        </p:nvPicPr>
        <p:blipFill>
          <a:blip r:embed="rId5"/>
          <a:stretch>
            <a:fillRect/>
          </a:stretch>
        </p:blipFill>
        <p:spPr>
          <a:xfrm>
            <a:off x="5498863" y="2103120"/>
            <a:ext cx="1242641" cy="2606040"/>
          </a:xfrm>
          <a:prstGeom prst="rect">
            <a:avLst/>
          </a:prstGeom>
        </p:spPr>
      </p:pic>
      <p:pic>
        <p:nvPicPr>
          <p:cNvPr id="8" name="Picture 7" descr="mockup_chat.png"/>
          <p:cNvPicPr>
            <a:picLocks noChangeAspect="1"/>
          </p:cNvPicPr>
          <p:nvPr/>
        </p:nvPicPr>
        <p:blipFill>
          <a:blip r:embed="rId6"/>
          <a:stretch>
            <a:fillRect/>
          </a:stretch>
        </p:blipFill>
        <p:spPr>
          <a:xfrm>
            <a:off x="6906095" y="2103120"/>
            <a:ext cx="1293425" cy="2606040"/>
          </a:xfrm>
          <a:prstGeom prst="rect">
            <a:avLst/>
          </a:prstGeom>
        </p:spPr>
      </p:pic>
      <p:sp>
        <p:nvSpPr>
          <p:cNvPr id="9" name="TextBox 8"/>
          <p:cNvSpPr txBox="1"/>
          <p:nvPr/>
        </p:nvSpPr>
        <p:spPr>
          <a:xfrm>
            <a:off x="868680" y="4892040"/>
            <a:ext cx="7330839" cy="731520"/>
          </a:xfrm>
          <a:prstGeom prst="rect">
            <a:avLst/>
          </a:prstGeom>
          <a:noFill/>
        </p:spPr>
        <p:txBody>
          <a:bodyPr wrap="square" anchor="t" lIns="0" rIns="0" tIns="0" bIns="0">
            <a:spAutoFit/>
          </a:bodyPr>
          <a:lstStyle/>
          <a:p>
            <a:pPr algn="l">
              <a:lnSpc>
                <a:spcPct val="150000"/>
              </a:lnSpc>
              <a:spcBef>
                <a:spcPts val="0"/>
              </a:spcBef>
              <a:spcAft>
                <a:spcPts val="0"/>
              </a:spcAft>
            </a:pPr>
            <a:r>
              <a:rPr sz="1200" b="0" i="0">
                <a:solidFill>
                  <a:srgbClr val="8DA0B5"/>
                </a:solidFill>
                <a:latin typeface="Inter"/>
              </a:rPr>
              <a:t>Cinq écrans maquettés avant la première ligne de code. Ils ont fixé ce que chacun devait construire.</a:t>
            </a:r>
          </a:p>
        </p:txBody>
      </p:sp>
      <p:pic>
        <p:nvPicPr>
          <p:cNvPr id="10" name="Picture 9" descr="landing_framed.png"/>
          <p:cNvPicPr>
            <a:picLocks noChangeAspect="1"/>
          </p:cNvPicPr>
          <p:nvPr/>
        </p:nvPicPr>
        <p:blipFill>
          <a:blip r:embed="rId7"/>
          <a:stretch>
            <a:fillRect/>
          </a:stretch>
        </p:blipFill>
        <p:spPr>
          <a:xfrm>
            <a:off x="8519559" y="2103120"/>
            <a:ext cx="2803456" cy="1701542"/>
          </a:xfrm>
          <a:prstGeom prst="rect">
            <a:avLst/>
          </a:prstGeom>
        </p:spPr>
      </p:pic>
      <p:sp>
        <p:nvSpPr>
          <p:cNvPr id="11" name="TextBox 10"/>
          <p:cNvSpPr txBox="1"/>
          <p:nvPr/>
        </p:nvSpPr>
        <p:spPr>
          <a:xfrm>
            <a:off x="8519559" y="4892040"/>
            <a:ext cx="2803456" cy="914400"/>
          </a:xfrm>
          <a:prstGeom prst="rect">
            <a:avLst/>
          </a:prstGeom>
          <a:noFill/>
        </p:spPr>
        <p:txBody>
          <a:bodyPr wrap="square" anchor="t" lIns="0" rIns="0" tIns="0" bIns="0">
            <a:spAutoFit/>
          </a:bodyPr>
          <a:lstStyle/>
          <a:p>
            <a:pPr algn="l">
              <a:lnSpc>
                <a:spcPct val="150000"/>
              </a:lnSpc>
              <a:spcBef>
                <a:spcPts val="0"/>
              </a:spcBef>
              <a:spcAft>
                <a:spcPts val="0"/>
              </a:spcAft>
            </a:pPr>
            <a:r>
              <a:rPr sz="1200" b="0" i="0">
                <a:solidFill>
                  <a:srgbClr val="8DA0B5"/>
                </a:solidFill>
                <a:latin typeface="Inter"/>
              </a:rPr>
              <a:t>La landing page présente le produit et l'équipe. Servie par GitHub Pages, mise à jour à chaque fusion.</a:t>
            </a:r>
          </a:p>
          <a:p>
            <a:pPr algn="l">
              <a:lnSpc>
                <a:spcPct val="125000"/>
              </a:lnSpc>
              <a:spcBef>
                <a:spcPts val="700"/>
              </a:spcBef>
              <a:spcAft>
                <a:spcPts val="0"/>
              </a:spcAft>
            </a:pPr>
            <a:r>
              <a:rPr sz="1200" b="1" i="0">
                <a:solidFill>
                  <a:srgbClr val="8FC7AA"/>
                </a:solidFill>
                <a:latin typeface="Inter"/>
              </a:rPr>
              <a:t>mircoprofico.github.io/FitMeet</a:t>
            </a:r>
          </a:p>
        </p:txBody>
      </p:sp>
      <p:sp>
        <p:nvSpPr>
          <p:cNvPr id="12" name="TextBox 11"/>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8DA0B5"/>
                </a:solidFill>
                <a:latin typeface="Inte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E6B4E"/>
        </a:solidFill>
        <a:effectLst/>
      </p:bgPr>
    </p:bg>
    <p:spTree>
      <p:nvGrpSpPr>
        <p:cNvPr id="1" name=""/>
        <p:cNvGrpSpPr/>
        <p:nvPr/>
      </p:nvGrpSpPr>
      <p:grpSpPr/>
      <p:sp>
        <p:nvSpPr>
          <p:cNvPr id="2" name="TextBox 1"/>
          <p:cNvSpPr txBox="1"/>
          <p:nvPr/>
        </p:nvSpPr>
        <p:spPr>
          <a:xfrm>
            <a:off x="868680" y="2286000"/>
            <a:ext cx="5852160" cy="320040"/>
          </a:xfrm>
          <a:prstGeom prst="rect">
            <a:avLst/>
          </a:prstGeom>
          <a:noFill/>
        </p:spPr>
        <p:txBody>
          <a:bodyPr wrap="square" anchor="t" lIns="0" rIns="0" tIns="0" bIns="0">
            <a:spAutoFit/>
          </a:bodyPr>
          <a:lstStyle/>
          <a:p>
            <a:pPr algn="l">
              <a:lnSpc>
                <a:spcPct val="125000"/>
              </a:lnSpc>
              <a:spcBef>
                <a:spcPts val="0"/>
              </a:spcBef>
              <a:spcAft>
                <a:spcPts val="0"/>
              </a:spcAft>
            </a:pPr>
            <a:r>
              <a:rPr sz="1100" b="1" i="0" spc="190">
                <a:solidFill>
                  <a:srgbClr val="8FC7AA"/>
                </a:solidFill>
                <a:latin typeface="Inter"/>
              </a:rPr>
              <a:t>DÉMONSTRATION</a:t>
            </a:r>
          </a:p>
        </p:txBody>
      </p:sp>
      <p:sp>
        <p:nvSpPr>
          <p:cNvPr id="3" name="TextBox 2"/>
          <p:cNvSpPr txBox="1"/>
          <p:nvPr/>
        </p:nvSpPr>
        <p:spPr>
          <a:xfrm>
            <a:off x="868680" y="2743200"/>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4400" b="1" i="0">
                <a:solidFill>
                  <a:srgbClr val="FFFFFF"/>
                </a:solidFill>
                <a:latin typeface="Fraunces"/>
              </a:rPr>
              <a:t>L'application en direct</a:t>
            </a:r>
          </a:p>
        </p:txBody>
      </p:sp>
      <p:cxnSp>
        <p:nvCxnSpPr>
          <p:cNvPr id="4" name="Connector 3"/>
          <p:cNvCxnSpPr/>
          <p:nvPr/>
        </p:nvCxnSpPr>
        <p:spPr>
          <a:xfrm>
            <a:off x="868680" y="3931920"/>
            <a:ext cx="2377440" cy="0"/>
          </a:xfrm>
          <a:prstGeom prst="line">
            <a:avLst/>
          </a:prstGeom>
          <a:ln w="19050">
            <a:solidFill>
              <a:srgbClr val="8FC7A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68680" y="4206240"/>
            <a:ext cx="7132320" cy="1645920"/>
          </a:xfrm>
          <a:prstGeom prst="rect">
            <a:avLst/>
          </a:prstGeom>
          <a:noFill/>
        </p:spPr>
        <p:txBody>
          <a:bodyPr wrap="square" anchor="t" lIns="0" rIns="0" tIns="0" bIns="0">
            <a:spAutoFit/>
          </a:bodyPr>
          <a:lstStyle/>
          <a:p>
            <a:pPr algn="l">
              <a:lnSpc>
                <a:spcPct val="140000"/>
              </a:lnSpc>
              <a:spcBef>
                <a:spcPts val="0"/>
              </a:spcBef>
              <a:spcAft>
                <a:spcPts val="900"/>
              </a:spcAft>
            </a:pPr>
            <a:r>
              <a:rPr sz="1550" b="0" i="0">
                <a:solidFill>
                  <a:srgbClr val="FFFFFF"/>
                </a:solidFill>
                <a:latin typeface="Inter"/>
              </a:rPr>
              <a:t>—   Je crée une séance de badminton à Yverdon.</a:t>
            </a:r>
          </a:p>
          <a:p>
            <a:pPr algn="l">
              <a:lnSpc>
                <a:spcPct val="140000"/>
              </a:lnSpc>
              <a:spcBef>
                <a:spcPts val="0"/>
              </a:spcBef>
              <a:spcAft>
                <a:spcPts val="900"/>
              </a:spcAft>
            </a:pPr>
            <a:r>
              <a:rPr sz="1550" b="0" i="0">
                <a:solidFill>
                  <a:srgbClr val="FFFFFF"/>
                </a:solidFill>
                <a:latin typeface="Inter"/>
              </a:rPr>
              <a:t>—   Elle apparaît dans la liste et sur la carte.</a:t>
            </a:r>
          </a:p>
          <a:p>
            <a:pPr algn="l">
              <a:lnSpc>
                <a:spcPct val="140000"/>
              </a:lnSpc>
              <a:spcBef>
                <a:spcPts val="0"/>
              </a:spcBef>
              <a:spcAft>
                <a:spcPts val="900"/>
              </a:spcAft>
            </a:pPr>
            <a:r>
              <a:rPr sz="1550" b="0" i="0">
                <a:solidFill>
                  <a:srgbClr val="FFFFFF"/>
                </a:solidFill>
                <a:latin typeface="Inter"/>
              </a:rPr>
              <a:t>—   Un deuxième compte la rejoint : la place disparaît.</a:t>
            </a:r>
          </a:p>
        </p:txBody>
      </p:sp>
      <p:sp>
        <p:nvSpPr>
          <p:cNvPr id="6" name="TextBox 5"/>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8DA0B5"/>
                </a:solidFill>
                <a:latin typeface="Inte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3E8E68"/>
                </a:solidFill>
                <a:latin typeface="Inter"/>
              </a:rPr>
              <a:t>PROCESSUS DE TRAVAIL</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200" b="1" i="0">
                <a:solidFill>
                  <a:srgbClr val="16233A"/>
                </a:solidFill>
                <a:latin typeface="Fraunces"/>
              </a:rPr>
              <a:t>Un domaine par personne, une relecture croisée</a:t>
            </a:r>
          </a:p>
        </p:txBody>
      </p:sp>
      <p:sp>
        <p:nvSpPr>
          <p:cNvPr id="4" name="Rounded Rectangle 3"/>
          <p:cNvSpPr/>
          <p:nvPr/>
        </p:nvSpPr>
        <p:spPr>
          <a:xfrm>
            <a:off x="868680" y="1920240"/>
            <a:ext cx="2407843" cy="1691640"/>
          </a:xfrm>
          <a:prstGeom prst="roundRect">
            <a:avLst>
              <a:gd name="adj" fmla="val 6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868680" y="1920240"/>
            <a:ext cx="2407843" cy="73152"/>
          </a:xfrm>
          <a:prstGeom prst="rect">
            <a:avLst/>
          </a:prstGeom>
          <a:solidFill>
            <a:srgbClr val="3E8E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43000" y="2194560"/>
            <a:ext cx="1859203" cy="320040"/>
          </a:xfrm>
          <a:prstGeom prst="rect">
            <a:avLst/>
          </a:prstGeom>
          <a:noFill/>
        </p:spPr>
        <p:txBody>
          <a:bodyPr wrap="square" anchor="t" lIns="0" rIns="0" tIns="0" bIns="0">
            <a:spAutoFit/>
          </a:bodyPr>
          <a:lstStyle/>
          <a:p>
            <a:pPr algn="l">
              <a:lnSpc>
                <a:spcPct val="125000"/>
              </a:lnSpc>
              <a:spcBef>
                <a:spcPts val="0"/>
              </a:spcBef>
              <a:spcAft>
                <a:spcPts val="0"/>
              </a:spcAft>
            </a:pPr>
            <a:r>
              <a:rPr sz="1900" b="1" i="0">
                <a:solidFill>
                  <a:srgbClr val="16233A"/>
                </a:solidFill>
                <a:latin typeface="Fraunces"/>
              </a:rPr>
              <a:t>Mirco</a:t>
            </a:r>
          </a:p>
        </p:txBody>
      </p:sp>
      <p:sp>
        <p:nvSpPr>
          <p:cNvPr id="7" name="TextBox 6"/>
          <p:cNvSpPr txBox="1"/>
          <p:nvPr/>
        </p:nvSpPr>
        <p:spPr>
          <a:xfrm>
            <a:off x="1143000" y="2542032"/>
            <a:ext cx="1859203" cy="256032"/>
          </a:xfrm>
          <a:prstGeom prst="rect">
            <a:avLst/>
          </a:prstGeom>
          <a:noFill/>
        </p:spPr>
        <p:txBody>
          <a:bodyPr wrap="square" anchor="t" lIns="0" rIns="0" tIns="0" bIns="0">
            <a:spAutoFit/>
          </a:bodyPr>
          <a:lstStyle/>
          <a:p>
            <a:pPr algn="l">
              <a:lnSpc>
                <a:spcPct val="125000"/>
              </a:lnSpc>
              <a:spcBef>
                <a:spcPts val="0"/>
              </a:spcBef>
              <a:spcAft>
                <a:spcPts val="0"/>
              </a:spcAft>
            </a:pPr>
            <a:r>
              <a:rPr sz="1050" b="1" i="0">
                <a:solidFill>
                  <a:srgbClr val="3E8E68"/>
                </a:solidFill>
                <a:latin typeface="Inter"/>
              </a:rPr>
              <a:t>@mircoprofico</a:t>
            </a:r>
          </a:p>
        </p:txBody>
      </p:sp>
      <p:sp>
        <p:nvSpPr>
          <p:cNvPr id="8" name="TextBox 7"/>
          <p:cNvSpPr txBox="1"/>
          <p:nvPr/>
        </p:nvSpPr>
        <p:spPr>
          <a:xfrm>
            <a:off x="1143000" y="2871216"/>
            <a:ext cx="1859203" cy="640080"/>
          </a:xfrm>
          <a:prstGeom prst="rect">
            <a:avLst/>
          </a:prstGeom>
          <a:noFill/>
        </p:spPr>
        <p:txBody>
          <a:bodyPr wrap="square" anchor="t" lIns="0" rIns="0" tIns="0" bIns="0">
            <a:spAutoFit/>
          </a:bodyPr>
          <a:lstStyle/>
          <a:p>
            <a:pPr algn="l">
              <a:lnSpc>
                <a:spcPct val="150000"/>
              </a:lnSpc>
              <a:spcBef>
                <a:spcPts val="0"/>
              </a:spcBef>
              <a:spcAft>
                <a:spcPts val="0"/>
              </a:spcAft>
            </a:pPr>
            <a:r>
              <a:rPr sz="1150" b="0" i="0">
                <a:solidFill>
                  <a:srgbClr val="5B6B7E"/>
                </a:solidFill>
                <a:latin typeface="Inter"/>
              </a:rPr>
              <a:t>Liste et détail des activités
Design system · CI/CD</a:t>
            </a:r>
          </a:p>
        </p:txBody>
      </p:sp>
      <p:sp>
        <p:nvSpPr>
          <p:cNvPr id="9" name="Rounded Rectangle 8"/>
          <p:cNvSpPr/>
          <p:nvPr/>
        </p:nvSpPr>
        <p:spPr>
          <a:xfrm>
            <a:off x="3550843" y="1920240"/>
            <a:ext cx="2407843" cy="1691640"/>
          </a:xfrm>
          <a:prstGeom prst="roundRect">
            <a:avLst>
              <a:gd name="adj" fmla="val 6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550843" y="1920240"/>
            <a:ext cx="2407843" cy="73152"/>
          </a:xfrm>
          <a:prstGeom prst="rect">
            <a:avLst/>
          </a:prstGeom>
          <a:solidFill>
            <a:srgbClr val="3E8E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825163" y="2194560"/>
            <a:ext cx="1859203" cy="320040"/>
          </a:xfrm>
          <a:prstGeom prst="rect">
            <a:avLst/>
          </a:prstGeom>
          <a:noFill/>
        </p:spPr>
        <p:txBody>
          <a:bodyPr wrap="square" anchor="t" lIns="0" rIns="0" tIns="0" bIns="0">
            <a:spAutoFit/>
          </a:bodyPr>
          <a:lstStyle/>
          <a:p>
            <a:pPr algn="l">
              <a:lnSpc>
                <a:spcPct val="125000"/>
              </a:lnSpc>
              <a:spcBef>
                <a:spcPts val="0"/>
              </a:spcBef>
              <a:spcAft>
                <a:spcPts val="0"/>
              </a:spcAft>
            </a:pPr>
            <a:r>
              <a:rPr sz="1900" b="1" i="0">
                <a:solidFill>
                  <a:srgbClr val="16233A"/>
                </a:solidFill>
                <a:latin typeface="Fraunces"/>
              </a:rPr>
              <a:t>Antoine</a:t>
            </a:r>
          </a:p>
        </p:txBody>
      </p:sp>
      <p:sp>
        <p:nvSpPr>
          <p:cNvPr id="12" name="TextBox 11"/>
          <p:cNvSpPr txBox="1"/>
          <p:nvPr/>
        </p:nvSpPr>
        <p:spPr>
          <a:xfrm>
            <a:off x="3825163" y="2542032"/>
            <a:ext cx="1859203" cy="256032"/>
          </a:xfrm>
          <a:prstGeom prst="rect">
            <a:avLst/>
          </a:prstGeom>
          <a:noFill/>
        </p:spPr>
        <p:txBody>
          <a:bodyPr wrap="square" anchor="t" lIns="0" rIns="0" tIns="0" bIns="0">
            <a:spAutoFit/>
          </a:bodyPr>
          <a:lstStyle/>
          <a:p>
            <a:pPr algn="l">
              <a:lnSpc>
                <a:spcPct val="125000"/>
              </a:lnSpc>
              <a:spcBef>
                <a:spcPts val="0"/>
              </a:spcBef>
              <a:spcAft>
                <a:spcPts val="0"/>
              </a:spcAft>
            </a:pPr>
            <a:r>
              <a:rPr sz="1050" b="1" i="0">
                <a:solidFill>
                  <a:srgbClr val="3E8E68"/>
                </a:solidFill>
                <a:latin typeface="Inter"/>
              </a:rPr>
              <a:t>@calystoxi</a:t>
            </a:r>
          </a:p>
        </p:txBody>
      </p:sp>
      <p:sp>
        <p:nvSpPr>
          <p:cNvPr id="13" name="TextBox 12"/>
          <p:cNvSpPr txBox="1"/>
          <p:nvPr/>
        </p:nvSpPr>
        <p:spPr>
          <a:xfrm>
            <a:off x="3825163" y="2871216"/>
            <a:ext cx="1859203" cy="640080"/>
          </a:xfrm>
          <a:prstGeom prst="rect">
            <a:avLst/>
          </a:prstGeom>
          <a:noFill/>
        </p:spPr>
        <p:txBody>
          <a:bodyPr wrap="square" anchor="t" lIns="0" rIns="0" tIns="0" bIns="0">
            <a:spAutoFit/>
          </a:bodyPr>
          <a:lstStyle/>
          <a:p>
            <a:pPr algn="l">
              <a:lnSpc>
                <a:spcPct val="150000"/>
              </a:lnSpc>
              <a:spcBef>
                <a:spcPts val="0"/>
              </a:spcBef>
              <a:spcAft>
                <a:spcPts val="0"/>
              </a:spcAft>
            </a:pPr>
            <a:r>
              <a:rPr sz="1150" b="0" i="0">
                <a:solidFill>
                  <a:srgbClr val="5B6B7E"/>
                </a:solidFill>
                <a:latin typeface="Inter"/>
              </a:rPr>
              <a:t>Carte et géolocalisation
Profil utilisateur</a:t>
            </a:r>
          </a:p>
        </p:txBody>
      </p:sp>
      <p:sp>
        <p:nvSpPr>
          <p:cNvPr id="14" name="Rounded Rectangle 13"/>
          <p:cNvSpPr/>
          <p:nvPr/>
        </p:nvSpPr>
        <p:spPr>
          <a:xfrm>
            <a:off x="6233006" y="1920240"/>
            <a:ext cx="2407843" cy="1691640"/>
          </a:xfrm>
          <a:prstGeom prst="roundRect">
            <a:avLst>
              <a:gd name="adj" fmla="val 6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33006" y="1920240"/>
            <a:ext cx="2407843" cy="73152"/>
          </a:xfrm>
          <a:prstGeom prst="rect">
            <a:avLst/>
          </a:prstGeom>
          <a:solidFill>
            <a:srgbClr val="3E8E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07326" y="2194560"/>
            <a:ext cx="1859203" cy="320040"/>
          </a:xfrm>
          <a:prstGeom prst="rect">
            <a:avLst/>
          </a:prstGeom>
          <a:noFill/>
        </p:spPr>
        <p:txBody>
          <a:bodyPr wrap="square" anchor="t" lIns="0" rIns="0" tIns="0" bIns="0">
            <a:spAutoFit/>
          </a:bodyPr>
          <a:lstStyle/>
          <a:p>
            <a:pPr algn="l">
              <a:lnSpc>
                <a:spcPct val="125000"/>
              </a:lnSpc>
              <a:spcBef>
                <a:spcPts val="0"/>
              </a:spcBef>
              <a:spcAft>
                <a:spcPts val="0"/>
              </a:spcAft>
            </a:pPr>
            <a:r>
              <a:rPr sz="1900" b="1" i="0">
                <a:solidFill>
                  <a:srgbClr val="16233A"/>
                </a:solidFill>
                <a:latin typeface="Fraunces"/>
              </a:rPr>
              <a:t>François</a:t>
            </a:r>
          </a:p>
        </p:txBody>
      </p:sp>
      <p:sp>
        <p:nvSpPr>
          <p:cNvPr id="17" name="TextBox 16"/>
          <p:cNvSpPr txBox="1"/>
          <p:nvPr/>
        </p:nvSpPr>
        <p:spPr>
          <a:xfrm>
            <a:off x="6507326" y="2542032"/>
            <a:ext cx="1859203" cy="256032"/>
          </a:xfrm>
          <a:prstGeom prst="rect">
            <a:avLst/>
          </a:prstGeom>
          <a:noFill/>
        </p:spPr>
        <p:txBody>
          <a:bodyPr wrap="square" anchor="t" lIns="0" rIns="0" tIns="0" bIns="0">
            <a:spAutoFit/>
          </a:bodyPr>
          <a:lstStyle/>
          <a:p>
            <a:pPr algn="l">
              <a:lnSpc>
                <a:spcPct val="125000"/>
              </a:lnSpc>
              <a:spcBef>
                <a:spcPts val="0"/>
              </a:spcBef>
              <a:spcAft>
                <a:spcPts val="0"/>
              </a:spcAft>
            </a:pPr>
            <a:r>
              <a:rPr sz="1050" b="1" i="0">
                <a:solidFill>
                  <a:srgbClr val="3E8E68"/>
                </a:solidFill>
                <a:latin typeface="Inter"/>
              </a:rPr>
              <a:t>@fr2c</a:t>
            </a:r>
          </a:p>
        </p:txBody>
      </p:sp>
      <p:sp>
        <p:nvSpPr>
          <p:cNvPr id="18" name="TextBox 17"/>
          <p:cNvSpPr txBox="1"/>
          <p:nvPr/>
        </p:nvSpPr>
        <p:spPr>
          <a:xfrm>
            <a:off x="6507326" y="2871216"/>
            <a:ext cx="1859203" cy="640080"/>
          </a:xfrm>
          <a:prstGeom prst="rect">
            <a:avLst/>
          </a:prstGeom>
          <a:noFill/>
        </p:spPr>
        <p:txBody>
          <a:bodyPr wrap="square" anchor="t" lIns="0" rIns="0" tIns="0" bIns="0">
            <a:spAutoFit/>
          </a:bodyPr>
          <a:lstStyle/>
          <a:p>
            <a:pPr algn="l">
              <a:lnSpc>
                <a:spcPct val="150000"/>
              </a:lnSpc>
              <a:spcBef>
                <a:spcPts val="0"/>
              </a:spcBef>
              <a:spcAft>
                <a:spcPts val="0"/>
              </a:spcAft>
            </a:pPr>
            <a:r>
              <a:rPr sz="1150" b="0" i="0">
                <a:solidFill>
                  <a:srgbClr val="5B6B7E"/>
                </a:solidFill>
                <a:latin typeface="Inter"/>
              </a:rPr>
              <a:t>Authentification
Base de données · onboarding</a:t>
            </a:r>
          </a:p>
        </p:txBody>
      </p:sp>
      <p:sp>
        <p:nvSpPr>
          <p:cNvPr id="19" name="Rounded Rectangle 18"/>
          <p:cNvSpPr/>
          <p:nvPr/>
        </p:nvSpPr>
        <p:spPr>
          <a:xfrm>
            <a:off x="8915169" y="1920240"/>
            <a:ext cx="2407843" cy="1691640"/>
          </a:xfrm>
          <a:prstGeom prst="roundRect">
            <a:avLst>
              <a:gd name="adj" fmla="val 6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915169" y="1920240"/>
            <a:ext cx="2407843" cy="73152"/>
          </a:xfrm>
          <a:prstGeom prst="rect">
            <a:avLst/>
          </a:prstGeom>
          <a:solidFill>
            <a:srgbClr val="3E8E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189489" y="2194560"/>
            <a:ext cx="1859203" cy="320040"/>
          </a:xfrm>
          <a:prstGeom prst="rect">
            <a:avLst/>
          </a:prstGeom>
          <a:noFill/>
        </p:spPr>
        <p:txBody>
          <a:bodyPr wrap="square" anchor="t" lIns="0" rIns="0" tIns="0" bIns="0">
            <a:spAutoFit/>
          </a:bodyPr>
          <a:lstStyle/>
          <a:p>
            <a:pPr algn="l">
              <a:lnSpc>
                <a:spcPct val="125000"/>
              </a:lnSpc>
              <a:spcBef>
                <a:spcPts val="0"/>
              </a:spcBef>
              <a:spcAft>
                <a:spcPts val="0"/>
              </a:spcAft>
            </a:pPr>
            <a:r>
              <a:rPr sz="1900" b="1" i="0">
                <a:solidFill>
                  <a:srgbClr val="16233A"/>
                </a:solidFill>
                <a:latin typeface="Fraunces"/>
              </a:rPr>
              <a:t>Pierre</a:t>
            </a:r>
          </a:p>
        </p:txBody>
      </p:sp>
      <p:sp>
        <p:nvSpPr>
          <p:cNvPr id="22" name="TextBox 21"/>
          <p:cNvSpPr txBox="1"/>
          <p:nvPr/>
        </p:nvSpPr>
        <p:spPr>
          <a:xfrm>
            <a:off x="9189489" y="2542032"/>
            <a:ext cx="1859203" cy="256032"/>
          </a:xfrm>
          <a:prstGeom prst="rect">
            <a:avLst/>
          </a:prstGeom>
          <a:noFill/>
        </p:spPr>
        <p:txBody>
          <a:bodyPr wrap="square" anchor="t" lIns="0" rIns="0" tIns="0" bIns="0">
            <a:spAutoFit/>
          </a:bodyPr>
          <a:lstStyle/>
          <a:p>
            <a:pPr algn="l">
              <a:lnSpc>
                <a:spcPct val="125000"/>
              </a:lnSpc>
              <a:spcBef>
                <a:spcPts val="0"/>
              </a:spcBef>
              <a:spcAft>
                <a:spcPts val="0"/>
              </a:spcAft>
            </a:pPr>
            <a:r>
              <a:rPr sz="1050" b="1" i="0">
                <a:solidFill>
                  <a:srgbClr val="3E8E68"/>
                </a:solidFill>
                <a:latin typeface="Inter"/>
              </a:rPr>
              <a:t>@IbuprofenLover</a:t>
            </a:r>
          </a:p>
        </p:txBody>
      </p:sp>
      <p:sp>
        <p:nvSpPr>
          <p:cNvPr id="23" name="TextBox 22"/>
          <p:cNvSpPr txBox="1"/>
          <p:nvPr/>
        </p:nvSpPr>
        <p:spPr>
          <a:xfrm>
            <a:off x="9189489" y="2871216"/>
            <a:ext cx="1859203" cy="640080"/>
          </a:xfrm>
          <a:prstGeom prst="rect">
            <a:avLst/>
          </a:prstGeom>
          <a:noFill/>
        </p:spPr>
        <p:txBody>
          <a:bodyPr wrap="square" anchor="t" lIns="0" rIns="0" tIns="0" bIns="0">
            <a:spAutoFit/>
          </a:bodyPr>
          <a:lstStyle/>
          <a:p>
            <a:pPr algn="l">
              <a:lnSpc>
                <a:spcPct val="150000"/>
              </a:lnSpc>
              <a:spcBef>
                <a:spcPts val="0"/>
              </a:spcBef>
              <a:spcAft>
                <a:spcPts val="0"/>
              </a:spcAft>
            </a:pPr>
            <a:r>
              <a:rPr sz="1150" b="0" i="0">
                <a:solidFill>
                  <a:srgbClr val="5B6B7E"/>
                </a:solidFill>
                <a:latin typeface="Inter"/>
              </a:rPr>
              <a:t>Création d'activité
Messagerie · tests</a:t>
            </a:r>
          </a:p>
        </p:txBody>
      </p:sp>
      <p:sp>
        <p:nvSpPr>
          <p:cNvPr id="24" name="TextBox 23"/>
          <p:cNvSpPr txBox="1"/>
          <p:nvPr/>
        </p:nvSpPr>
        <p:spPr>
          <a:xfrm>
            <a:off x="868680" y="3840480"/>
            <a:ext cx="10454335" cy="274320"/>
          </a:xfrm>
          <a:prstGeom prst="rect">
            <a:avLst/>
          </a:prstGeom>
          <a:noFill/>
        </p:spPr>
        <p:txBody>
          <a:bodyPr wrap="square" anchor="t" lIns="0" rIns="0" tIns="0" bIns="0">
            <a:spAutoFit/>
          </a:bodyPr>
          <a:lstStyle/>
          <a:p>
            <a:pPr algn="l">
              <a:lnSpc>
                <a:spcPct val="145000"/>
              </a:lnSpc>
              <a:spcBef>
                <a:spcPts val="0"/>
              </a:spcBef>
              <a:spcAft>
                <a:spcPts val="0"/>
              </a:spcAft>
            </a:pPr>
            <a:r>
              <a:rPr sz="1300" b="0" i="0">
                <a:solidFill>
                  <a:srgbClr val="16233A"/>
                </a:solidFill>
                <a:latin typeface="Inter"/>
              </a:rPr>
              <a:t>Deux personnes par issue : la première la porte, la seconde relit. Une absence ne bloque pas un livrable. Point quotidien.</a:t>
            </a:r>
          </a:p>
        </p:txBody>
      </p:sp>
      <p:sp>
        <p:nvSpPr>
          <p:cNvPr id="25" name="Rounded Rectangle 24"/>
          <p:cNvSpPr/>
          <p:nvPr/>
        </p:nvSpPr>
        <p:spPr>
          <a:xfrm>
            <a:off x="868680" y="4343400"/>
            <a:ext cx="1321046" cy="713232"/>
          </a:xfrm>
          <a:prstGeom prst="roundRect">
            <a:avLst>
              <a:gd name="adj" fmla="val 13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68680" y="4544568"/>
            <a:ext cx="1321046" cy="310896"/>
          </a:xfrm>
          <a:prstGeom prst="rect">
            <a:avLst/>
          </a:prstGeom>
          <a:noFill/>
        </p:spPr>
        <p:txBody>
          <a:bodyPr wrap="square" anchor="t" lIns="0" rIns="0" tIns="0" bIns="0">
            <a:spAutoFit/>
          </a:bodyPr>
          <a:lstStyle/>
          <a:p>
            <a:pPr algn="ctr">
              <a:lnSpc>
                <a:spcPct val="125000"/>
              </a:lnSpc>
              <a:spcBef>
                <a:spcPts val="0"/>
              </a:spcBef>
              <a:spcAft>
                <a:spcPts val="0"/>
              </a:spcAft>
            </a:pPr>
            <a:r>
              <a:rPr sz="1200" b="1" i="0">
                <a:solidFill>
                  <a:srgbClr val="FFFFFF"/>
                </a:solidFill>
                <a:latin typeface="Inter"/>
              </a:rPr>
              <a:t>Issue</a:t>
            </a:r>
          </a:p>
        </p:txBody>
      </p:sp>
      <p:sp>
        <p:nvSpPr>
          <p:cNvPr id="27" name="TextBox 26"/>
          <p:cNvSpPr txBox="1"/>
          <p:nvPr/>
        </p:nvSpPr>
        <p:spPr>
          <a:xfrm>
            <a:off x="2189726" y="4562856"/>
            <a:ext cx="201168" cy="274320"/>
          </a:xfrm>
          <a:prstGeom prst="rect">
            <a:avLst/>
          </a:prstGeom>
          <a:noFill/>
        </p:spPr>
        <p:txBody>
          <a:bodyPr wrap="square" anchor="t" lIns="0" rIns="0" tIns="0" bIns="0">
            <a:spAutoFit/>
          </a:bodyPr>
          <a:lstStyle/>
          <a:p>
            <a:pPr algn="ctr">
              <a:lnSpc>
                <a:spcPct val="125000"/>
              </a:lnSpc>
              <a:spcBef>
                <a:spcPts val="0"/>
              </a:spcBef>
              <a:spcAft>
                <a:spcPts val="0"/>
              </a:spcAft>
            </a:pPr>
            <a:r>
              <a:rPr sz="1400" b="0" i="0">
                <a:solidFill>
                  <a:srgbClr val="8DA0B5"/>
                </a:solidFill>
                <a:latin typeface="Inter"/>
              </a:rPr>
              <a:t>›</a:t>
            </a:r>
          </a:p>
        </p:txBody>
      </p:sp>
      <p:sp>
        <p:nvSpPr>
          <p:cNvPr id="28" name="Rounded Rectangle 27"/>
          <p:cNvSpPr/>
          <p:nvPr/>
        </p:nvSpPr>
        <p:spPr>
          <a:xfrm>
            <a:off x="2390894" y="4343400"/>
            <a:ext cx="1321046" cy="713232"/>
          </a:xfrm>
          <a:prstGeom prst="roundRect">
            <a:avLst>
              <a:gd name="adj" fmla="val 13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90894" y="4544568"/>
            <a:ext cx="1321046" cy="310896"/>
          </a:xfrm>
          <a:prstGeom prst="rect">
            <a:avLst/>
          </a:prstGeom>
          <a:noFill/>
        </p:spPr>
        <p:txBody>
          <a:bodyPr wrap="square" anchor="t" lIns="0" rIns="0" tIns="0" bIns="0">
            <a:spAutoFit/>
          </a:bodyPr>
          <a:lstStyle/>
          <a:p>
            <a:pPr algn="ctr">
              <a:lnSpc>
                <a:spcPct val="125000"/>
              </a:lnSpc>
              <a:spcBef>
                <a:spcPts val="0"/>
              </a:spcBef>
              <a:spcAft>
                <a:spcPts val="0"/>
              </a:spcAft>
            </a:pPr>
            <a:r>
              <a:rPr sz="1200" b="1" i="0">
                <a:solidFill>
                  <a:srgbClr val="FFFFFF"/>
                </a:solidFill>
                <a:latin typeface="Inter"/>
              </a:rPr>
              <a:t>Branche</a:t>
            </a:r>
          </a:p>
        </p:txBody>
      </p:sp>
      <p:sp>
        <p:nvSpPr>
          <p:cNvPr id="30" name="TextBox 29"/>
          <p:cNvSpPr txBox="1"/>
          <p:nvPr/>
        </p:nvSpPr>
        <p:spPr>
          <a:xfrm>
            <a:off x="3711940" y="4562856"/>
            <a:ext cx="201168" cy="274320"/>
          </a:xfrm>
          <a:prstGeom prst="rect">
            <a:avLst/>
          </a:prstGeom>
          <a:noFill/>
        </p:spPr>
        <p:txBody>
          <a:bodyPr wrap="square" anchor="t" lIns="0" rIns="0" tIns="0" bIns="0">
            <a:spAutoFit/>
          </a:bodyPr>
          <a:lstStyle/>
          <a:p>
            <a:pPr algn="ctr">
              <a:lnSpc>
                <a:spcPct val="125000"/>
              </a:lnSpc>
              <a:spcBef>
                <a:spcPts val="0"/>
              </a:spcBef>
              <a:spcAft>
                <a:spcPts val="0"/>
              </a:spcAft>
            </a:pPr>
            <a:r>
              <a:rPr sz="1400" b="0" i="0">
                <a:solidFill>
                  <a:srgbClr val="8DA0B5"/>
                </a:solidFill>
                <a:latin typeface="Inter"/>
              </a:rPr>
              <a:t>›</a:t>
            </a:r>
          </a:p>
        </p:txBody>
      </p:sp>
      <p:sp>
        <p:nvSpPr>
          <p:cNvPr id="31" name="Rounded Rectangle 30"/>
          <p:cNvSpPr/>
          <p:nvPr/>
        </p:nvSpPr>
        <p:spPr>
          <a:xfrm>
            <a:off x="3913108" y="4343400"/>
            <a:ext cx="1321046" cy="713232"/>
          </a:xfrm>
          <a:prstGeom prst="roundRect">
            <a:avLst>
              <a:gd name="adj" fmla="val 13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13108" y="4544568"/>
            <a:ext cx="1321046" cy="310896"/>
          </a:xfrm>
          <a:prstGeom prst="rect">
            <a:avLst/>
          </a:prstGeom>
          <a:noFill/>
        </p:spPr>
        <p:txBody>
          <a:bodyPr wrap="square" anchor="t" lIns="0" rIns="0" tIns="0" bIns="0">
            <a:spAutoFit/>
          </a:bodyPr>
          <a:lstStyle/>
          <a:p>
            <a:pPr algn="ctr">
              <a:lnSpc>
                <a:spcPct val="125000"/>
              </a:lnSpc>
              <a:spcBef>
                <a:spcPts val="0"/>
              </a:spcBef>
              <a:spcAft>
                <a:spcPts val="0"/>
              </a:spcAft>
            </a:pPr>
            <a:r>
              <a:rPr sz="1200" b="1" i="0">
                <a:solidFill>
                  <a:srgbClr val="FFFFFF"/>
                </a:solidFill>
                <a:latin typeface="Inter"/>
              </a:rPr>
              <a:t>Commits</a:t>
            </a:r>
          </a:p>
        </p:txBody>
      </p:sp>
      <p:sp>
        <p:nvSpPr>
          <p:cNvPr id="33" name="TextBox 32"/>
          <p:cNvSpPr txBox="1"/>
          <p:nvPr/>
        </p:nvSpPr>
        <p:spPr>
          <a:xfrm>
            <a:off x="5234154" y="4562856"/>
            <a:ext cx="201168" cy="274320"/>
          </a:xfrm>
          <a:prstGeom prst="rect">
            <a:avLst/>
          </a:prstGeom>
          <a:noFill/>
        </p:spPr>
        <p:txBody>
          <a:bodyPr wrap="square" anchor="t" lIns="0" rIns="0" tIns="0" bIns="0">
            <a:spAutoFit/>
          </a:bodyPr>
          <a:lstStyle/>
          <a:p>
            <a:pPr algn="ctr">
              <a:lnSpc>
                <a:spcPct val="125000"/>
              </a:lnSpc>
              <a:spcBef>
                <a:spcPts val="0"/>
              </a:spcBef>
              <a:spcAft>
                <a:spcPts val="0"/>
              </a:spcAft>
            </a:pPr>
            <a:r>
              <a:rPr sz="1400" b="0" i="0">
                <a:solidFill>
                  <a:srgbClr val="8DA0B5"/>
                </a:solidFill>
                <a:latin typeface="Inter"/>
              </a:rPr>
              <a:t>›</a:t>
            </a:r>
          </a:p>
        </p:txBody>
      </p:sp>
      <p:sp>
        <p:nvSpPr>
          <p:cNvPr id="34" name="Rounded Rectangle 33"/>
          <p:cNvSpPr/>
          <p:nvPr/>
        </p:nvSpPr>
        <p:spPr>
          <a:xfrm>
            <a:off x="5435322" y="4343400"/>
            <a:ext cx="1321046" cy="713232"/>
          </a:xfrm>
          <a:prstGeom prst="roundRect">
            <a:avLst>
              <a:gd name="adj" fmla="val 13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435322" y="4544568"/>
            <a:ext cx="1321046" cy="310896"/>
          </a:xfrm>
          <a:prstGeom prst="rect">
            <a:avLst/>
          </a:prstGeom>
          <a:noFill/>
        </p:spPr>
        <p:txBody>
          <a:bodyPr wrap="square" anchor="t" lIns="0" rIns="0" tIns="0" bIns="0">
            <a:spAutoFit/>
          </a:bodyPr>
          <a:lstStyle/>
          <a:p>
            <a:pPr algn="ctr">
              <a:lnSpc>
                <a:spcPct val="125000"/>
              </a:lnSpc>
              <a:spcBef>
                <a:spcPts val="0"/>
              </a:spcBef>
              <a:spcAft>
                <a:spcPts val="0"/>
              </a:spcAft>
            </a:pPr>
            <a:r>
              <a:rPr sz="1200" b="1" i="0">
                <a:solidFill>
                  <a:srgbClr val="FFFFFF"/>
                </a:solidFill>
                <a:latin typeface="Inter"/>
              </a:rPr>
              <a:t>Pull request</a:t>
            </a:r>
          </a:p>
        </p:txBody>
      </p:sp>
      <p:sp>
        <p:nvSpPr>
          <p:cNvPr id="36" name="TextBox 35"/>
          <p:cNvSpPr txBox="1"/>
          <p:nvPr/>
        </p:nvSpPr>
        <p:spPr>
          <a:xfrm>
            <a:off x="6756368" y="4562856"/>
            <a:ext cx="201168" cy="274320"/>
          </a:xfrm>
          <a:prstGeom prst="rect">
            <a:avLst/>
          </a:prstGeom>
          <a:noFill/>
        </p:spPr>
        <p:txBody>
          <a:bodyPr wrap="square" anchor="t" lIns="0" rIns="0" tIns="0" bIns="0">
            <a:spAutoFit/>
          </a:bodyPr>
          <a:lstStyle/>
          <a:p>
            <a:pPr algn="ctr">
              <a:lnSpc>
                <a:spcPct val="125000"/>
              </a:lnSpc>
              <a:spcBef>
                <a:spcPts val="0"/>
              </a:spcBef>
              <a:spcAft>
                <a:spcPts val="0"/>
              </a:spcAft>
            </a:pPr>
            <a:r>
              <a:rPr sz="1400" b="0" i="0">
                <a:solidFill>
                  <a:srgbClr val="8DA0B5"/>
                </a:solidFill>
                <a:latin typeface="Inter"/>
              </a:rPr>
              <a:t>›</a:t>
            </a:r>
          </a:p>
        </p:txBody>
      </p:sp>
      <p:sp>
        <p:nvSpPr>
          <p:cNvPr id="37" name="Rounded Rectangle 36"/>
          <p:cNvSpPr/>
          <p:nvPr/>
        </p:nvSpPr>
        <p:spPr>
          <a:xfrm>
            <a:off x="6957536" y="4343400"/>
            <a:ext cx="1321046" cy="713232"/>
          </a:xfrm>
          <a:prstGeom prst="roundRect">
            <a:avLst>
              <a:gd name="adj" fmla="val 13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957536" y="4544568"/>
            <a:ext cx="1321046" cy="310896"/>
          </a:xfrm>
          <a:prstGeom prst="rect">
            <a:avLst/>
          </a:prstGeom>
          <a:noFill/>
        </p:spPr>
        <p:txBody>
          <a:bodyPr wrap="square" anchor="t" lIns="0" rIns="0" tIns="0" bIns="0">
            <a:spAutoFit/>
          </a:bodyPr>
          <a:lstStyle/>
          <a:p>
            <a:pPr algn="ctr">
              <a:lnSpc>
                <a:spcPct val="125000"/>
              </a:lnSpc>
              <a:spcBef>
                <a:spcPts val="0"/>
              </a:spcBef>
              <a:spcAft>
                <a:spcPts val="0"/>
              </a:spcAft>
            </a:pPr>
            <a:r>
              <a:rPr sz="1200" b="1" i="0">
                <a:solidFill>
                  <a:srgbClr val="FFFFFF"/>
                </a:solidFill>
                <a:latin typeface="Inter"/>
              </a:rPr>
              <a:t>Relecture</a:t>
            </a:r>
          </a:p>
        </p:txBody>
      </p:sp>
      <p:sp>
        <p:nvSpPr>
          <p:cNvPr id="39" name="TextBox 38"/>
          <p:cNvSpPr txBox="1"/>
          <p:nvPr/>
        </p:nvSpPr>
        <p:spPr>
          <a:xfrm>
            <a:off x="8278582" y="4562856"/>
            <a:ext cx="201168" cy="274320"/>
          </a:xfrm>
          <a:prstGeom prst="rect">
            <a:avLst/>
          </a:prstGeom>
          <a:noFill/>
        </p:spPr>
        <p:txBody>
          <a:bodyPr wrap="square" anchor="t" lIns="0" rIns="0" tIns="0" bIns="0">
            <a:spAutoFit/>
          </a:bodyPr>
          <a:lstStyle/>
          <a:p>
            <a:pPr algn="ctr">
              <a:lnSpc>
                <a:spcPct val="125000"/>
              </a:lnSpc>
              <a:spcBef>
                <a:spcPts val="0"/>
              </a:spcBef>
              <a:spcAft>
                <a:spcPts val="0"/>
              </a:spcAft>
            </a:pPr>
            <a:r>
              <a:rPr sz="1400" b="0" i="0">
                <a:solidFill>
                  <a:srgbClr val="8DA0B5"/>
                </a:solidFill>
                <a:latin typeface="Inter"/>
              </a:rPr>
              <a:t>›</a:t>
            </a:r>
          </a:p>
        </p:txBody>
      </p:sp>
      <p:sp>
        <p:nvSpPr>
          <p:cNvPr id="40" name="Rounded Rectangle 39"/>
          <p:cNvSpPr/>
          <p:nvPr/>
        </p:nvSpPr>
        <p:spPr>
          <a:xfrm>
            <a:off x="8479750" y="4343400"/>
            <a:ext cx="1321046" cy="713232"/>
          </a:xfrm>
          <a:prstGeom prst="roundRect">
            <a:avLst>
              <a:gd name="adj" fmla="val 13000"/>
            </a:avLst>
          </a:prstGeom>
          <a:solidFill>
            <a:srgbClr val="2E6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79750" y="4544568"/>
            <a:ext cx="1321046" cy="310896"/>
          </a:xfrm>
          <a:prstGeom prst="rect">
            <a:avLst/>
          </a:prstGeom>
          <a:noFill/>
        </p:spPr>
        <p:txBody>
          <a:bodyPr wrap="square" anchor="t" lIns="0" rIns="0" tIns="0" bIns="0">
            <a:spAutoFit/>
          </a:bodyPr>
          <a:lstStyle/>
          <a:p>
            <a:pPr algn="ctr">
              <a:lnSpc>
                <a:spcPct val="125000"/>
              </a:lnSpc>
              <a:spcBef>
                <a:spcPts val="0"/>
              </a:spcBef>
              <a:spcAft>
                <a:spcPts val="0"/>
              </a:spcAft>
            </a:pPr>
            <a:r>
              <a:rPr sz="1200" b="1" i="0">
                <a:solidFill>
                  <a:srgbClr val="FFFFFF"/>
                </a:solidFill>
                <a:latin typeface="Inter"/>
              </a:rPr>
              <a:t>staging</a:t>
            </a:r>
          </a:p>
        </p:txBody>
      </p:sp>
      <p:sp>
        <p:nvSpPr>
          <p:cNvPr id="42" name="TextBox 41"/>
          <p:cNvSpPr txBox="1"/>
          <p:nvPr/>
        </p:nvSpPr>
        <p:spPr>
          <a:xfrm>
            <a:off x="9800796" y="4562856"/>
            <a:ext cx="201168" cy="274320"/>
          </a:xfrm>
          <a:prstGeom prst="rect">
            <a:avLst/>
          </a:prstGeom>
          <a:noFill/>
        </p:spPr>
        <p:txBody>
          <a:bodyPr wrap="square" anchor="t" lIns="0" rIns="0" tIns="0" bIns="0">
            <a:spAutoFit/>
          </a:bodyPr>
          <a:lstStyle/>
          <a:p>
            <a:pPr algn="ctr">
              <a:lnSpc>
                <a:spcPct val="125000"/>
              </a:lnSpc>
              <a:spcBef>
                <a:spcPts val="0"/>
              </a:spcBef>
              <a:spcAft>
                <a:spcPts val="0"/>
              </a:spcAft>
            </a:pPr>
            <a:r>
              <a:rPr sz="1400" b="0" i="0">
                <a:solidFill>
                  <a:srgbClr val="8DA0B5"/>
                </a:solidFill>
                <a:latin typeface="Inter"/>
              </a:rPr>
              <a:t>›</a:t>
            </a:r>
          </a:p>
        </p:txBody>
      </p:sp>
      <p:sp>
        <p:nvSpPr>
          <p:cNvPr id="43" name="Rounded Rectangle 42"/>
          <p:cNvSpPr/>
          <p:nvPr/>
        </p:nvSpPr>
        <p:spPr>
          <a:xfrm>
            <a:off x="10001964" y="4343400"/>
            <a:ext cx="1321046" cy="713232"/>
          </a:xfrm>
          <a:prstGeom prst="roundRect">
            <a:avLst>
              <a:gd name="adj" fmla="val 13000"/>
            </a:avLst>
          </a:prstGeom>
          <a:solidFill>
            <a:srgbClr val="2E6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10001964" y="4544568"/>
            <a:ext cx="1321046" cy="310896"/>
          </a:xfrm>
          <a:prstGeom prst="rect">
            <a:avLst/>
          </a:prstGeom>
          <a:noFill/>
        </p:spPr>
        <p:txBody>
          <a:bodyPr wrap="square" anchor="t" lIns="0" rIns="0" tIns="0" bIns="0">
            <a:spAutoFit/>
          </a:bodyPr>
          <a:lstStyle/>
          <a:p>
            <a:pPr algn="ctr">
              <a:lnSpc>
                <a:spcPct val="125000"/>
              </a:lnSpc>
              <a:spcBef>
                <a:spcPts val="0"/>
              </a:spcBef>
              <a:spcAft>
                <a:spcPts val="0"/>
              </a:spcAft>
            </a:pPr>
            <a:r>
              <a:rPr sz="1200" b="1" i="0">
                <a:solidFill>
                  <a:srgbClr val="FFFFFF"/>
                </a:solidFill>
                <a:latin typeface="Inter"/>
              </a:rPr>
              <a:t>main</a:t>
            </a:r>
          </a:p>
        </p:txBody>
      </p:sp>
      <p:sp>
        <p:nvSpPr>
          <p:cNvPr id="45" name="TextBox 44"/>
          <p:cNvSpPr txBox="1"/>
          <p:nvPr/>
        </p:nvSpPr>
        <p:spPr>
          <a:xfrm>
            <a:off x="868680" y="5285232"/>
            <a:ext cx="3301898" cy="256032"/>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Une branche par issue</a:t>
            </a:r>
          </a:p>
        </p:txBody>
      </p:sp>
      <p:sp>
        <p:nvSpPr>
          <p:cNvPr id="46" name="TextBox 45"/>
          <p:cNvSpPr txBox="1"/>
          <p:nvPr/>
        </p:nvSpPr>
        <p:spPr>
          <a:xfrm>
            <a:off x="868680" y="5559552"/>
            <a:ext cx="3301898" cy="731520"/>
          </a:xfrm>
          <a:prstGeom prst="rect">
            <a:avLst/>
          </a:prstGeom>
          <a:noFill/>
        </p:spPr>
        <p:txBody>
          <a:bodyPr wrap="square" anchor="t" lIns="0" rIns="0" tIns="0" bIns="0">
            <a:spAutoFit/>
          </a:bodyPr>
          <a:lstStyle/>
          <a:p>
            <a:pPr algn="l">
              <a:lnSpc>
                <a:spcPct val="145000"/>
              </a:lnSpc>
              <a:spcBef>
                <a:spcPts val="0"/>
              </a:spcBef>
              <a:spcAft>
                <a:spcPts val="0"/>
              </a:spcAft>
            </a:pPr>
            <a:r>
              <a:rPr sz="1150" b="0" i="0">
                <a:solidFill>
                  <a:srgbClr val="5B6B7E"/>
                </a:solidFill>
                <a:latin typeface="Inter"/>
              </a:rPr>
              <a:t>Créée depuis GitHub : le nom porte le numéro, l'issue se ferme à la fusion.</a:t>
            </a:r>
          </a:p>
        </p:txBody>
      </p:sp>
      <p:sp>
        <p:nvSpPr>
          <p:cNvPr id="47" name="TextBox 46"/>
          <p:cNvSpPr txBox="1"/>
          <p:nvPr/>
        </p:nvSpPr>
        <p:spPr>
          <a:xfrm>
            <a:off x="4444898" y="5285232"/>
            <a:ext cx="3301898" cy="256032"/>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Deux branches protégées</a:t>
            </a:r>
          </a:p>
        </p:txBody>
      </p:sp>
      <p:sp>
        <p:nvSpPr>
          <p:cNvPr id="48" name="TextBox 47"/>
          <p:cNvSpPr txBox="1"/>
          <p:nvPr/>
        </p:nvSpPr>
        <p:spPr>
          <a:xfrm>
            <a:off x="4444898" y="5559552"/>
            <a:ext cx="3301898" cy="731520"/>
          </a:xfrm>
          <a:prstGeom prst="rect">
            <a:avLst/>
          </a:prstGeom>
          <a:noFill/>
        </p:spPr>
        <p:txBody>
          <a:bodyPr wrap="square" anchor="t" lIns="0" rIns="0" tIns="0" bIns="0">
            <a:spAutoFit/>
          </a:bodyPr>
          <a:lstStyle/>
          <a:p>
            <a:pPr algn="l">
              <a:lnSpc>
                <a:spcPct val="145000"/>
              </a:lnSpc>
              <a:spcBef>
                <a:spcPts val="0"/>
              </a:spcBef>
              <a:spcAft>
                <a:spcPts val="0"/>
              </a:spcAft>
            </a:pPr>
            <a:r>
              <a:rPr sz="1150" b="0" i="0">
                <a:solidFill>
                  <a:srgbClr val="5B6B7E"/>
                </a:solidFill>
                <a:latin typeface="Inter"/>
              </a:rPr>
              <a:t>Push direct, force push et suppression refusés sur staging et main, propriétaire compris.</a:t>
            </a:r>
          </a:p>
        </p:txBody>
      </p:sp>
      <p:sp>
        <p:nvSpPr>
          <p:cNvPr id="49" name="TextBox 48"/>
          <p:cNvSpPr txBox="1"/>
          <p:nvPr/>
        </p:nvSpPr>
        <p:spPr>
          <a:xfrm>
            <a:off x="8021116" y="5285232"/>
            <a:ext cx="3301898" cy="256032"/>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Personne ne fusionne seul</a:t>
            </a:r>
          </a:p>
        </p:txBody>
      </p:sp>
      <p:sp>
        <p:nvSpPr>
          <p:cNvPr id="50" name="TextBox 49"/>
          <p:cNvSpPr txBox="1"/>
          <p:nvPr/>
        </p:nvSpPr>
        <p:spPr>
          <a:xfrm>
            <a:off x="8021116" y="5559552"/>
            <a:ext cx="3301898" cy="731520"/>
          </a:xfrm>
          <a:prstGeom prst="rect">
            <a:avLst/>
          </a:prstGeom>
          <a:noFill/>
        </p:spPr>
        <p:txBody>
          <a:bodyPr wrap="square" anchor="t" lIns="0" rIns="0" tIns="0" bIns="0">
            <a:spAutoFit/>
          </a:bodyPr>
          <a:lstStyle/>
          <a:p>
            <a:pPr algn="l">
              <a:lnSpc>
                <a:spcPct val="145000"/>
              </a:lnSpc>
              <a:spcBef>
                <a:spcPts val="0"/>
              </a:spcBef>
              <a:spcAft>
                <a:spcPts val="0"/>
              </a:spcAft>
            </a:pPr>
            <a:r>
              <a:rPr sz="1150" b="0" i="0">
                <a:solidFill>
                  <a:srgbClr val="5B6B7E"/>
                </a:solidFill>
                <a:latin typeface="Inter"/>
              </a:rPr>
              <a:t>main exige une approbation, et nul ne peut approuver sa propre pull request.</a:t>
            </a:r>
          </a:p>
        </p:txBody>
      </p:sp>
      <p:sp>
        <p:nvSpPr>
          <p:cNvPr id="51" name="TextBox 50"/>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5B6B7E"/>
                </a:solidFill>
                <a:latin typeface="Inte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3E8E68"/>
                </a:solidFill>
                <a:latin typeface="Inter"/>
              </a:rPr>
              <a:t>ARCHITECTURE ET CHOIX TECHNIQUES</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200" b="1" i="0">
                <a:solidFill>
                  <a:srgbClr val="16233A"/>
                </a:solidFill>
                <a:latin typeface="Fraunces"/>
              </a:rPr>
              <a:t>Une base de code, deux applications natives</a:t>
            </a:r>
          </a:p>
        </p:txBody>
      </p:sp>
      <p:sp>
        <p:nvSpPr>
          <p:cNvPr id="4" name="Rounded Rectangle 3"/>
          <p:cNvSpPr/>
          <p:nvPr/>
        </p:nvSpPr>
        <p:spPr>
          <a:xfrm>
            <a:off x="868680" y="2011680"/>
            <a:ext cx="2094826" cy="777240"/>
          </a:xfrm>
          <a:prstGeom prst="roundRect">
            <a:avLst>
              <a:gd name="adj" fmla="val 9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8680" y="2176272"/>
            <a:ext cx="2094826" cy="274320"/>
          </a:xfrm>
          <a:prstGeom prst="rect">
            <a:avLst/>
          </a:prstGeom>
          <a:noFill/>
        </p:spPr>
        <p:txBody>
          <a:bodyPr wrap="square" anchor="t" lIns="0" rIns="0" tIns="0" bIns="0">
            <a:spAutoFit/>
          </a:bodyPr>
          <a:lstStyle/>
          <a:p>
            <a:pPr algn="ctr">
              <a:lnSpc>
                <a:spcPct val="125000"/>
              </a:lnSpc>
              <a:spcBef>
                <a:spcPts val="0"/>
              </a:spcBef>
              <a:spcAft>
                <a:spcPts val="0"/>
              </a:spcAft>
            </a:pPr>
            <a:r>
              <a:rPr sz="1350" b="1" i="0">
                <a:solidFill>
                  <a:srgbClr val="16233A"/>
                </a:solidFill>
                <a:latin typeface="Inter"/>
              </a:rPr>
              <a:t>Android</a:t>
            </a:r>
          </a:p>
        </p:txBody>
      </p:sp>
      <p:sp>
        <p:nvSpPr>
          <p:cNvPr id="6" name="TextBox 5"/>
          <p:cNvSpPr txBox="1"/>
          <p:nvPr/>
        </p:nvSpPr>
        <p:spPr>
          <a:xfrm>
            <a:off x="868680" y="2450592"/>
            <a:ext cx="2094826" cy="237744"/>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5B6B7E"/>
                </a:solidFill>
                <a:latin typeface="Inter"/>
              </a:rPr>
              <a:t>MainActivity</a:t>
            </a:r>
          </a:p>
        </p:txBody>
      </p:sp>
      <p:sp>
        <p:nvSpPr>
          <p:cNvPr id="7" name="Rounded Rectangle 6"/>
          <p:cNvSpPr/>
          <p:nvPr/>
        </p:nvSpPr>
        <p:spPr>
          <a:xfrm>
            <a:off x="3164674" y="2011680"/>
            <a:ext cx="2094826" cy="777240"/>
          </a:xfrm>
          <a:prstGeom prst="roundRect">
            <a:avLst>
              <a:gd name="adj" fmla="val 9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3164674" y="2176272"/>
            <a:ext cx="2094826" cy="274320"/>
          </a:xfrm>
          <a:prstGeom prst="rect">
            <a:avLst/>
          </a:prstGeom>
          <a:noFill/>
        </p:spPr>
        <p:txBody>
          <a:bodyPr wrap="square" anchor="t" lIns="0" rIns="0" tIns="0" bIns="0">
            <a:spAutoFit/>
          </a:bodyPr>
          <a:lstStyle/>
          <a:p>
            <a:pPr algn="ctr">
              <a:lnSpc>
                <a:spcPct val="125000"/>
              </a:lnSpc>
              <a:spcBef>
                <a:spcPts val="0"/>
              </a:spcBef>
              <a:spcAft>
                <a:spcPts val="0"/>
              </a:spcAft>
            </a:pPr>
            <a:r>
              <a:rPr sz="1350" b="1" i="0">
                <a:solidFill>
                  <a:srgbClr val="16233A"/>
                </a:solidFill>
                <a:latin typeface="Inter"/>
              </a:rPr>
              <a:t>iOS</a:t>
            </a:r>
          </a:p>
        </p:txBody>
      </p:sp>
      <p:sp>
        <p:nvSpPr>
          <p:cNvPr id="9" name="TextBox 8"/>
          <p:cNvSpPr txBox="1"/>
          <p:nvPr/>
        </p:nvSpPr>
        <p:spPr>
          <a:xfrm>
            <a:off x="3164674" y="2450592"/>
            <a:ext cx="2094826" cy="237744"/>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5B6B7E"/>
                </a:solidFill>
                <a:latin typeface="Inter"/>
              </a:rPr>
              <a:t>Enveloppe SwiftUI</a:t>
            </a:r>
          </a:p>
        </p:txBody>
      </p:sp>
      <p:sp>
        <p:nvSpPr>
          <p:cNvPr id="10" name="Rounded Rectangle 9"/>
          <p:cNvSpPr/>
          <p:nvPr/>
        </p:nvSpPr>
        <p:spPr>
          <a:xfrm>
            <a:off x="868680" y="3063240"/>
            <a:ext cx="4390820" cy="1188720"/>
          </a:xfrm>
          <a:prstGeom prst="roundRect">
            <a:avLst>
              <a:gd name="adj" fmla="val 6000"/>
            </a:avLst>
          </a:prstGeom>
          <a:solidFill>
            <a:srgbClr val="3E8E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68680" y="3273552"/>
            <a:ext cx="4390820" cy="292608"/>
          </a:xfrm>
          <a:prstGeom prst="rect">
            <a:avLst/>
          </a:prstGeom>
          <a:noFill/>
        </p:spPr>
        <p:txBody>
          <a:bodyPr wrap="square" anchor="t" lIns="0" rIns="0" tIns="0" bIns="0">
            <a:spAutoFit/>
          </a:bodyPr>
          <a:lstStyle/>
          <a:p>
            <a:pPr algn="ctr">
              <a:lnSpc>
                <a:spcPct val="125000"/>
              </a:lnSpc>
              <a:spcBef>
                <a:spcPts val="0"/>
              </a:spcBef>
              <a:spcAft>
                <a:spcPts val="0"/>
              </a:spcAft>
            </a:pPr>
            <a:r>
              <a:rPr sz="1400" b="1" i="0">
                <a:solidFill>
                  <a:srgbClr val="FFFFFF"/>
                </a:solidFill>
                <a:latin typeface="Inter"/>
              </a:rPr>
              <a:t>shared — Kotlin Multiplatform</a:t>
            </a:r>
          </a:p>
        </p:txBody>
      </p:sp>
      <p:sp>
        <p:nvSpPr>
          <p:cNvPr id="12" name="TextBox 11"/>
          <p:cNvSpPr txBox="1"/>
          <p:nvPr/>
        </p:nvSpPr>
        <p:spPr>
          <a:xfrm>
            <a:off x="868680" y="3602736"/>
            <a:ext cx="4390820" cy="548640"/>
          </a:xfrm>
          <a:prstGeom prst="rect">
            <a:avLst/>
          </a:prstGeom>
          <a:noFill/>
        </p:spPr>
        <p:txBody>
          <a:bodyPr wrap="square" anchor="t" lIns="0" rIns="0" tIns="0" bIns="0">
            <a:spAutoFit/>
          </a:bodyPr>
          <a:lstStyle/>
          <a:p>
            <a:pPr algn="ctr">
              <a:lnSpc>
                <a:spcPct val="125000"/>
              </a:lnSpc>
              <a:spcBef>
                <a:spcPts val="0"/>
              </a:spcBef>
              <a:spcAft>
                <a:spcPts val="0"/>
              </a:spcAft>
            </a:pPr>
            <a:r>
              <a:rPr sz="1100" b="0" i="0">
                <a:solidFill>
                  <a:srgbClr val="E7F1EC"/>
                </a:solidFill>
                <a:latin typeface="Inter"/>
              </a:rPr>
              <a:t>interface · navigation · modèle · données</a:t>
            </a:r>
          </a:p>
          <a:p>
            <a:pPr algn="ctr">
              <a:lnSpc>
                <a:spcPct val="125000"/>
              </a:lnSpc>
              <a:spcBef>
                <a:spcPts val="300"/>
              </a:spcBef>
              <a:spcAft>
                <a:spcPts val="0"/>
              </a:spcAft>
            </a:pPr>
            <a:r>
              <a:rPr sz="1100" b="1" i="0">
                <a:solidFill>
                  <a:srgbClr val="FFFFFF"/>
                </a:solidFill>
                <a:latin typeface="Inter"/>
              </a:rPr>
              <a:t>l'essentiel du code, écrit une seule fois</a:t>
            </a:r>
          </a:p>
        </p:txBody>
      </p:sp>
      <p:sp>
        <p:nvSpPr>
          <p:cNvPr id="13" name="Rounded Rectangle 12"/>
          <p:cNvSpPr/>
          <p:nvPr/>
        </p:nvSpPr>
        <p:spPr>
          <a:xfrm>
            <a:off x="868680" y="4526280"/>
            <a:ext cx="4390820" cy="109728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4736592"/>
            <a:ext cx="4390820" cy="274320"/>
          </a:xfrm>
          <a:prstGeom prst="rect">
            <a:avLst/>
          </a:prstGeom>
          <a:noFill/>
        </p:spPr>
        <p:txBody>
          <a:bodyPr wrap="square" anchor="t" lIns="0" rIns="0" tIns="0" bIns="0">
            <a:spAutoFit/>
          </a:bodyPr>
          <a:lstStyle/>
          <a:p>
            <a:pPr algn="ctr">
              <a:lnSpc>
                <a:spcPct val="125000"/>
              </a:lnSpc>
              <a:spcBef>
                <a:spcPts val="0"/>
              </a:spcBef>
              <a:spcAft>
                <a:spcPts val="0"/>
              </a:spcAft>
            </a:pPr>
            <a:r>
              <a:rPr sz="1400" b="1" i="0">
                <a:solidFill>
                  <a:srgbClr val="FFFFFF"/>
                </a:solidFill>
                <a:latin typeface="Inter"/>
              </a:rPr>
              <a:t>Supabase</a:t>
            </a:r>
          </a:p>
        </p:txBody>
      </p:sp>
      <p:sp>
        <p:nvSpPr>
          <p:cNvPr id="15" name="TextBox 14"/>
          <p:cNvSpPr txBox="1"/>
          <p:nvPr/>
        </p:nvSpPr>
        <p:spPr>
          <a:xfrm>
            <a:off x="868680" y="5047488"/>
            <a:ext cx="4390820" cy="457200"/>
          </a:xfrm>
          <a:prstGeom prst="rect">
            <a:avLst/>
          </a:prstGeom>
          <a:noFill/>
        </p:spPr>
        <p:txBody>
          <a:bodyPr wrap="square" anchor="t" lIns="0" rIns="0" tIns="0" bIns="0">
            <a:spAutoFit/>
          </a:bodyPr>
          <a:lstStyle/>
          <a:p>
            <a:pPr algn="ctr">
              <a:lnSpc>
                <a:spcPct val="125000"/>
              </a:lnSpc>
              <a:spcBef>
                <a:spcPts val="0"/>
              </a:spcBef>
              <a:spcAft>
                <a:spcPts val="0"/>
              </a:spcAft>
            </a:pPr>
            <a:r>
              <a:rPr sz="1100" b="0" i="0">
                <a:solidFill>
                  <a:srgbClr val="8DA0B5"/>
                </a:solidFill>
                <a:latin typeface="Inter"/>
              </a:rPr>
              <a:t>PostgreSQL + PostGIS · Auth · Storage · Realtime</a:t>
            </a:r>
          </a:p>
        </p:txBody>
      </p:sp>
      <p:sp>
        <p:nvSpPr>
          <p:cNvPr id="16" name="TextBox 15"/>
          <p:cNvSpPr txBox="1"/>
          <p:nvPr/>
        </p:nvSpPr>
        <p:spPr>
          <a:xfrm>
            <a:off x="868680" y="5806440"/>
            <a:ext cx="4390820" cy="457200"/>
          </a:xfrm>
          <a:prstGeom prst="rect">
            <a:avLst/>
          </a:prstGeom>
          <a:noFill/>
        </p:spPr>
        <p:txBody>
          <a:bodyPr wrap="square" anchor="t" lIns="0" rIns="0" tIns="0" bIns="0">
            <a:spAutoFit/>
          </a:bodyPr>
          <a:lstStyle/>
          <a:p>
            <a:pPr algn="ctr">
              <a:lnSpc>
                <a:spcPct val="145000"/>
              </a:lnSpc>
              <a:spcBef>
                <a:spcPts val="0"/>
              </a:spcBef>
              <a:spcAft>
                <a:spcPts val="0"/>
              </a:spcAft>
            </a:pPr>
            <a:r>
              <a:rPr sz="1150" b="0" i="0">
                <a:solidFill>
                  <a:srgbClr val="5B6B7E"/>
                </a:solidFill>
                <a:latin typeface="Inter"/>
              </a:rPr>
              <a:t>Seuls la carte et la position sont spécifiques à une plateforme, derrière expect / actual.</a:t>
            </a:r>
          </a:p>
        </p:txBody>
      </p:sp>
      <p:sp>
        <p:nvSpPr>
          <p:cNvPr id="17" name="TextBox 16"/>
          <p:cNvSpPr txBox="1"/>
          <p:nvPr/>
        </p:nvSpPr>
        <p:spPr>
          <a:xfrm>
            <a:off x="5762420" y="2011680"/>
            <a:ext cx="5560595" cy="237744"/>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Kotlin Multiplatform 2.4.10</a:t>
            </a:r>
          </a:p>
        </p:txBody>
      </p:sp>
      <p:sp>
        <p:nvSpPr>
          <p:cNvPr id="18" name="TextBox 17"/>
          <p:cNvSpPr txBox="1"/>
          <p:nvPr/>
        </p:nvSpPr>
        <p:spPr>
          <a:xfrm>
            <a:off x="5762420" y="2286000"/>
            <a:ext cx="5560595" cy="365760"/>
          </a:xfrm>
          <a:prstGeom prst="rect">
            <a:avLst/>
          </a:prstGeom>
          <a:noFill/>
        </p:spPr>
        <p:txBody>
          <a:bodyPr wrap="square" anchor="t" lIns="0" rIns="0" tIns="0" bIns="0">
            <a:spAutoFit/>
          </a:bodyPr>
          <a:lstStyle/>
          <a:p>
            <a:pPr algn="l">
              <a:lnSpc>
                <a:spcPct val="140000"/>
              </a:lnSpc>
              <a:spcBef>
                <a:spcPts val="0"/>
              </a:spcBef>
              <a:spcAft>
                <a:spcPts val="0"/>
              </a:spcAft>
            </a:pPr>
            <a:r>
              <a:rPr sz="1150" b="0" i="0">
                <a:solidFill>
                  <a:srgbClr val="5B6B7E"/>
                </a:solidFill>
                <a:latin typeface="Inter"/>
              </a:rPr>
              <a:t>Deux plateformes exigées, quatre personnes, trois semaines.</a:t>
            </a:r>
          </a:p>
        </p:txBody>
      </p:sp>
      <p:sp>
        <p:nvSpPr>
          <p:cNvPr id="19" name="TextBox 18"/>
          <p:cNvSpPr txBox="1"/>
          <p:nvPr/>
        </p:nvSpPr>
        <p:spPr>
          <a:xfrm>
            <a:off x="5762420" y="2688336"/>
            <a:ext cx="5560595" cy="237744"/>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Compose Multiplatform 1.11.1</a:t>
            </a:r>
          </a:p>
        </p:txBody>
      </p:sp>
      <p:sp>
        <p:nvSpPr>
          <p:cNvPr id="20" name="TextBox 19"/>
          <p:cNvSpPr txBox="1"/>
          <p:nvPr/>
        </p:nvSpPr>
        <p:spPr>
          <a:xfrm>
            <a:off x="5762420" y="2962656"/>
            <a:ext cx="5560595" cy="365760"/>
          </a:xfrm>
          <a:prstGeom prst="rect">
            <a:avLst/>
          </a:prstGeom>
          <a:noFill/>
        </p:spPr>
        <p:txBody>
          <a:bodyPr wrap="square" anchor="t" lIns="0" rIns="0" tIns="0" bIns="0">
            <a:spAutoFit/>
          </a:bodyPr>
          <a:lstStyle/>
          <a:p>
            <a:pPr algn="l">
              <a:lnSpc>
                <a:spcPct val="140000"/>
              </a:lnSpc>
              <a:spcBef>
                <a:spcPts val="0"/>
              </a:spcBef>
              <a:spcAft>
                <a:spcPts val="0"/>
              </a:spcAft>
            </a:pPr>
            <a:r>
              <a:rPr sz="1150" b="0" i="0">
                <a:solidFill>
                  <a:srgbClr val="5B6B7E"/>
                </a:solidFill>
                <a:latin typeface="Inter"/>
              </a:rPr>
              <a:t>Partage aussi l'interface, pas seulement la logique métier.</a:t>
            </a:r>
          </a:p>
        </p:txBody>
      </p:sp>
      <p:sp>
        <p:nvSpPr>
          <p:cNvPr id="21" name="TextBox 20"/>
          <p:cNvSpPr txBox="1"/>
          <p:nvPr/>
        </p:nvSpPr>
        <p:spPr>
          <a:xfrm>
            <a:off x="5762420" y="3364992"/>
            <a:ext cx="5560595" cy="237744"/>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Supabase 3.7.0</a:t>
            </a:r>
          </a:p>
        </p:txBody>
      </p:sp>
      <p:sp>
        <p:nvSpPr>
          <p:cNvPr id="22" name="TextBox 21"/>
          <p:cNvSpPr txBox="1"/>
          <p:nvPr/>
        </p:nvSpPr>
        <p:spPr>
          <a:xfrm>
            <a:off x="5762420" y="3639312"/>
            <a:ext cx="5560595" cy="365760"/>
          </a:xfrm>
          <a:prstGeom prst="rect">
            <a:avLst/>
          </a:prstGeom>
          <a:noFill/>
        </p:spPr>
        <p:txBody>
          <a:bodyPr wrap="square" anchor="t" lIns="0" rIns="0" tIns="0" bIns="0">
            <a:spAutoFit/>
          </a:bodyPr>
          <a:lstStyle/>
          <a:p>
            <a:pPr algn="l">
              <a:lnSpc>
                <a:spcPct val="140000"/>
              </a:lnSpc>
              <a:spcBef>
                <a:spcPts val="0"/>
              </a:spcBef>
              <a:spcAft>
                <a:spcPts val="0"/>
              </a:spcAft>
            </a:pPr>
            <a:r>
              <a:rPr sz="1150" b="0" i="0">
                <a:solidFill>
                  <a:srgbClr val="5B6B7E"/>
                </a:solidFill>
                <a:latin typeface="Inter"/>
              </a:rPr>
              <a:t>PostgreSQL managé, auth et temps réel. Aucun serveur à administrer.</a:t>
            </a:r>
          </a:p>
        </p:txBody>
      </p:sp>
      <p:sp>
        <p:nvSpPr>
          <p:cNvPr id="23" name="TextBox 22"/>
          <p:cNvSpPr txBox="1"/>
          <p:nvPr/>
        </p:nvSpPr>
        <p:spPr>
          <a:xfrm>
            <a:off x="5762420" y="4041648"/>
            <a:ext cx="5560595" cy="237744"/>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PostGIS</a:t>
            </a:r>
          </a:p>
        </p:txBody>
      </p:sp>
      <p:sp>
        <p:nvSpPr>
          <p:cNvPr id="24" name="TextBox 23"/>
          <p:cNvSpPr txBox="1"/>
          <p:nvPr/>
        </p:nvSpPr>
        <p:spPr>
          <a:xfrm>
            <a:off x="5762420" y="4315968"/>
            <a:ext cx="5560595" cy="365760"/>
          </a:xfrm>
          <a:prstGeom prst="rect">
            <a:avLst/>
          </a:prstGeom>
          <a:noFill/>
        </p:spPr>
        <p:txBody>
          <a:bodyPr wrap="square" anchor="t" lIns="0" rIns="0" tIns="0" bIns="0">
            <a:spAutoFit/>
          </a:bodyPr>
          <a:lstStyle/>
          <a:p>
            <a:pPr algn="l">
              <a:lnSpc>
                <a:spcPct val="140000"/>
              </a:lnSpc>
              <a:spcBef>
                <a:spcPts val="0"/>
              </a:spcBef>
              <a:spcAft>
                <a:spcPts val="0"/>
              </a:spcAft>
            </a:pPr>
            <a:r>
              <a:rPr sz="1150" b="0" i="0">
                <a:solidFill>
                  <a:srgbClr val="5B6B7E"/>
                </a:solidFill>
                <a:latin typeface="Inter"/>
              </a:rPr>
              <a:t>La recherche par distance est une requête, pas une boucle.</a:t>
            </a:r>
          </a:p>
        </p:txBody>
      </p:sp>
      <p:sp>
        <p:nvSpPr>
          <p:cNvPr id="25" name="TextBox 24"/>
          <p:cNvSpPr txBox="1"/>
          <p:nvPr/>
        </p:nvSpPr>
        <p:spPr>
          <a:xfrm>
            <a:off x="5762420" y="4718304"/>
            <a:ext cx="5560595" cy="237744"/>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MapLibre 11 + OpenStreetMap</a:t>
            </a:r>
          </a:p>
        </p:txBody>
      </p:sp>
      <p:sp>
        <p:nvSpPr>
          <p:cNvPr id="26" name="TextBox 25"/>
          <p:cNvSpPr txBox="1"/>
          <p:nvPr/>
        </p:nvSpPr>
        <p:spPr>
          <a:xfrm>
            <a:off x="5762420" y="4992624"/>
            <a:ext cx="5560595" cy="365760"/>
          </a:xfrm>
          <a:prstGeom prst="rect">
            <a:avLst/>
          </a:prstGeom>
          <a:noFill/>
        </p:spPr>
        <p:txBody>
          <a:bodyPr wrap="square" anchor="t" lIns="0" rIns="0" tIns="0" bIns="0">
            <a:spAutoFit/>
          </a:bodyPr>
          <a:lstStyle/>
          <a:p>
            <a:pPr algn="l">
              <a:lnSpc>
                <a:spcPct val="140000"/>
              </a:lnSpc>
              <a:spcBef>
                <a:spcPts val="0"/>
              </a:spcBef>
              <a:spcAft>
                <a:spcPts val="0"/>
              </a:spcAft>
            </a:pPr>
            <a:r>
              <a:rPr sz="1150" b="0" i="0">
                <a:solidFill>
                  <a:srgbClr val="5B6B7E"/>
                </a:solidFill>
                <a:latin typeface="Inter"/>
              </a:rPr>
              <a:t>Libre, sans clé d'API ni facturation à l'usage.</a:t>
            </a:r>
          </a:p>
        </p:txBody>
      </p:sp>
      <p:sp>
        <p:nvSpPr>
          <p:cNvPr id="27" name="TextBox 26"/>
          <p:cNvSpPr txBox="1"/>
          <p:nvPr/>
        </p:nvSpPr>
        <p:spPr>
          <a:xfrm>
            <a:off x="5762420" y="5394960"/>
            <a:ext cx="5560595" cy="237744"/>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GitHub Actions</a:t>
            </a:r>
          </a:p>
        </p:txBody>
      </p:sp>
      <p:sp>
        <p:nvSpPr>
          <p:cNvPr id="28" name="TextBox 27"/>
          <p:cNvSpPr txBox="1"/>
          <p:nvPr/>
        </p:nvSpPr>
        <p:spPr>
          <a:xfrm>
            <a:off x="5762420" y="5669280"/>
            <a:ext cx="5560595" cy="365760"/>
          </a:xfrm>
          <a:prstGeom prst="rect">
            <a:avLst/>
          </a:prstGeom>
          <a:noFill/>
        </p:spPr>
        <p:txBody>
          <a:bodyPr wrap="square" anchor="t" lIns="0" rIns="0" tIns="0" bIns="0">
            <a:spAutoFit/>
          </a:bodyPr>
          <a:lstStyle/>
          <a:p>
            <a:pPr algn="l">
              <a:lnSpc>
                <a:spcPct val="140000"/>
              </a:lnSpc>
              <a:spcBef>
                <a:spcPts val="0"/>
              </a:spcBef>
              <a:spcAft>
                <a:spcPts val="0"/>
              </a:spcAft>
            </a:pPr>
            <a:r>
              <a:rPr sz="1150" b="0" i="0">
                <a:solidFill>
                  <a:srgbClr val="5B6B7E"/>
                </a:solidFill>
                <a:latin typeface="Inter"/>
              </a:rPr>
              <a:t>Dépôt, issues, relectures et pipeline au même endroit.</a:t>
            </a:r>
          </a:p>
        </p:txBody>
      </p:sp>
      <p:sp>
        <p:nvSpPr>
          <p:cNvPr id="29" name="TextBox 28"/>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5B6B7E"/>
                </a:solidFill>
                <a:latin typeface="Inte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8FC7AA"/>
                </a:solidFill>
                <a:latin typeface="Inter"/>
              </a:rPr>
              <a:t>QUALITÉ DU CODE</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000" b="1" i="0">
                <a:solidFill>
                  <a:srgbClr val="FFFFFF"/>
                </a:solidFill>
                <a:latin typeface="Fraunces"/>
              </a:rPr>
              <a:t>La dernière place ne peut pas être prise deux fois</a:t>
            </a:r>
          </a:p>
        </p:txBody>
      </p:sp>
      <p:sp>
        <p:nvSpPr>
          <p:cNvPr id="4" name="Rounded Rectangle 3"/>
          <p:cNvSpPr/>
          <p:nvPr/>
        </p:nvSpPr>
        <p:spPr>
          <a:xfrm>
            <a:off x="868680" y="2148840"/>
            <a:ext cx="5989320" cy="3063240"/>
          </a:xfrm>
          <a:prstGeom prst="roundRect">
            <a:avLst>
              <a:gd name="adj" fmla="val 3500"/>
            </a:avLst>
          </a:prstGeom>
          <a:solidFill>
            <a:srgbClr val="13345E"/>
          </a:solidFill>
          <a:ln w="12700">
            <a:solidFill>
              <a:srgbClr val="1C427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377440"/>
            <a:ext cx="5257800" cy="2651760"/>
          </a:xfrm>
          <a:prstGeom prst="rect">
            <a:avLst/>
          </a:prstGeom>
          <a:noFill/>
        </p:spPr>
        <p:txBody>
          <a:bodyPr wrap="square" anchor="t" lIns="0" rIns="0" tIns="0" bIns="0">
            <a:spAutoFit/>
          </a:bodyPr>
          <a:lstStyle/>
          <a:p>
            <a:pPr algn="l">
              <a:lnSpc>
                <a:spcPct val="142000"/>
              </a:lnSpc>
              <a:spcBef>
                <a:spcPts val="0"/>
              </a:spcBef>
              <a:spcAft>
                <a:spcPts val="0"/>
              </a:spcAft>
            </a:pPr>
            <a:r>
              <a:rPr sz="1150" b="0" i="0">
                <a:solidFill>
                  <a:srgbClr val="E7F1EC"/>
                </a:solidFill>
                <a:latin typeface="Consolas"/>
              </a:rPr>
              <a:t>create function join_event(event_id uuid)</a:t>
            </a:r>
          </a:p>
          <a:p>
            <a:pPr algn="l">
              <a:lnSpc>
                <a:spcPct val="142000"/>
              </a:lnSpc>
              <a:spcBef>
                <a:spcPts val="0"/>
              </a:spcBef>
              <a:spcAft>
                <a:spcPts val="0"/>
              </a:spcAft>
            </a:pPr>
            <a:r>
              <a:rPr sz="1150" b="0" i="0">
                <a:solidFill>
                  <a:srgbClr val="E7F1EC"/>
                </a:solidFill>
                <a:latin typeface="Consolas"/>
              </a:rPr>
              <a:t>  select * from events where id = event_id</a:t>
            </a:r>
          </a:p>
          <a:p>
            <a:pPr algn="l">
              <a:lnSpc>
                <a:spcPct val="142000"/>
              </a:lnSpc>
              <a:spcBef>
                <a:spcPts val="0"/>
              </a:spcBef>
              <a:spcAft>
                <a:spcPts val="0"/>
              </a:spcAft>
            </a:pPr>
            <a:r>
              <a:rPr sz="1150" b="0" i="0">
                <a:solidFill>
                  <a:srgbClr val="8FC7AA"/>
                </a:solidFill>
                <a:latin typeface="Consolas"/>
              </a:rPr>
              <a:t>  for update;                    -- la ligne est verrouillée</a:t>
            </a:r>
          </a:p>
          <a:p>
            <a:pPr algn="l">
              <a:lnSpc>
                <a:spcPct val="142000"/>
              </a:lnSpc>
              <a:spcBef>
                <a:spcPts val="0"/>
              </a:spcBef>
              <a:spcAft>
                <a:spcPts val="0"/>
              </a:spcAft>
            </a:pPr>
            <a:r>
              <a:rPr sz="1150" b="0" i="0">
                <a:solidFill>
                  <a:srgbClr val="E7F1EC"/>
                </a:solidFill>
                <a:latin typeface="Consolas"/>
              </a:rPr>
              <a:t> </a:t>
            </a:r>
          </a:p>
          <a:p>
            <a:pPr algn="l">
              <a:lnSpc>
                <a:spcPct val="142000"/>
              </a:lnSpc>
              <a:spcBef>
                <a:spcPts val="0"/>
              </a:spcBef>
              <a:spcAft>
                <a:spcPts val="0"/>
              </a:spcAft>
            </a:pPr>
            <a:r>
              <a:rPr sz="1150" b="0" i="0">
                <a:solidFill>
                  <a:srgbClr val="E7F1EC"/>
                </a:solidFill>
                <a:latin typeface="Consolas"/>
              </a:rPr>
              <a:t>  select count(*) into taken</a:t>
            </a:r>
          </a:p>
          <a:p>
            <a:pPr algn="l">
              <a:lnSpc>
                <a:spcPct val="142000"/>
              </a:lnSpc>
              <a:spcBef>
                <a:spcPts val="0"/>
              </a:spcBef>
              <a:spcAft>
                <a:spcPts val="0"/>
              </a:spcAft>
            </a:pPr>
            <a:r>
              <a:rPr sz="1150" b="0" i="0">
                <a:solidFill>
                  <a:srgbClr val="8FC7AA"/>
                </a:solidFill>
                <a:latin typeface="Consolas"/>
              </a:rPr>
              <a:t>  from participants where ...;   -- compté dans la même transaction</a:t>
            </a:r>
          </a:p>
          <a:p>
            <a:pPr algn="l">
              <a:lnSpc>
                <a:spcPct val="142000"/>
              </a:lnSpc>
              <a:spcBef>
                <a:spcPts val="0"/>
              </a:spcBef>
              <a:spcAft>
                <a:spcPts val="0"/>
              </a:spcAft>
            </a:pPr>
            <a:r>
              <a:rPr sz="1150" b="0" i="0">
                <a:solidFill>
                  <a:srgbClr val="E7F1EC"/>
                </a:solidFill>
                <a:latin typeface="Consolas"/>
              </a:rPr>
              <a:t> </a:t>
            </a:r>
          </a:p>
          <a:p>
            <a:pPr algn="l">
              <a:lnSpc>
                <a:spcPct val="142000"/>
              </a:lnSpc>
              <a:spcBef>
                <a:spcPts val="0"/>
              </a:spcBef>
              <a:spcAft>
                <a:spcPts val="0"/>
              </a:spcAft>
            </a:pPr>
            <a:r>
              <a:rPr sz="1150" b="0" i="0">
                <a:solidFill>
                  <a:srgbClr val="E7F1EC"/>
                </a:solidFill>
                <a:latin typeface="Consolas"/>
              </a:rPr>
              <a:t>  if taken &gt;= capacity then</a:t>
            </a:r>
          </a:p>
          <a:p>
            <a:pPr algn="l">
              <a:lnSpc>
                <a:spcPct val="142000"/>
              </a:lnSpc>
              <a:spcBef>
                <a:spcPts val="0"/>
              </a:spcBef>
              <a:spcAft>
                <a:spcPts val="0"/>
              </a:spcAft>
            </a:pPr>
            <a:r>
              <a:rPr sz="1150" b="0" i="0">
                <a:solidFill>
                  <a:srgbClr val="E7F1EC"/>
                </a:solidFill>
                <a:latin typeface="Consolas"/>
              </a:rPr>
              <a:t>    raise exception 'complet';</a:t>
            </a:r>
          </a:p>
          <a:p>
            <a:pPr algn="l">
              <a:lnSpc>
                <a:spcPct val="142000"/>
              </a:lnSpc>
              <a:spcBef>
                <a:spcPts val="0"/>
              </a:spcBef>
              <a:spcAft>
                <a:spcPts val="0"/>
              </a:spcAft>
            </a:pPr>
            <a:r>
              <a:rPr sz="1150" b="0" i="0">
                <a:solidFill>
                  <a:srgbClr val="E7F1EC"/>
                </a:solidFill>
                <a:latin typeface="Consolas"/>
              </a:rPr>
              <a:t>  end if;</a:t>
            </a:r>
          </a:p>
        </p:txBody>
      </p:sp>
      <p:sp>
        <p:nvSpPr>
          <p:cNvPr id="6" name="TextBox 5"/>
          <p:cNvSpPr txBox="1"/>
          <p:nvPr/>
        </p:nvSpPr>
        <p:spPr>
          <a:xfrm>
            <a:off x="7269480" y="2194560"/>
            <a:ext cx="4053535" cy="3108960"/>
          </a:xfrm>
          <a:prstGeom prst="rect">
            <a:avLst/>
          </a:prstGeom>
          <a:noFill/>
        </p:spPr>
        <p:txBody>
          <a:bodyPr wrap="square" anchor="t" lIns="0" rIns="0" tIns="0" bIns="0">
            <a:spAutoFit/>
          </a:bodyPr>
          <a:lstStyle/>
          <a:p>
            <a:pPr algn="l">
              <a:lnSpc>
                <a:spcPct val="135000"/>
              </a:lnSpc>
              <a:spcBef>
                <a:spcPts val="0"/>
              </a:spcBef>
              <a:spcAft>
                <a:spcPts val="0"/>
              </a:spcAft>
            </a:pPr>
            <a:r>
              <a:rPr sz="1600" b="1" i="0">
                <a:solidFill>
                  <a:srgbClr val="FFFFFF"/>
                </a:solidFill>
                <a:latin typeface="Fraunces"/>
              </a:rPr>
              <a:t>Deux personnes appuient sur « Rejoindre » à la même seconde. Il reste une place.</a:t>
            </a:r>
          </a:p>
          <a:p>
            <a:pPr algn="l">
              <a:lnSpc>
                <a:spcPct val="155000"/>
              </a:lnSpc>
              <a:spcBef>
                <a:spcPts val="1400"/>
              </a:spcBef>
              <a:spcAft>
                <a:spcPts val="0"/>
              </a:spcAft>
            </a:pPr>
            <a:r>
              <a:rPr sz="1300" b="0" i="0">
                <a:solidFill>
                  <a:srgbClr val="8DA0B5"/>
                </a:solidFill>
                <a:latin typeface="Inter"/>
              </a:rPr>
              <a:t>Une vérification faite dans l'application ne garantit rien : les deux appareils lisent « il reste 1 » avant que l'un des deux n'écrive.</a:t>
            </a:r>
          </a:p>
          <a:p>
            <a:pPr algn="l">
              <a:lnSpc>
                <a:spcPct val="155000"/>
              </a:lnSpc>
              <a:spcBef>
                <a:spcPts val="1200"/>
              </a:spcBef>
              <a:spcAft>
                <a:spcPts val="0"/>
              </a:spcAft>
            </a:pPr>
            <a:r>
              <a:rPr sz="1300" b="0" i="0">
                <a:solidFill>
                  <a:srgbClr val="E7F1EC"/>
                </a:solidFill>
                <a:latin typeface="Inter"/>
              </a:rPr>
              <a:t>La règle vit donc dans la base. La ligne de l'événement est verrouillée, les participants sont comptés dans la même transaction, et la seconde demande est refusée.</a:t>
            </a:r>
          </a:p>
        </p:txBody>
      </p:sp>
      <p:sp>
        <p:nvSpPr>
          <p:cNvPr id="7" name="TextBox 6"/>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8DA0B5"/>
                </a:solidFill>
                <a:latin typeface="Inte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3E8E68"/>
                </a:solidFill>
                <a:latin typeface="Inter"/>
              </a:rPr>
              <a:t>PIPELINE DEVOPS</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200" b="1" i="0">
                <a:solidFill>
                  <a:srgbClr val="16233A"/>
                </a:solidFill>
                <a:latin typeface="Fraunces"/>
              </a:rPr>
              <a:t>De la pull request à l'APK publié</a:t>
            </a:r>
          </a:p>
        </p:txBody>
      </p:sp>
      <p:sp>
        <p:nvSpPr>
          <p:cNvPr id="4" name="Rounded Rectangle 3"/>
          <p:cNvSpPr/>
          <p:nvPr/>
        </p:nvSpPr>
        <p:spPr>
          <a:xfrm>
            <a:off x="868680" y="2395728"/>
            <a:ext cx="2011680" cy="914400"/>
          </a:xfrm>
          <a:prstGeom prst="roundRect">
            <a:avLst>
              <a:gd name="adj" fmla="val 9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8680" y="2596896"/>
            <a:ext cx="2011680" cy="274320"/>
          </a:xfrm>
          <a:prstGeom prst="rect">
            <a:avLst/>
          </a:prstGeom>
          <a:noFill/>
        </p:spPr>
        <p:txBody>
          <a:bodyPr wrap="square" anchor="t" lIns="0" rIns="0" tIns="0" bIns="0">
            <a:spAutoFit/>
          </a:bodyPr>
          <a:lstStyle/>
          <a:p>
            <a:pPr algn="ctr">
              <a:lnSpc>
                <a:spcPct val="125000"/>
              </a:lnSpc>
              <a:spcBef>
                <a:spcPts val="0"/>
              </a:spcBef>
              <a:spcAft>
                <a:spcPts val="0"/>
              </a:spcAft>
            </a:pPr>
            <a:r>
              <a:rPr sz="1350" b="1" i="0">
                <a:solidFill>
                  <a:srgbClr val="16233A"/>
                </a:solidFill>
                <a:latin typeface="Inter"/>
              </a:rPr>
              <a:t>Pull request</a:t>
            </a:r>
          </a:p>
        </p:txBody>
      </p:sp>
      <p:sp>
        <p:nvSpPr>
          <p:cNvPr id="6" name="TextBox 5"/>
          <p:cNvSpPr txBox="1"/>
          <p:nvPr/>
        </p:nvSpPr>
        <p:spPr>
          <a:xfrm>
            <a:off x="868680" y="2871216"/>
            <a:ext cx="2011680" cy="274320"/>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5B6B7E"/>
                </a:solidFill>
                <a:latin typeface="Inter"/>
              </a:rPr>
              <a:t>ou fusion sur main</a:t>
            </a:r>
          </a:p>
        </p:txBody>
      </p:sp>
      <p:sp>
        <p:nvSpPr>
          <p:cNvPr id="7" name="TextBox 6"/>
          <p:cNvSpPr txBox="1"/>
          <p:nvPr/>
        </p:nvSpPr>
        <p:spPr>
          <a:xfrm>
            <a:off x="2935223" y="2670048"/>
            <a:ext cx="256032" cy="274320"/>
          </a:xfrm>
          <a:prstGeom prst="rect">
            <a:avLst/>
          </a:prstGeom>
          <a:noFill/>
        </p:spPr>
        <p:txBody>
          <a:bodyPr wrap="square" anchor="t" lIns="0" rIns="0" tIns="0" bIns="0">
            <a:spAutoFit/>
          </a:bodyPr>
          <a:lstStyle/>
          <a:p>
            <a:pPr algn="ctr">
              <a:lnSpc>
                <a:spcPct val="125000"/>
              </a:lnSpc>
              <a:spcBef>
                <a:spcPts val="0"/>
              </a:spcBef>
              <a:spcAft>
                <a:spcPts val="0"/>
              </a:spcAft>
            </a:pPr>
            <a:r>
              <a:rPr sz="1500" b="0" i="0">
                <a:solidFill>
                  <a:srgbClr val="8DA0B5"/>
                </a:solidFill>
                <a:latin typeface="Inter"/>
              </a:rPr>
              <a:t>›</a:t>
            </a:r>
          </a:p>
        </p:txBody>
      </p:sp>
      <p:sp>
        <p:nvSpPr>
          <p:cNvPr id="8" name="Rounded Rectangle 7"/>
          <p:cNvSpPr/>
          <p:nvPr/>
        </p:nvSpPr>
        <p:spPr>
          <a:xfrm>
            <a:off x="3246120" y="1874519"/>
            <a:ext cx="3749039" cy="960120"/>
          </a:xfrm>
          <a:prstGeom prst="roundRect">
            <a:avLst>
              <a:gd name="adj" fmla="val 7000"/>
            </a:avLst>
          </a:prstGeom>
          <a:solidFill>
            <a:srgbClr val="E7F1EC"/>
          </a:solidFill>
          <a:ln w="12700">
            <a:solidFill>
              <a:srgbClr val="3E8E6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3502152" y="2011679"/>
            <a:ext cx="3246120" cy="274320"/>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2E6B4E"/>
                </a:solidFill>
                <a:latin typeface="Inter"/>
              </a:rPr>
              <a:t>Job Android</a:t>
            </a:r>
          </a:p>
        </p:txBody>
      </p:sp>
      <p:sp>
        <p:nvSpPr>
          <p:cNvPr id="10" name="TextBox 9"/>
          <p:cNvSpPr txBox="1"/>
          <p:nvPr/>
        </p:nvSpPr>
        <p:spPr>
          <a:xfrm>
            <a:off x="3502152" y="2258567"/>
            <a:ext cx="3246120" cy="237744"/>
          </a:xfrm>
          <a:prstGeom prst="rect">
            <a:avLst/>
          </a:prstGeom>
          <a:noFill/>
        </p:spPr>
        <p:txBody>
          <a:bodyPr wrap="square" anchor="t" lIns="0" rIns="0" tIns="0" bIns="0">
            <a:spAutoFit/>
          </a:bodyPr>
          <a:lstStyle/>
          <a:p>
            <a:pPr algn="l">
              <a:lnSpc>
                <a:spcPct val="125000"/>
              </a:lnSpc>
              <a:spcBef>
                <a:spcPts val="0"/>
              </a:spcBef>
              <a:spcAft>
                <a:spcPts val="0"/>
              </a:spcAft>
            </a:pPr>
            <a:r>
              <a:rPr sz="1000" b="0" i="0">
                <a:solidFill>
                  <a:srgbClr val="2E6B4E"/>
                </a:solidFill>
                <a:latin typeface="Inter"/>
              </a:rPr>
              <a:t>ubuntu-latest</a:t>
            </a:r>
          </a:p>
        </p:txBody>
      </p:sp>
      <p:sp>
        <p:nvSpPr>
          <p:cNvPr id="11" name="TextBox 10"/>
          <p:cNvSpPr txBox="1"/>
          <p:nvPr/>
        </p:nvSpPr>
        <p:spPr>
          <a:xfrm>
            <a:off x="3502152" y="2496311"/>
            <a:ext cx="3246120" cy="274320"/>
          </a:xfrm>
          <a:prstGeom prst="rect">
            <a:avLst/>
          </a:prstGeom>
          <a:noFill/>
        </p:spPr>
        <p:txBody>
          <a:bodyPr wrap="square" anchor="t" lIns="0" rIns="0" tIns="0" bIns="0">
            <a:spAutoFit/>
          </a:bodyPr>
          <a:lstStyle/>
          <a:p>
            <a:pPr algn="l">
              <a:lnSpc>
                <a:spcPct val="125000"/>
              </a:lnSpc>
              <a:spcBef>
                <a:spcPts val="0"/>
              </a:spcBef>
              <a:spcAft>
                <a:spcPts val="0"/>
              </a:spcAft>
            </a:pPr>
            <a:r>
              <a:rPr sz="1100" b="0" i="0">
                <a:solidFill>
                  <a:srgbClr val="16233A"/>
                </a:solidFill>
                <a:latin typeface="Inter"/>
              </a:rPr>
              <a:t>Lint · Tests partagés · Build APK</a:t>
            </a:r>
          </a:p>
        </p:txBody>
      </p:sp>
      <p:sp>
        <p:nvSpPr>
          <p:cNvPr id="12" name="Rounded Rectangle 11"/>
          <p:cNvSpPr/>
          <p:nvPr/>
        </p:nvSpPr>
        <p:spPr>
          <a:xfrm>
            <a:off x="3246120" y="2999231"/>
            <a:ext cx="3749039" cy="960120"/>
          </a:xfrm>
          <a:prstGeom prst="roundRect">
            <a:avLst>
              <a:gd name="adj" fmla="val 7000"/>
            </a:avLst>
          </a:prstGeom>
          <a:solidFill>
            <a:srgbClr val="E7F1EC"/>
          </a:solidFill>
          <a:ln w="12700">
            <a:solidFill>
              <a:srgbClr val="3E8E6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502152" y="3136391"/>
            <a:ext cx="3246120" cy="274320"/>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2E6B4E"/>
                </a:solidFill>
                <a:latin typeface="Inter"/>
              </a:rPr>
              <a:t>Job iOS</a:t>
            </a:r>
          </a:p>
        </p:txBody>
      </p:sp>
      <p:sp>
        <p:nvSpPr>
          <p:cNvPr id="14" name="TextBox 13"/>
          <p:cNvSpPr txBox="1"/>
          <p:nvPr/>
        </p:nvSpPr>
        <p:spPr>
          <a:xfrm>
            <a:off x="3502152" y="3383279"/>
            <a:ext cx="3246120" cy="237744"/>
          </a:xfrm>
          <a:prstGeom prst="rect">
            <a:avLst/>
          </a:prstGeom>
          <a:noFill/>
        </p:spPr>
        <p:txBody>
          <a:bodyPr wrap="square" anchor="t" lIns="0" rIns="0" tIns="0" bIns="0">
            <a:spAutoFit/>
          </a:bodyPr>
          <a:lstStyle/>
          <a:p>
            <a:pPr algn="l">
              <a:lnSpc>
                <a:spcPct val="125000"/>
              </a:lnSpc>
              <a:spcBef>
                <a:spcPts val="0"/>
              </a:spcBef>
              <a:spcAft>
                <a:spcPts val="0"/>
              </a:spcAft>
            </a:pPr>
            <a:r>
              <a:rPr sz="1000" b="0" i="0">
                <a:solidFill>
                  <a:srgbClr val="2E6B4E"/>
                </a:solidFill>
                <a:latin typeface="Inter"/>
              </a:rPr>
              <a:t>macos-latest</a:t>
            </a:r>
          </a:p>
        </p:txBody>
      </p:sp>
      <p:sp>
        <p:nvSpPr>
          <p:cNvPr id="15" name="TextBox 14"/>
          <p:cNvSpPr txBox="1"/>
          <p:nvPr/>
        </p:nvSpPr>
        <p:spPr>
          <a:xfrm>
            <a:off x="3502152" y="3621023"/>
            <a:ext cx="3246120" cy="274320"/>
          </a:xfrm>
          <a:prstGeom prst="rect">
            <a:avLst/>
          </a:prstGeom>
          <a:noFill/>
        </p:spPr>
        <p:txBody>
          <a:bodyPr wrap="square" anchor="t" lIns="0" rIns="0" tIns="0" bIns="0">
            <a:spAutoFit/>
          </a:bodyPr>
          <a:lstStyle/>
          <a:p>
            <a:pPr algn="l">
              <a:lnSpc>
                <a:spcPct val="125000"/>
              </a:lnSpc>
              <a:spcBef>
                <a:spcPts val="0"/>
              </a:spcBef>
              <a:spcAft>
                <a:spcPts val="0"/>
              </a:spcAft>
            </a:pPr>
            <a:r>
              <a:rPr sz="1100" b="0" i="0">
                <a:solidFill>
                  <a:srgbClr val="16233A"/>
                </a:solidFill>
                <a:latin typeface="Inter"/>
              </a:rPr>
              <a:t>Compilation du framework partagé</a:t>
            </a:r>
          </a:p>
        </p:txBody>
      </p:sp>
      <p:sp>
        <p:nvSpPr>
          <p:cNvPr id="16" name="TextBox 15"/>
          <p:cNvSpPr txBox="1"/>
          <p:nvPr/>
        </p:nvSpPr>
        <p:spPr>
          <a:xfrm>
            <a:off x="4251960" y="2862072"/>
            <a:ext cx="1828800" cy="219456"/>
          </a:xfrm>
          <a:prstGeom prst="rect">
            <a:avLst/>
          </a:prstGeom>
          <a:noFill/>
        </p:spPr>
        <p:txBody>
          <a:bodyPr wrap="square" anchor="t" lIns="0" rIns="0" tIns="0" bIns="0">
            <a:spAutoFit/>
          </a:bodyPr>
          <a:lstStyle/>
          <a:p>
            <a:pPr algn="ctr">
              <a:lnSpc>
                <a:spcPct val="125000"/>
              </a:lnSpc>
              <a:spcBef>
                <a:spcPts val="0"/>
              </a:spcBef>
              <a:spcAft>
                <a:spcPts val="0"/>
              </a:spcAft>
            </a:pPr>
            <a:r>
              <a:rPr sz="950" b="0" i="1">
                <a:solidFill>
                  <a:srgbClr val="5B6B7E"/>
                </a:solidFill>
                <a:latin typeface="Inter"/>
              </a:rPr>
              <a:t>en parallèle</a:t>
            </a:r>
          </a:p>
        </p:txBody>
      </p:sp>
      <p:sp>
        <p:nvSpPr>
          <p:cNvPr id="17" name="TextBox 16"/>
          <p:cNvSpPr txBox="1"/>
          <p:nvPr/>
        </p:nvSpPr>
        <p:spPr>
          <a:xfrm>
            <a:off x="6976872" y="2670048"/>
            <a:ext cx="256032" cy="274320"/>
          </a:xfrm>
          <a:prstGeom prst="rect">
            <a:avLst/>
          </a:prstGeom>
          <a:noFill/>
        </p:spPr>
        <p:txBody>
          <a:bodyPr wrap="square" anchor="t" lIns="0" rIns="0" tIns="0" bIns="0">
            <a:spAutoFit/>
          </a:bodyPr>
          <a:lstStyle/>
          <a:p>
            <a:pPr algn="ctr">
              <a:lnSpc>
                <a:spcPct val="125000"/>
              </a:lnSpc>
              <a:spcBef>
                <a:spcPts val="0"/>
              </a:spcBef>
              <a:spcAft>
                <a:spcPts val="0"/>
              </a:spcAft>
            </a:pPr>
            <a:r>
              <a:rPr sz="1500" b="0" i="0">
                <a:solidFill>
                  <a:srgbClr val="8DA0B5"/>
                </a:solidFill>
                <a:latin typeface="Inter"/>
              </a:rPr>
              <a:t>›</a:t>
            </a:r>
          </a:p>
        </p:txBody>
      </p:sp>
      <p:sp>
        <p:nvSpPr>
          <p:cNvPr id="18" name="Rounded Rectangle 17"/>
          <p:cNvSpPr/>
          <p:nvPr/>
        </p:nvSpPr>
        <p:spPr>
          <a:xfrm>
            <a:off x="7306056" y="2395728"/>
            <a:ext cx="4016959" cy="914400"/>
          </a:xfrm>
          <a:prstGeom prst="roundRect">
            <a:avLst>
              <a:gd name="adj" fmla="val 7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306056" y="2578608"/>
            <a:ext cx="4016959" cy="274320"/>
          </a:xfrm>
          <a:prstGeom prst="rect">
            <a:avLst/>
          </a:prstGeom>
          <a:noFill/>
        </p:spPr>
        <p:txBody>
          <a:bodyPr wrap="square" anchor="t" lIns="0" rIns="0" tIns="0" bIns="0">
            <a:spAutoFit/>
          </a:bodyPr>
          <a:lstStyle/>
          <a:p>
            <a:pPr algn="ctr">
              <a:lnSpc>
                <a:spcPct val="125000"/>
              </a:lnSpc>
              <a:spcBef>
                <a:spcPts val="0"/>
              </a:spcBef>
              <a:spcAft>
                <a:spcPts val="0"/>
              </a:spcAft>
            </a:pPr>
            <a:r>
              <a:rPr sz="1350" b="1" i="0">
                <a:solidFill>
                  <a:srgbClr val="FFFFFF"/>
                </a:solidFill>
                <a:latin typeface="Inter"/>
              </a:rPr>
              <a:t>Release publiée</a:t>
            </a:r>
          </a:p>
        </p:txBody>
      </p:sp>
      <p:sp>
        <p:nvSpPr>
          <p:cNvPr id="20" name="TextBox 19"/>
          <p:cNvSpPr txBox="1"/>
          <p:nvPr/>
        </p:nvSpPr>
        <p:spPr>
          <a:xfrm>
            <a:off x="7306056" y="2852928"/>
            <a:ext cx="4016959" cy="292608"/>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8FC7AA"/>
                </a:solidFill>
                <a:latin typeface="Inter"/>
              </a:rPr>
              <a:t>APK testé, v1.0.35</a:t>
            </a:r>
          </a:p>
        </p:txBody>
      </p:sp>
      <p:sp>
        <p:nvSpPr>
          <p:cNvPr id="21" name="TextBox 20"/>
          <p:cNvSpPr txBox="1"/>
          <p:nvPr/>
        </p:nvSpPr>
        <p:spPr>
          <a:xfrm>
            <a:off x="868680" y="4096512"/>
            <a:ext cx="10454335" cy="502920"/>
          </a:xfrm>
          <a:prstGeom prst="rect">
            <a:avLst/>
          </a:prstGeom>
          <a:noFill/>
        </p:spPr>
        <p:txBody>
          <a:bodyPr wrap="square" anchor="t" lIns="0" rIns="0" tIns="0" bIns="0">
            <a:spAutoFit/>
          </a:bodyPr>
          <a:lstStyle/>
          <a:p>
            <a:pPr algn="l">
              <a:lnSpc>
                <a:spcPct val="150000"/>
              </a:lnSpc>
              <a:spcBef>
                <a:spcPts val="0"/>
              </a:spcBef>
              <a:spcAft>
                <a:spcPts val="0"/>
              </a:spcAft>
            </a:pPr>
            <a:r>
              <a:rPr sz="1250" b="0" i="0">
                <a:solidFill>
                  <a:srgbClr val="5B6B7E"/>
                </a:solidFill>
                <a:latin typeface="Inter"/>
              </a:rPr>
              <a:t>Les deux contrôles sont exigés par un ruleset du dépôt : un build rouge rend le bouton « Merge » indisponible. L'APK publié est celui que le job a testé, jamais reconstruit. Le job de publication ne part qu'après une fusion sur main.</a:t>
            </a:r>
          </a:p>
        </p:txBody>
      </p:sp>
      <p:sp>
        <p:nvSpPr>
          <p:cNvPr id="22" name="TextBox 21"/>
          <p:cNvSpPr txBox="1"/>
          <p:nvPr/>
        </p:nvSpPr>
        <p:spPr>
          <a:xfrm>
            <a:off x="868680" y="4681728"/>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3E8E68"/>
                </a:solidFill>
                <a:latin typeface="Inter"/>
              </a:rPr>
              <a:t>DÉPLOYER UNE MODIFICATION, DE BOUT EN BOUT</a:t>
            </a:r>
          </a:p>
        </p:txBody>
      </p:sp>
      <p:sp>
        <p:nvSpPr>
          <p:cNvPr id="23" name="Rounded Rectangle 22"/>
          <p:cNvSpPr/>
          <p:nvPr/>
        </p:nvSpPr>
        <p:spPr>
          <a:xfrm>
            <a:off x="868680" y="4983480"/>
            <a:ext cx="1620469" cy="1143000"/>
          </a:xfrm>
          <a:prstGeom prst="roundRect">
            <a:avLst>
              <a:gd name="adj" fmla="val 8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51560" y="5148072"/>
            <a:ext cx="1254709" cy="219456"/>
          </a:xfrm>
          <a:prstGeom prst="rect">
            <a:avLst/>
          </a:prstGeom>
          <a:noFill/>
        </p:spPr>
        <p:txBody>
          <a:bodyPr wrap="square" anchor="t" lIns="0" rIns="0" tIns="0" bIns="0">
            <a:spAutoFit/>
          </a:bodyPr>
          <a:lstStyle/>
          <a:p>
            <a:pPr algn="l">
              <a:lnSpc>
                <a:spcPct val="125000"/>
              </a:lnSpc>
              <a:spcBef>
                <a:spcPts val="0"/>
              </a:spcBef>
              <a:spcAft>
                <a:spcPts val="0"/>
              </a:spcAft>
            </a:pPr>
            <a:r>
              <a:rPr sz="1000" b="1" i="0" spc="140">
                <a:solidFill>
                  <a:srgbClr val="3E8E68"/>
                </a:solidFill>
                <a:latin typeface="Inter"/>
              </a:rPr>
              <a:t>01</a:t>
            </a:r>
          </a:p>
        </p:txBody>
      </p:sp>
      <p:sp>
        <p:nvSpPr>
          <p:cNvPr id="25" name="TextBox 24"/>
          <p:cNvSpPr txBox="1"/>
          <p:nvPr/>
        </p:nvSpPr>
        <p:spPr>
          <a:xfrm>
            <a:off x="1051560" y="5376672"/>
            <a:ext cx="1254709" cy="274320"/>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Brancher</a:t>
            </a:r>
          </a:p>
        </p:txBody>
      </p:sp>
      <p:sp>
        <p:nvSpPr>
          <p:cNvPr id="26" name="TextBox 25"/>
          <p:cNvSpPr txBox="1"/>
          <p:nvPr/>
        </p:nvSpPr>
        <p:spPr>
          <a:xfrm>
            <a:off x="1051560" y="5678424"/>
            <a:ext cx="1254709" cy="365760"/>
          </a:xfrm>
          <a:prstGeom prst="rect">
            <a:avLst/>
          </a:prstGeom>
          <a:noFill/>
        </p:spPr>
        <p:txBody>
          <a:bodyPr wrap="square" anchor="t" lIns="0" rIns="0" tIns="0" bIns="0">
            <a:spAutoFit/>
          </a:bodyPr>
          <a:lstStyle/>
          <a:p>
            <a:pPr algn="l">
              <a:lnSpc>
                <a:spcPct val="135000"/>
              </a:lnSpc>
              <a:spcBef>
                <a:spcPts val="0"/>
              </a:spcBef>
              <a:spcAft>
                <a:spcPts val="0"/>
              </a:spcAft>
            </a:pPr>
            <a:r>
              <a:rPr sz="950" b="0" i="0">
                <a:solidFill>
                  <a:srgbClr val="5B6B7E"/>
                </a:solidFill>
                <a:latin typeface="Consolas"/>
              </a:rPr>
              <a:t>git checkout 124-…</a:t>
            </a:r>
          </a:p>
        </p:txBody>
      </p:sp>
      <p:sp>
        <p:nvSpPr>
          <p:cNvPr id="27" name="Rounded Rectangle 26"/>
          <p:cNvSpPr/>
          <p:nvPr/>
        </p:nvSpPr>
        <p:spPr>
          <a:xfrm>
            <a:off x="2635453" y="4983480"/>
            <a:ext cx="1620469" cy="1143000"/>
          </a:xfrm>
          <a:prstGeom prst="roundRect">
            <a:avLst>
              <a:gd name="adj" fmla="val 8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818333" y="5148072"/>
            <a:ext cx="1254709" cy="219456"/>
          </a:xfrm>
          <a:prstGeom prst="rect">
            <a:avLst/>
          </a:prstGeom>
          <a:noFill/>
        </p:spPr>
        <p:txBody>
          <a:bodyPr wrap="square" anchor="t" lIns="0" rIns="0" tIns="0" bIns="0">
            <a:spAutoFit/>
          </a:bodyPr>
          <a:lstStyle/>
          <a:p>
            <a:pPr algn="l">
              <a:lnSpc>
                <a:spcPct val="125000"/>
              </a:lnSpc>
              <a:spcBef>
                <a:spcPts val="0"/>
              </a:spcBef>
              <a:spcAft>
                <a:spcPts val="0"/>
              </a:spcAft>
            </a:pPr>
            <a:r>
              <a:rPr sz="1000" b="1" i="0" spc="140">
                <a:solidFill>
                  <a:srgbClr val="3E8E68"/>
                </a:solidFill>
                <a:latin typeface="Inter"/>
              </a:rPr>
              <a:t>02</a:t>
            </a:r>
          </a:p>
        </p:txBody>
      </p:sp>
      <p:sp>
        <p:nvSpPr>
          <p:cNvPr id="29" name="TextBox 28"/>
          <p:cNvSpPr txBox="1"/>
          <p:nvPr/>
        </p:nvSpPr>
        <p:spPr>
          <a:xfrm>
            <a:off x="2818333" y="5376672"/>
            <a:ext cx="1254709" cy="274320"/>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Pousser</a:t>
            </a:r>
          </a:p>
        </p:txBody>
      </p:sp>
      <p:sp>
        <p:nvSpPr>
          <p:cNvPr id="30" name="TextBox 29"/>
          <p:cNvSpPr txBox="1"/>
          <p:nvPr/>
        </p:nvSpPr>
        <p:spPr>
          <a:xfrm>
            <a:off x="2818333" y="5678424"/>
            <a:ext cx="1254709" cy="365760"/>
          </a:xfrm>
          <a:prstGeom prst="rect">
            <a:avLst/>
          </a:prstGeom>
          <a:noFill/>
        </p:spPr>
        <p:txBody>
          <a:bodyPr wrap="square" anchor="t" lIns="0" rIns="0" tIns="0" bIns="0">
            <a:spAutoFit/>
          </a:bodyPr>
          <a:lstStyle/>
          <a:p>
            <a:pPr algn="l">
              <a:lnSpc>
                <a:spcPct val="135000"/>
              </a:lnSpc>
              <a:spcBef>
                <a:spcPts val="0"/>
              </a:spcBef>
              <a:spcAft>
                <a:spcPts val="0"/>
              </a:spcAft>
            </a:pPr>
            <a:r>
              <a:rPr sz="950" b="0" i="0">
                <a:solidFill>
                  <a:srgbClr val="5B6B7E"/>
                </a:solidFill>
                <a:latin typeface="Consolas"/>
              </a:rPr>
              <a:t>git push -u origin</a:t>
            </a:r>
          </a:p>
        </p:txBody>
      </p:sp>
      <p:sp>
        <p:nvSpPr>
          <p:cNvPr id="31" name="Rounded Rectangle 30"/>
          <p:cNvSpPr/>
          <p:nvPr/>
        </p:nvSpPr>
        <p:spPr>
          <a:xfrm>
            <a:off x="4402226" y="4983480"/>
            <a:ext cx="1620469" cy="1143000"/>
          </a:xfrm>
          <a:prstGeom prst="roundRect">
            <a:avLst>
              <a:gd name="adj" fmla="val 8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85106" y="5148072"/>
            <a:ext cx="1254709" cy="219456"/>
          </a:xfrm>
          <a:prstGeom prst="rect">
            <a:avLst/>
          </a:prstGeom>
          <a:noFill/>
        </p:spPr>
        <p:txBody>
          <a:bodyPr wrap="square" anchor="t" lIns="0" rIns="0" tIns="0" bIns="0">
            <a:spAutoFit/>
          </a:bodyPr>
          <a:lstStyle/>
          <a:p>
            <a:pPr algn="l">
              <a:lnSpc>
                <a:spcPct val="125000"/>
              </a:lnSpc>
              <a:spcBef>
                <a:spcPts val="0"/>
              </a:spcBef>
              <a:spcAft>
                <a:spcPts val="0"/>
              </a:spcAft>
            </a:pPr>
            <a:r>
              <a:rPr sz="1000" b="1" i="0" spc="140">
                <a:solidFill>
                  <a:srgbClr val="3E8E68"/>
                </a:solidFill>
                <a:latin typeface="Inter"/>
              </a:rPr>
              <a:t>03</a:t>
            </a:r>
          </a:p>
        </p:txBody>
      </p:sp>
      <p:sp>
        <p:nvSpPr>
          <p:cNvPr id="33" name="TextBox 32"/>
          <p:cNvSpPr txBox="1"/>
          <p:nvPr/>
        </p:nvSpPr>
        <p:spPr>
          <a:xfrm>
            <a:off x="4585106" y="5376672"/>
            <a:ext cx="1254709" cy="274320"/>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Ouvrir la PR</a:t>
            </a:r>
          </a:p>
        </p:txBody>
      </p:sp>
      <p:sp>
        <p:nvSpPr>
          <p:cNvPr id="34" name="TextBox 33"/>
          <p:cNvSpPr txBox="1"/>
          <p:nvPr/>
        </p:nvSpPr>
        <p:spPr>
          <a:xfrm>
            <a:off x="4585106" y="5678424"/>
            <a:ext cx="1254709" cy="365760"/>
          </a:xfrm>
          <a:prstGeom prst="rect">
            <a:avLst/>
          </a:prstGeom>
          <a:noFill/>
        </p:spPr>
        <p:txBody>
          <a:bodyPr wrap="square" anchor="t" lIns="0" rIns="0" tIns="0" bIns="0">
            <a:spAutoFit/>
          </a:bodyPr>
          <a:lstStyle/>
          <a:p>
            <a:pPr algn="l">
              <a:lnSpc>
                <a:spcPct val="135000"/>
              </a:lnSpc>
              <a:spcBef>
                <a:spcPts val="0"/>
              </a:spcBef>
              <a:spcAft>
                <a:spcPts val="0"/>
              </a:spcAft>
            </a:pPr>
            <a:r>
              <a:rPr sz="950" b="0" i="0">
                <a:solidFill>
                  <a:srgbClr val="5B6B7E"/>
                </a:solidFill>
                <a:latin typeface="Consolas"/>
              </a:rPr>
              <a:t>gh pr create --base staging</a:t>
            </a:r>
          </a:p>
        </p:txBody>
      </p:sp>
      <p:sp>
        <p:nvSpPr>
          <p:cNvPr id="35" name="Rounded Rectangle 34"/>
          <p:cNvSpPr/>
          <p:nvPr/>
        </p:nvSpPr>
        <p:spPr>
          <a:xfrm>
            <a:off x="6168999" y="4983480"/>
            <a:ext cx="1620469" cy="1143000"/>
          </a:xfrm>
          <a:prstGeom prst="roundRect">
            <a:avLst>
              <a:gd name="adj" fmla="val 8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51879" y="5148072"/>
            <a:ext cx="1254709" cy="219456"/>
          </a:xfrm>
          <a:prstGeom prst="rect">
            <a:avLst/>
          </a:prstGeom>
          <a:noFill/>
        </p:spPr>
        <p:txBody>
          <a:bodyPr wrap="square" anchor="t" lIns="0" rIns="0" tIns="0" bIns="0">
            <a:spAutoFit/>
          </a:bodyPr>
          <a:lstStyle/>
          <a:p>
            <a:pPr algn="l">
              <a:lnSpc>
                <a:spcPct val="125000"/>
              </a:lnSpc>
              <a:spcBef>
                <a:spcPts val="0"/>
              </a:spcBef>
              <a:spcAft>
                <a:spcPts val="0"/>
              </a:spcAft>
            </a:pPr>
            <a:r>
              <a:rPr sz="1000" b="1" i="0" spc="140">
                <a:solidFill>
                  <a:srgbClr val="3E8E68"/>
                </a:solidFill>
                <a:latin typeface="Inter"/>
              </a:rPr>
              <a:t>04</a:t>
            </a:r>
          </a:p>
        </p:txBody>
      </p:sp>
      <p:sp>
        <p:nvSpPr>
          <p:cNvPr id="37" name="TextBox 36"/>
          <p:cNvSpPr txBox="1"/>
          <p:nvPr/>
        </p:nvSpPr>
        <p:spPr>
          <a:xfrm>
            <a:off x="6351879" y="5376672"/>
            <a:ext cx="1254709" cy="274320"/>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Contrôles</a:t>
            </a:r>
          </a:p>
        </p:txBody>
      </p:sp>
      <p:sp>
        <p:nvSpPr>
          <p:cNvPr id="38" name="TextBox 37"/>
          <p:cNvSpPr txBox="1"/>
          <p:nvPr/>
        </p:nvSpPr>
        <p:spPr>
          <a:xfrm>
            <a:off x="6351879" y="5678424"/>
            <a:ext cx="1254709" cy="365760"/>
          </a:xfrm>
          <a:prstGeom prst="rect">
            <a:avLst/>
          </a:prstGeom>
          <a:noFill/>
        </p:spPr>
        <p:txBody>
          <a:bodyPr wrap="square" anchor="t" lIns="0" rIns="0" tIns="0" bIns="0">
            <a:spAutoFit/>
          </a:bodyPr>
          <a:lstStyle/>
          <a:p>
            <a:pPr algn="l">
              <a:lnSpc>
                <a:spcPct val="135000"/>
              </a:lnSpc>
              <a:spcBef>
                <a:spcPts val="0"/>
              </a:spcBef>
              <a:spcAft>
                <a:spcPts val="0"/>
              </a:spcAft>
            </a:pPr>
            <a:r>
              <a:rPr sz="950" b="0" i="0">
                <a:solidFill>
                  <a:srgbClr val="5B6B7E"/>
                </a:solidFill>
                <a:latin typeface="Consolas"/>
              </a:rPr>
              <a:t>gh pr checks &lt;n&gt; --watch</a:t>
            </a:r>
          </a:p>
        </p:txBody>
      </p:sp>
      <p:sp>
        <p:nvSpPr>
          <p:cNvPr id="39" name="Rounded Rectangle 38"/>
          <p:cNvSpPr/>
          <p:nvPr/>
        </p:nvSpPr>
        <p:spPr>
          <a:xfrm>
            <a:off x="7935772" y="4983480"/>
            <a:ext cx="1620469" cy="1143000"/>
          </a:xfrm>
          <a:prstGeom prst="roundRect">
            <a:avLst>
              <a:gd name="adj" fmla="val 8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118652" y="5148072"/>
            <a:ext cx="1254709" cy="219456"/>
          </a:xfrm>
          <a:prstGeom prst="rect">
            <a:avLst/>
          </a:prstGeom>
          <a:noFill/>
        </p:spPr>
        <p:txBody>
          <a:bodyPr wrap="square" anchor="t" lIns="0" rIns="0" tIns="0" bIns="0">
            <a:spAutoFit/>
          </a:bodyPr>
          <a:lstStyle/>
          <a:p>
            <a:pPr algn="l">
              <a:lnSpc>
                <a:spcPct val="125000"/>
              </a:lnSpc>
              <a:spcBef>
                <a:spcPts val="0"/>
              </a:spcBef>
              <a:spcAft>
                <a:spcPts val="0"/>
              </a:spcAft>
            </a:pPr>
            <a:r>
              <a:rPr sz="1000" b="1" i="0" spc="140">
                <a:solidFill>
                  <a:srgbClr val="3E8E68"/>
                </a:solidFill>
                <a:latin typeface="Inter"/>
              </a:rPr>
              <a:t>05</a:t>
            </a:r>
          </a:p>
        </p:txBody>
      </p:sp>
      <p:sp>
        <p:nvSpPr>
          <p:cNvPr id="41" name="TextBox 40"/>
          <p:cNvSpPr txBox="1"/>
          <p:nvPr/>
        </p:nvSpPr>
        <p:spPr>
          <a:xfrm>
            <a:off x="8118652" y="5376672"/>
            <a:ext cx="1254709" cy="274320"/>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Fusionner</a:t>
            </a:r>
          </a:p>
        </p:txBody>
      </p:sp>
      <p:sp>
        <p:nvSpPr>
          <p:cNvPr id="42" name="TextBox 41"/>
          <p:cNvSpPr txBox="1"/>
          <p:nvPr/>
        </p:nvSpPr>
        <p:spPr>
          <a:xfrm>
            <a:off x="8118652" y="5678424"/>
            <a:ext cx="1254709" cy="365760"/>
          </a:xfrm>
          <a:prstGeom prst="rect">
            <a:avLst/>
          </a:prstGeom>
          <a:noFill/>
        </p:spPr>
        <p:txBody>
          <a:bodyPr wrap="square" anchor="t" lIns="0" rIns="0" tIns="0" bIns="0">
            <a:spAutoFit/>
          </a:bodyPr>
          <a:lstStyle/>
          <a:p>
            <a:pPr algn="l">
              <a:lnSpc>
                <a:spcPct val="135000"/>
              </a:lnSpc>
              <a:spcBef>
                <a:spcPts val="0"/>
              </a:spcBef>
              <a:spcAft>
                <a:spcPts val="0"/>
              </a:spcAft>
            </a:pPr>
            <a:r>
              <a:rPr sz="950" b="0" i="0">
                <a:solidFill>
                  <a:srgbClr val="5B6B7E"/>
                </a:solidFill>
                <a:latin typeface="Consolas"/>
              </a:rPr>
              <a:t>gh pr merge &lt;n&gt; --merge</a:t>
            </a:r>
          </a:p>
        </p:txBody>
      </p:sp>
      <p:sp>
        <p:nvSpPr>
          <p:cNvPr id="43" name="Rounded Rectangle 42"/>
          <p:cNvSpPr/>
          <p:nvPr/>
        </p:nvSpPr>
        <p:spPr>
          <a:xfrm>
            <a:off x="9702545" y="4983480"/>
            <a:ext cx="1620469" cy="1143000"/>
          </a:xfrm>
          <a:prstGeom prst="roundRect">
            <a:avLst>
              <a:gd name="adj" fmla="val 8000"/>
            </a:avLst>
          </a:prstGeom>
          <a:solidFill>
            <a:srgbClr val="E7F1EC"/>
          </a:solidFill>
          <a:ln w="12700">
            <a:solidFill>
              <a:srgbClr val="3E8E6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885425" y="5148072"/>
            <a:ext cx="1254709" cy="219456"/>
          </a:xfrm>
          <a:prstGeom prst="rect">
            <a:avLst/>
          </a:prstGeom>
          <a:noFill/>
        </p:spPr>
        <p:txBody>
          <a:bodyPr wrap="square" anchor="t" lIns="0" rIns="0" tIns="0" bIns="0">
            <a:spAutoFit/>
          </a:bodyPr>
          <a:lstStyle/>
          <a:p>
            <a:pPr algn="l">
              <a:lnSpc>
                <a:spcPct val="125000"/>
              </a:lnSpc>
              <a:spcBef>
                <a:spcPts val="0"/>
              </a:spcBef>
              <a:spcAft>
                <a:spcPts val="0"/>
              </a:spcAft>
            </a:pPr>
            <a:r>
              <a:rPr sz="1000" b="1" i="0" spc="140">
                <a:solidFill>
                  <a:srgbClr val="3E8E68"/>
                </a:solidFill>
                <a:latin typeface="Inter"/>
              </a:rPr>
              <a:t>06</a:t>
            </a:r>
          </a:p>
        </p:txBody>
      </p:sp>
      <p:sp>
        <p:nvSpPr>
          <p:cNvPr id="45" name="TextBox 44"/>
          <p:cNvSpPr txBox="1"/>
          <p:nvPr/>
        </p:nvSpPr>
        <p:spPr>
          <a:xfrm>
            <a:off x="9885425" y="5376672"/>
            <a:ext cx="1254709" cy="274320"/>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16233A"/>
                </a:solidFill>
                <a:latin typeface="Inter"/>
              </a:rPr>
              <a:t>Release</a:t>
            </a:r>
          </a:p>
        </p:txBody>
      </p:sp>
      <p:sp>
        <p:nvSpPr>
          <p:cNvPr id="46" name="TextBox 45"/>
          <p:cNvSpPr txBox="1"/>
          <p:nvPr/>
        </p:nvSpPr>
        <p:spPr>
          <a:xfrm>
            <a:off x="9885425" y="5678424"/>
            <a:ext cx="1254709" cy="365760"/>
          </a:xfrm>
          <a:prstGeom prst="rect">
            <a:avLst/>
          </a:prstGeom>
          <a:noFill/>
        </p:spPr>
        <p:txBody>
          <a:bodyPr wrap="square" anchor="t" lIns="0" rIns="0" tIns="0" bIns="0">
            <a:spAutoFit/>
          </a:bodyPr>
          <a:lstStyle/>
          <a:p>
            <a:pPr algn="l">
              <a:lnSpc>
                <a:spcPct val="135000"/>
              </a:lnSpc>
              <a:spcBef>
                <a:spcPts val="0"/>
              </a:spcBef>
              <a:spcAft>
                <a:spcPts val="0"/>
              </a:spcAft>
            </a:pPr>
            <a:r>
              <a:rPr sz="950" b="0" i="0">
                <a:solidFill>
                  <a:srgbClr val="5B6B7E"/>
                </a:solidFill>
                <a:latin typeface="Consolas"/>
              </a:rPr>
              <a:t>automatique sur main</a:t>
            </a:r>
          </a:p>
        </p:txBody>
      </p:sp>
      <p:sp>
        <p:nvSpPr>
          <p:cNvPr id="47" name="TextBox 46"/>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5B6B7E"/>
                </a:solidFill>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TextBox 1"/>
          <p:cNvSpPr txBox="1"/>
          <p:nvPr/>
        </p:nvSpPr>
        <p:spPr>
          <a:xfrm>
            <a:off x="868680" y="713232"/>
            <a:ext cx="10454335" cy="237744"/>
          </a:xfrm>
          <a:prstGeom prst="rect">
            <a:avLst/>
          </a:prstGeom>
          <a:noFill/>
        </p:spPr>
        <p:txBody>
          <a:bodyPr wrap="square" anchor="t" lIns="0" rIns="0" tIns="0" bIns="0">
            <a:spAutoFit/>
          </a:bodyPr>
          <a:lstStyle/>
          <a:p>
            <a:pPr algn="l">
              <a:lnSpc>
                <a:spcPct val="125000"/>
              </a:lnSpc>
              <a:spcBef>
                <a:spcPts val="0"/>
              </a:spcBef>
              <a:spcAft>
                <a:spcPts val="0"/>
              </a:spcAft>
            </a:pPr>
            <a:r>
              <a:rPr sz="1050" b="1" i="0" spc="170">
                <a:solidFill>
                  <a:srgbClr val="3E8E68"/>
                </a:solidFill>
                <a:latin typeface="Inter"/>
              </a:rPr>
              <a:t>TESTS ET BILAN</a:t>
            </a:r>
          </a:p>
        </p:txBody>
      </p:sp>
      <p:sp>
        <p:nvSpPr>
          <p:cNvPr id="3" name="TextBox 2"/>
          <p:cNvSpPr txBox="1"/>
          <p:nvPr/>
        </p:nvSpPr>
        <p:spPr>
          <a:xfrm>
            <a:off x="868680" y="1042415"/>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3200" b="1" i="0">
                <a:solidFill>
                  <a:srgbClr val="16233A"/>
                </a:solidFill>
                <a:latin typeface="Fraunces"/>
              </a:rPr>
              <a:t>Ce que nous testons, ce que nous assumons</a:t>
            </a:r>
          </a:p>
        </p:txBody>
      </p:sp>
      <p:sp>
        <p:nvSpPr>
          <p:cNvPr id="4" name="Rounded Rectangle 3"/>
          <p:cNvSpPr/>
          <p:nvPr/>
        </p:nvSpPr>
        <p:spPr>
          <a:xfrm>
            <a:off x="2148840" y="2011680"/>
            <a:ext cx="2011680" cy="768096"/>
          </a:xfrm>
          <a:prstGeom prst="roundRect">
            <a:avLst>
              <a:gd name="adj" fmla="val 8000"/>
            </a:avLst>
          </a:prstGeom>
          <a:solidFill>
            <a:srgbClr val="FBEDE7"/>
          </a:solidFill>
          <a:ln w="12700">
            <a:solidFill>
              <a:srgbClr val="E062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2148840" y="2139696"/>
            <a:ext cx="2011680" cy="274320"/>
          </a:xfrm>
          <a:prstGeom prst="rect">
            <a:avLst/>
          </a:prstGeom>
          <a:noFill/>
        </p:spPr>
        <p:txBody>
          <a:bodyPr wrap="square" anchor="t" lIns="0" rIns="0" tIns="0" bIns="0">
            <a:spAutoFit/>
          </a:bodyPr>
          <a:lstStyle/>
          <a:p>
            <a:pPr algn="ctr">
              <a:lnSpc>
                <a:spcPct val="125000"/>
              </a:lnSpc>
              <a:spcBef>
                <a:spcPts val="0"/>
              </a:spcBef>
              <a:spcAft>
                <a:spcPts val="0"/>
              </a:spcAft>
            </a:pPr>
            <a:r>
              <a:rPr sz="1350" b="1" i="0">
                <a:solidFill>
                  <a:srgbClr val="16233A"/>
                </a:solidFill>
                <a:latin typeface="Inter"/>
              </a:rPr>
              <a:t>Bout en bout</a:t>
            </a:r>
          </a:p>
        </p:txBody>
      </p:sp>
      <p:sp>
        <p:nvSpPr>
          <p:cNvPr id="6" name="TextBox 5"/>
          <p:cNvSpPr txBox="1"/>
          <p:nvPr/>
        </p:nvSpPr>
        <p:spPr>
          <a:xfrm>
            <a:off x="2148840" y="2404872"/>
            <a:ext cx="2011680" cy="365760"/>
          </a:xfrm>
          <a:prstGeom prst="rect">
            <a:avLst/>
          </a:prstGeom>
          <a:noFill/>
        </p:spPr>
        <p:txBody>
          <a:bodyPr wrap="square" anchor="t" lIns="0" rIns="0" tIns="0" bIns="0">
            <a:spAutoFit/>
          </a:bodyPr>
          <a:lstStyle/>
          <a:p>
            <a:pPr algn="ctr">
              <a:lnSpc>
                <a:spcPct val="130000"/>
              </a:lnSpc>
              <a:spcBef>
                <a:spcPts val="0"/>
              </a:spcBef>
              <a:spcAft>
                <a:spcPts val="0"/>
              </a:spcAft>
            </a:pPr>
            <a:r>
              <a:rPr sz="1000" b="0" i="0">
                <a:solidFill>
                  <a:srgbClr val="5B6B7E"/>
                </a:solidFill>
                <a:latin typeface="Inter"/>
              </a:rPr>
              <a:t>Manuel, sur émulateur et appareil réel</a:t>
            </a:r>
          </a:p>
        </p:txBody>
      </p:sp>
      <p:sp>
        <p:nvSpPr>
          <p:cNvPr id="7" name="Rounded Rectangle 6"/>
          <p:cNvSpPr/>
          <p:nvPr/>
        </p:nvSpPr>
        <p:spPr>
          <a:xfrm>
            <a:off x="1554480" y="2926080"/>
            <a:ext cx="3200400" cy="768096"/>
          </a:xfrm>
          <a:prstGeom prst="roundRect">
            <a:avLst>
              <a:gd name="adj" fmla="val 8000"/>
            </a:avLst>
          </a:prstGeom>
          <a:solidFill>
            <a:srgbClr val="E7F1EC"/>
          </a:solidFill>
          <a:ln w="12700">
            <a:solidFill>
              <a:srgbClr val="3E8E6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554480" y="3054096"/>
            <a:ext cx="3200400" cy="274320"/>
          </a:xfrm>
          <a:prstGeom prst="rect">
            <a:avLst/>
          </a:prstGeom>
          <a:noFill/>
        </p:spPr>
        <p:txBody>
          <a:bodyPr wrap="square" anchor="t" lIns="0" rIns="0" tIns="0" bIns="0">
            <a:spAutoFit/>
          </a:bodyPr>
          <a:lstStyle/>
          <a:p>
            <a:pPr algn="ctr">
              <a:lnSpc>
                <a:spcPct val="125000"/>
              </a:lnSpc>
              <a:spcBef>
                <a:spcPts val="0"/>
              </a:spcBef>
              <a:spcAft>
                <a:spcPts val="0"/>
              </a:spcAft>
            </a:pPr>
            <a:r>
              <a:rPr sz="1350" b="1" i="0">
                <a:solidFill>
                  <a:srgbClr val="16233A"/>
                </a:solidFill>
                <a:latin typeface="Inter"/>
              </a:rPr>
              <a:t>Intégration</a:t>
            </a:r>
          </a:p>
        </p:txBody>
      </p:sp>
      <p:sp>
        <p:nvSpPr>
          <p:cNvPr id="9" name="TextBox 8"/>
          <p:cNvSpPr txBox="1"/>
          <p:nvPr/>
        </p:nvSpPr>
        <p:spPr>
          <a:xfrm>
            <a:off x="1554480" y="3319272"/>
            <a:ext cx="3200400" cy="365760"/>
          </a:xfrm>
          <a:prstGeom prst="rect">
            <a:avLst/>
          </a:prstGeom>
          <a:noFill/>
        </p:spPr>
        <p:txBody>
          <a:bodyPr wrap="square" anchor="t" lIns="0" rIns="0" tIns="0" bIns="0">
            <a:spAutoFit/>
          </a:bodyPr>
          <a:lstStyle/>
          <a:p>
            <a:pPr algn="ctr">
              <a:lnSpc>
                <a:spcPct val="130000"/>
              </a:lnSpc>
              <a:spcBef>
                <a:spcPts val="0"/>
              </a:spcBef>
              <a:spcAft>
                <a:spcPts val="0"/>
              </a:spcAft>
            </a:pPr>
            <a:r>
              <a:rPr sz="1000" b="0" i="0">
                <a:solidFill>
                  <a:srgbClr val="5B6B7E"/>
                </a:solidFill>
                <a:latin typeface="Inter"/>
              </a:rPr>
              <a:t>Migrations SQL rejouées sur une base vierge</a:t>
            </a:r>
          </a:p>
        </p:txBody>
      </p:sp>
      <p:sp>
        <p:nvSpPr>
          <p:cNvPr id="10" name="Rounded Rectangle 9"/>
          <p:cNvSpPr/>
          <p:nvPr/>
        </p:nvSpPr>
        <p:spPr>
          <a:xfrm>
            <a:off x="868680" y="3840480"/>
            <a:ext cx="4572000" cy="768096"/>
          </a:xfrm>
          <a:prstGeom prst="roundRect">
            <a:avLst>
              <a:gd name="adj" fmla="val 8000"/>
            </a:avLst>
          </a:prstGeom>
          <a:solidFill>
            <a:srgbClr val="FFFFFF"/>
          </a:solidFill>
          <a:ln w="12700">
            <a:solidFill>
              <a:srgbClr val="DEE5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68680" y="3968496"/>
            <a:ext cx="4572000" cy="274320"/>
          </a:xfrm>
          <a:prstGeom prst="rect">
            <a:avLst/>
          </a:prstGeom>
          <a:noFill/>
        </p:spPr>
        <p:txBody>
          <a:bodyPr wrap="square" anchor="t" lIns="0" rIns="0" tIns="0" bIns="0">
            <a:spAutoFit/>
          </a:bodyPr>
          <a:lstStyle/>
          <a:p>
            <a:pPr algn="ctr">
              <a:lnSpc>
                <a:spcPct val="125000"/>
              </a:lnSpc>
              <a:spcBef>
                <a:spcPts val="0"/>
              </a:spcBef>
              <a:spcAft>
                <a:spcPts val="0"/>
              </a:spcAft>
            </a:pPr>
            <a:r>
              <a:rPr sz="1350" b="1" i="0">
                <a:solidFill>
                  <a:srgbClr val="16233A"/>
                </a:solidFill>
                <a:latin typeface="Inter"/>
              </a:rPr>
              <a:t>Unitaires</a:t>
            </a:r>
          </a:p>
        </p:txBody>
      </p:sp>
      <p:sp>
        <p:nvSpPr>
          <p:cNvPr id="12" name="TextBox 11"/>
          <p:cNvSpPr txBox="1"/>
          <p:nvPr/>
        </p:nvSpPr>
        <p:spPr>
          <a:xfrm>
            <a:off x="868680" y="4233672"/>
            <a:ext cx="4572000" cy="365760"/>
          </a:xfrm>
          <a:prstGeom prst="rect">
            <a:avLst/>
          </a:prstGeom>
          <a:noFill/>
        </p:spPr>
        <p:txBody>
          <a:bodyPr wrap="square" anchor="t" lIns="0" rIns="0" tIns="0" bIns="0">
            <a:spAutoFit/>
          </a:bodyPr>
          <a:lstStyle/>
          <a:p>
            <a:pPr algn="ctr">
              <a:lnSpc>
                <a:spcPct val="130000"/>
              </a:lnSpc>
              <a:spcBef>
                <a:spcPts val="0"/>
              </a:spcBef>
              <a:spcAft>
                <a:spcPts val="0"/>
              </a:spcAft>
            </a:pPr>
            <a:r>
              <a:rPr sz="1000" b="0" i="0">
                <a:solidFill>
                  <a:srgbClr val="5B6B7E"/>
                </a:solidFill>
                <a:latin typeface="Inter"/>
              </a:rPr>
              <a:t>8 tests partagés : filtres, tri par distance, onboarding</a:t>
            </a:r>
          </a:p>
        </p:txBody>
      </p:sp>
      <p:sp>
        <p:nvSpPr>
          <p:cNvPr id="13" name="TextBox 12"/>
          <p:cNvSpPr txBox="1"/>
          <p:nvPr/>
        </p:nvSpPr>
        <p:spPr>
          <a:xfrm>
            <a:off x="868680" y="4892040"/>
            <a:ext cx="4572000" cy="548640"/>
          </a:xfrm>
          <a:prstGeom prst="rect">
            <a:avLst/>
          </a:prstGeom>
          <a:noFill/>
        </p:spPr>
        <p:txBody>
          <a:bodyPr wrap="square" anchor="t" lIns="0" rIns="0" tIns="0" bIns="0">
            <a:spAutoFit/>
          </a:bodyPr>
          <a:lstStyle/>
          <a:p>
            <a:pPr algn="l">
              <a:lnSpc>
                <a:spcPct val="150000"/>
              </a:lnSpc>
              <a:spcBef>
                <a:spcPts val="0"/>
              </a:spcBef>
              <a:spcAft>
                <a:spcPts val="0"/>
              </a:spcAft>
            </a:pPr>
            <a:r>
              <a:rPr sz="1200" b="0" i="0">
                <a:solidFill>
                  <a:srgbClr val="5B6B7E"/>
                </a:solidFill>
                <a:latin typeface="Inter"/>
              </a:rPr>
              <a:t>Les tests vivent dans commonTest et s'exécutent sur les deux plateformes, à chaque pull request.</a:t>
            </a:r>
          </a:p>
        </p:txBody>
      </p:sp>
      <p:sp>
        <p:nvSpPr>
          <p:cNvPr id="14" name="TextBox 13"/>
          <p:cNvSpPr txBox="1"/>
          <p:nvPr/>
        </p:nvSpPr>
        <p:spPr>
          <a:xfrm>
            <a:off x="6080760" y="2011680"/>
            <a:ext cx="5242255" cy="320040"/>
          </a:xfrm>
          <a:prstGeom prst="rect">
            <a:avLst/>
          </a:prstGeom>
          <a:noFill/>
        </p:spPr>
        <p:txBody>
          <a:bodyPr wrap="square" anchor="t" lIns="0" rIns="0" tIns="0" bIns="0">
            <a:spAutoFit/>
          </a:bodyPr>
          <a:lstStyle/>
          <a:p>
            <a:pPr algn="l">
              <a:lnSpc>
                <a:spcPct val="125000"/>
              </a:lnSpc>
              <a:spcBef>
                <a:spcPts val="0"/>
              </a:spcBef>
              <a:spcAft>
                <a:spcPts val="0"/>
              </a:spcAft>
            </a:pPr>
            <a:r>
              <a:rPr sz="1700" b="1" i="0">
                <a:solidFill>
                  <a:srgbClr val="16233A"/>
                </a:solidFill>
                <a:latin typeface="Fraunces"/>
              </a:rPr>
              <a:t>Ce que nous n'avons pas fait</a:t>
            </a:r>
          </a:p>
        </p:txBody>
      </p:sp>
      <p:cxnSp>
        <p:nvCxnSpPr>
          <p:cNvPr id="15" name="Connector 14"/>
          <p:cNvCxnSpPr/>
          <p:nvPr/>
        </p:nvCxnSpPr>
        <p:spPr>
          <a:xfrm>
            <a:off x="6080760" y="2395728"/>
            <a:ext cx="1463040" cy="0"/>
          </a:xfrm>
          <a:prstGeom prst="line">
            <a:avLst/>
          </a:prstGeom>
          <a:ln w="19050">
            <a:solidFill>
              <a:srgbClr val="E0623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080760" y="2606040"/>
            <a:ext cx="5242255" cy="256032"/>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E0623C"/>
                </a:solidFill>
                <a:latin typeface="Inter"/>
              </a:rPr>
              <a:t>Notifications push</a:t>
            </a:r>
          </a:p>
        </p:txBody>
      </p:sp>
      <p:sp>
        <p:nvSpPr>
          <p:cNvPr id="17" name="TextBox 16"/>
          <p:cNvSpPr txBox="1"/>
          <p:nvPr/>
        </p:nvSpPr>
        <p:spPr>
          <a:xfrm>
            <a:off x="6080760" y="2880360"/>
            <a:ext cx="5242255" cy="457200"/>
          </a:xfrm>
          <a:prstGeom prst="rect">
            <a:avLst/>
          </a:prstGeom>
          <a:noFill/>
        </p:spPr>
        <p:txBody>
          <a:bodyPr wrap="square" anchor="t" lIns="0" rIns="0" tIns="0" bIns="0">
            <a:spAutoFit/>
          </a:bodyPr>
          <a:lstStyle/>
          <a:p>
            <a:pPr algn="l">
              <a:lnSpc>
                <a:spcPct val="140000"/>
              </a:lnSpc>
              <a:spcBef>
                <a:spcPts val="0"/>
              </a:spcBef>
              <a:spcAft>
                <a:spcPts val="0"/>
              </a:spcAft>
            </a:pPr>
            <a:r>
              <a:rPr sz="1200" b="0" i="0">
                <a:solidFill>
                  <a:srgbClr val="5B6B7E"/>
                </a:solidFill>
                <a:latin typeface="Inter"/>
              </a:rPr>
              <a:t>exigence RF-12, non livrée</a:t>
            </a:r>
          </a:p>
        </p:txBody>
      </p:sp>
      <p:sp>
        <p:nvSpPr>
          <p:cNvPr id="18" name="TextBox 17"/>
          <p:cNvSpPr txBox="1"/>
          <p:nvPr/>
        </p:nvSpPr>
        <p:spPr>
          <a:xfrm>
            <a:off x="6080760" y="3374136"/>
            <a:ext cx="5242255" cy="256032"/>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E0623C"/>
                </a:solidFill>
                <a:latin typeface="Inter"/>
              </a:rPr>
              <a:t>Couverture de tests mince</a:t>
            </a:r>
          </a:p>
        </p:txBody>
      </p:sp>
      <p:sp>
        <p:nvSpPr>
          <p:cNvPr id="19" name="TextBox 18"/>
          <p:cNvSpPr txBox="1"/>
          <p:nvPr/>
        </p:nvSpPr>
        <p:spPr>
          <a:xfrm>
            <a:off x="6080760" y="3648456"/>
            <a:ext cx="5242255" cy="457200"/>
          </a:xfrm>
          <a:prstGeom prst="rect">
            <a:avLst/>
          </a:prstGeom>
          <a:noFill/>
        </p:spPr>
        <p:txBody>
          <a:bodyPr wrap="square" anchor="t" lIns="0" rIns="0" tIns="0" bIns="0">
            <a:spAutoFit/>
          </a:bodyPr>
          <a:lstStyle/>
          <a:p>
            <a:pPr algn="l">
              <a:lnSpc>
                <a:spcPct val="140000"/>
              </a:lnSpc>
              <a:spcBef>
                <a:spcPts val="0"/>
              </a:spcBef>
              <a:spcAft>
                <a:spcPts val="0"/>
              </a:spcAft>
            </a:pPr>
            <a:r>
              <a:rPr sz="1200" b="0" i="0">
                <a:solidFill>
                  <a:srgbClr val="5B6B7E"/>
                </a:solidFill>
                <a:latin typeface="Inter"/>
              </a:rPr>
              <a:t>8 tests unitaires, pas un filet de sécurité</a:t>
            </a:r>
          </a:p>
        </p:txBody>
      </p:sp>
      <p:sp>
        <p:nvSpPr>
          <p:cNvPr id="20" name="TextBox 19"/>
          <p:cNvSpPr txBox="1"/>
          <p:nvPr/>
        </p:nvSpPr>
        <p:spPr>
          <a:xfrm>
            <a:off x="6080760" y="4142232"/>
            <a:ext cx="5242255" cy="256032"/>
          </a:xfrm>
          <a:prstGeom prst="rect">
            <a:avLst/>
          </a:prstGeom>
          <a:noFill/>
        </p:spPr>
        <p:txBody>
          <a:bodyPr wrap="square" anchor="t" lIns="0" rIns="0" tIns="0" bIns="0">
            <a:spAutoFit/>
          </a:bodyPr>
          <a:lstStyle/>
          <a:p>
            <a:pPr algn="l">
              <a:lnSpc>
                <a:spcPct val="125000"/>
              </a:lnSpc>
              <a:spcBef>
                <a:spcPts val="0"/>
              </a:spcBef>
              <a:spcAft>
                <a:spcPts val="0"/>
              </a:spcAft>
            </a:pPr>
            <a:r>
              <a:rPr sz="1300" b="1" i="0">
                <a:solidFill>
                  <a:srgbClr val="E0623C"/>
                </a:solidFill>
                <a:latin typeface="Inter"/>
              </a:rPr>
              <a:t>iOS compilé, peu éprouvé</a:t>
            </a:r>
          </a:p>
        </p:txBody>
      </p:sp>
      <p:sp>
        <p:nvSpPr>
          <p:cNvPr id="21" name="TextBox 20"/>
          <p:cNvSpPr txBox="1"/>
          <p:nvPr/>
        </p:nvSpPr>
        <p:spPr>
          <a:xfrm>
            <a:off x="6080760" y="4416552"/>
            <a:ext cx="5242255" cy="457200"/>
          </a:xfrm>
          <a:prstGeom prst="rect">
            <a:avLst/>
          </a:prstGeom>
          <a:noFill/>
        </p:spPr>
        <p:txBody>
          <a:bodyPr wrap="square" anchor="t" lIns="0" rIns="0" tIns="0" bIns="0">
            <a:spAutoFit/>
          </a:bodyPr>
          <a:lstStyle/>
          <a:p>
            <a:pPr algn="l">
              <a:lnSpc>
                <a:spcPct val="140000"/>
              </a:lnSpc>
              <a:spcBef>
                <a:spcPts val="0"/>
              </a:spcBef>
              <a:spcAft>
                <a:spcPts val="0"/>
              </a:spcAft>
            </a:pPr>
            <a:r>
              <a:rPr sz="1200" b="0" i="0">
                <a:solidFill>
                  <a:srgbClr val="5B6B7E"/>
                </a:solidFill>
                <a:latin typeface="Inter"/>
              </a:rPr>
              <a:t>construit à chaque changement, peu utilisé sur un appareil réel</a:t>
            </a:r>
          </a:p>
        </p:txBody>
      </p:sp>
      <p:sp>
        <p:nvSpPr>
          <p:cNvPr id="22" name="Rounded Rectangle 21"/>
          <p:cNvSpPr/>
          <p:nvPr/>
        </p:nvSpPr>
        <p:spPr>
          <a:xfrm>
            <a:off x="868680" y="5623560"/>
            <a:ext cx="10454335" cy="777240"/>
          </a:xfrm>
          <a:prstGeom prst="roundRect">
            <a:avLst>
              <a:gd name="adj" fmla="val 5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68680" y="5779008"/>
            <a:ext cx="2090867" cy="310896"/>
          </a:xfrm>
          <a:prstGeom prst="rect">
            <a:avLst/>
          </a:prstGeom>
          <a:noFill/>
        </p:spPr>
        <p:txBody>
          <a:bodyPr wrap="square" anchor="t" lIns="0" rIns="0" tIns="0" bIns="0">
            <a:spAutoFit/>
          </a:bodyPr>
          <a:lstStyle/>
          <a:p>
            <a:pPr algn="ctr">
              <a:lnSpc>
                <a:spcPct val="125000"/>
              </a:lnSpc>
              <a:spcBef>
                <a:spcPts val="0"/>
              </a:spcBef>
              <a:spcAft>
                <a:spcPts val="0"/>
              </a:spcAft>
            </a:pPr>
            <a:r>
              <a:rPr sz="2100" b="1" i="0">
                <a:solidFill>
                  <a:srgbClr val="FFFFFF"/>
                </a:solidFill>
                <a:latin typeface="Fraunces"/>
              </a:rPr>
              <a:t>242</a:t>
            </a:r>
          </a:p>
        </p:txBody>
      </p:sp>
      <p:sp>
        <p:nvSpPr>
          <p:cNvPr id="24" name="TextBox 23"/>
          <p:cNvSpPr txBox="1"/>
          <p:nvPr/>
        </p:nvSpPr>
        <p:spPr>
          <a:xfrm>
            <a:off x="868680" y="6108192"/>
            <a:ext cx="2090867" cy="237744"/>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8DA0B5"/>
                </a:solidFill>
                <a:latin typeface="Inter"/>
              </a:rPr>
              <a:t>commits</a:t>
            </a:r>
          </a:p>
        </p:txBody>
      </p:sp>
      <p:sp>
        <p:nvSpPr>
          <p:cNvPr id="25" name="TextBox 24"/>
          <p:cNvSpPr txBox="1"/>
          <p:nvPr/>
        </p:nvSpPr>
        <p:spPr>
          <a:xfrm>
            <a:off x="2959547" y="5779008"/>
            <a:ext cx="2090867" cy="310896"/>
          </a:xfrm>
          <a:prstGeom prst="rect">
            <a:avLst/>
          </a:prstGeom>
          <a:noFill/>
        </p:spPr>
        <p:txBody>
          <a:bodyPr wrap="square" anchor="t" lIns="0" rIns="0" tIns="0" bIns="0">
            <a:spAutoFit/>
          </a:bodyPr>
          <a:lstStyle/>
          <a:p>
            <a:pPr algn="ctr">
              <a:lnSpc>
                <a:spcPct val="125000"/>
              </a:lnSpc>
              <a:spcBef>
                <a:spcPts val="0"/>
              </a:spcBef>
              <a:spcAft>
                <a:spcPts val="0"/>
              </a:spcAft>
            </a:pPr>
            <a:r>
              <a:rPr sz="2100" b="1" i="0">
                <a:solidFill>
                  <a:srgbClr val="FFFFFF"/>
                </a:solidFill>
                <a:latin typeface="Fraunces"/>
              </a:rPr>
              <a:t>52</a:t>
            </a:r>
          </a:p>
        </p:txBody>
      </p:sp>
      <p:sp>
        <p:nvSpPr>
          <p:cNvPr id="26" name="TextBox 25"/>
          <p:cNvSpPr txBox="1"/>
          <p:nvPr/>
        </p:nvSpPr>
        <p:spPr>
          <a:xfrm>
            <a:off x="2959547" y="6108192"/>
            <a:ext cx="2090867" cy="237744"/>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8DA0B5"/>
                </a:solidFill>
                <a:latin typeface="Inter"/>
              </a:rPr>
              <a:t>pull requests</a:t>
            </a:r>
          </a:p>
        </p:txBody>
      </p:sp>
      <p:sp>
        <p:nvSpPr>
          <p:cNvPr id="27" name="TextBox 26"/>
          <p:cNvSpPr txBox="1"/>
          <p:nvPr/>
        </p:nvSpPr>
        <p:spPr>
          <a:xfrm>
            <a:off x="5050414" y="5779008"/>
            <a:ext cx="2090867" cy="310896"/>
          </a:xfrm>
          <a:prstGeom prst="rect">
            <a:avLst/>
          </a:prstGeom>
          <a:noFill/>
        </p:spPr>
        <p:txBody>
          <a:bodyPr wrap="square" anchor="t" lIns="0" rIns="0" tIns="0" bIns="0">
            <a:spAutoFit/>
          </a:bodyPr>
          <a:lstStyle/>
          <a:p>
            <a:pPr algn="ctr">
              <a:lnSpc>
                <a:spcPct val="125000"/>
              </a:lnSpc>
              <a:spcBef>
                <a:spcPts val="0"/>
              </a:spcBef>
              <a:spcAft>
                <a:spcPts val="0"/>
              </a:spcAft>
            </a:pPr>
            <a:r>
              <a:rPr sz="2100" b="1" i="0">
                <a:solidFill>
                  <a:srgbClr val="FFFFFF"/>
                </a:solidFill>
                <a:latin typeface="Fraunces"/>
              </a:rPr>
              <a:t>35</a:t>
            </a:r>
          </a:p>
        </p:txBody>
      </p:sp>
      <p:sp>
        <p:nvSpPr>
          <p:cNvPr id="28" name="TextBox 27"/>
          <p:cNvSpPr txBox="1"/>
          <p:nvPr/>
        </p:nvSpPr>
        <p:spPr>
          <a:xfrm>
            <a:off x="5050414" y="6108192"/>
            <a:ext cx="2090867" cy="237744"/>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8DA0B5"/>
                </a:solidFill>
                <a:latin typeface="Inter"/>
              </a:rPr>
              <a:t>releases</a:t>
            </a:r>
          </a:p>
        </p:txBody>
      </p:sp>
      <p:sp>
        <p:nvSpPr>
          <p:cNvPr id="29" name="TextBox 28"/>
          <p:cNvSpPr txBox="1"/>
          <p:nvPr/>
        </p:nvSpPr>
        <p:spPr>
          <a:xfrm>
            <a:off x="7141281" y="5779008"/>
            <a:ext cx="2090867" cy="310896"/>
          </a:xfrm>
          <a:prstGeom prst="rect">
            <a:avLst/>
          </a:prstGeom>
          <a:noFill/>
        </p:spPr>
        <p:txBody>
          <a:bodyPr wrap="square" anchor="t" lIns="0" rIns="0" tIns="0" bIns="0">
            <a:spAutoFit/>
          </a:bodyPr>
          <a:lstStyle/>
          <a:p>
            <a:pPr algn="ctr">
              <a:lnSpc>
                <a:spcPct val="125000"/>
              </a:lnSpc>
              <a:spcBef>
                <a:spcPts val="0"/>
              </a:spcBef>
              <a:spcAft>
                <a:spcPts val="0"/>
              </a:spcAft>
            </a:pPr>
            <a:r>
              <a:rPr sz="2100" b="1" i="0">
                <a:solidFill>
                  <a:srgbClr val="FFFFFF"/>
                </a:solidFill>
                <a:latin typeface="Fraunces"/>
              </a:rPr>
              <a:t>19</a:t>
            </a:r>
          </a:p>
        </p:txBody>
      </p:sp>
      <p:sp>
        <p:nvSpPr>
          <p:cNvPr id="30" name="TextBox 29"/>
          <p:cNvSpPr txBox="1"/>
          <p:nvPr/>
        </p:nvSpPr>
        <p:spPr>
          <a:xfrm>
            <a:off x="7141281" y="6108192"/>
            <a:ext cx="2090867" cy="237744"/>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8DA0B5"/>
                </a:solidFill>
                <a:latin typeface="Inter"/>
              </a:rPr>
              <a:t>migrations</a:t>
            </a:r>
          </a:p>
        </p:txBody>
      </p:sp>
      <p:sp>
        <p:nvSpPr>
          <p:cNvPr id="31" name="TextBox 30"/>
          <p:cNvSpPr txBox="1"/>
          <p:nvPr/>
        </p:nvSpPr>
        <p:spPr>
          <a:xfrm>
            <a:off x="9232148" y="5779008"/>
            <a:ext cx="2090867" cy="310896"/>
          </a:xfrm>
          <a:prstGeom prst="rect">
            <a:avLst/>
          </a:prstGeom>
          <a:noFill/>
        </p:spPr>
        <p:txBody>
          <a:bodyPr wrap="square" anchor="t" lIns="0" rIns="0" tIns="0" bIns="0">
            <a:spAutoFit/>
          </a:bodyPr>
          <a:lstStyle/>
          <a:p>
            <a:pPr algn="ctr">
              <a:lnSpc>
                <a:spcPct val="125000"/>
              </a:lnSpc>
              <a:spcBef>
                <a:spcPts val="0"/>
              </a:spcBef>
              <a:spcAft>
                <a:spcPts val="0"/>
              </a:spcAft>
            </a:pPr>
            <a:r>
              <a:rPr sz="2100" b="1" i="0">
                <a:solidFill>
                  <a:srgbClr val="FFFFFF"/>
                </a:solidFill>
                <a:latin typeface="Fraunces"/>
              </a:rPr>
              <a:t>6 044</a:t>
            </a:r>
          </a:p>
        </p:txBody>
      </p:sp>
      <p:sp>
        <p:nvSpPr>
          <p:cNvPr id="32" name="TextBox 31"/>
          <p:cNvSpPr txBox="1"/>
          <p:nvPr/>
        </p:nvSpPr>
        <p:spPr>
          <a:xfrm>
            <a:off x="9232148" y="6108192"/>
            <a:ext cx="2090867" cy="237744"/>
          </a:xfrm>
          <a:prstGeom prst="rect">
            <a:avLst/>
          </a:prstGeom>
          <a:noFill/>
        </p:spPr>
        <p:txBody>
          <a:bodyPr wrap="square" anchor="t" lIns="0" rIns="0" tIns="0" bIns="0">
            <a:spAutoFit/>
          </a:bodyPr>
          <a:lstStyle/>
          <a:p>
            <a:pPr algn="ctr">
              <a:lnSpc>
                <a:spcPct val="125000"/>
              </a:lnSpc>
              <a:spcBef>
                <a:spcPts val="0"/>
              </a:spcBef>
              <a:spcAft>
                <a:spcPts val="0"/>
              </a:spcAft>
            </a:pPr>
            <a:r>
              <a:rPr sz="1000" b="0" i="0">
                <a:solidFill>
                  <a:srgbClr val="8DA0B5"/>
                </a:solidFill>
                <a:latin typeface="Inter"/>
              </a:rPr>
              <a:t>lignes de Kotlin</a:t>
            </a:r>
          </a:p>
        </p:txBody>
      </p:sp>
      <p:sp>
        <p:nvSpPr>
          <p:cNvPr id="33" name="TextBox 32"/>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5B6B7E"/>
                </a:solidFill>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3E8E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2148840"/>
            <a:ext cx="8229600" cy="320040"/>
          </a:xfrm>
          <a:prstGeom prst="rect">
            <a:avLst/>
          </a:prstGeom>
          <a:noFill/>
        </p:spPr>
        <p:txBody>
          <a:bodyPr wrap="square" anchor="t" lIns="0" rIns="0" tIns="0" bIns="0">
            <a:spAutoFit/>
          </a:bodyPr>
          <a:lstStyle/>
          <a:p>
            <a:pPr algn="l">
              <a:lnSpc>
                <a:spcPct val="125000"/>
              </a:lnSpc>
              <a:spcBef>
                <a:spcPts val="0"/>
              </a:spcBef>
              <a:spcAft>
                <a:spcPts val="0"/>
              </a:spcAft>
            </a:pPr>
            <a:r>
              <a:rPr sz="1200" b="1" i="0" spc="220">
                <a:solidFill>
                  <a:srgbClr val="8FC7AA"/>
                </a:solidFill>
                <a:latin typeface="Inter"/>
              </a:rPr>
              <a:t>MERCI</a:t>
            </a:r>
          </a:p>
        </p:txBody>
      </p:sp>
      <p:sp>
        <p:nvSpPr>
          <p:cNvPr id="4" name="TextBox 3"/>
          <p:cNvSpPr txBox="1"/>
          <p:nvPr/>
        </p:nvSpPr>
        <p:spPr>
          <a:xfrm>
            <a:off x="868680" y="2578608"/>
            <a:ext cx="10454335" cy="1005840"/>
          </a:xfrm>
          <a:prstGeom prst="rect">
            <a:avLst/>
          </a:prstGeom>
          <a:noFill/>
        </p:spPr>
        <p:txBody>
          <a:bodyPr wrap="square" anchor="t" lIns="0" rIns="0" tIns="0" bIns="0">
            <a:spAutoFit/>
          </a:bodyPr>
          <a:lstStyle/>
          <a:p>
            <a:pPr algn="l">
              <a:lnSpc>
                <a:spcPct val="112000"/>
              </a:lnSpc>
              <a:spcBef>
                <a:spcPts val="0"/>
              </a:spcBef>
              <a:spcAft>
                <a:spcPts val="0"/>
              </a:spcAft>
            </a:pPr>
            <a:r>
              <a:rPr sz="4600" b="1" i="0">
                <a:solidFill>
                  <a:srgbClr val="FFFFFF"/>
                </a:solidFill>
                <a:latin typeface="Fraunces"/>
              </a:rPr>
              <a:t>Des questions ?</a:t>
            </a:r>
          </a:p>
        </p:txBody>
      </p:sp>
      <p:cxnSp>
        <p:nvCxnSpPr>
          <p:cNvPr id="5" name="Connector 4"/>
          <p:cNvCxnSpPr/>
          <p:nvPr/>
        </p:nvCxnSpPr>
        <p:spPr>
          <a:xfrm>
            <a:off x="868680" y="3794760"/>
            <a:ext cx="2926080" cy="0"/>
          </a:xfrm>
          <a:prstGeom prst="line">
            <a:avLst/>
          </a:prstGeom>
          <a:ln w="19050">
            <a:solidFill>
              <a:srgbClr val="3E8E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8680" y="4114800"/>
            <a:ext cx="5120640" cy="1371600"/>
          </a:xfrm>
          <a:prstGeom prst="rect">
            <a:avLst/>
          </a:prstGeom>
          <a:noFill/>
        </p:spPr>
        <p:txBody>
          <a:bodyPr wrap="square" anchor="t" lIns="0" rIns="0" tIns="0" bIns="0">
            <a:spAutoFit/>
          </a:bodyPr>
          <a:lstStyle/>
          <a:p>
            <a:pPr algn="l">
              <a:lnSpc>
                <a:spcPct val="125000"/>
              </a:lnSpc>
              <a:spcBef>
                <a:spcPts val="0"/>
              </a:spcBef>
              <a:spcAft>
                <a:spcPts val="700"/>
              </a:spcAft>
            </a:pPr>
            <a:r>
              <a:rPr sz="1450" b="0" i="0">
                <a:solidFill>
                  <a:srgbClr val="FFFFFF"/>
                </a:solidFill>
                <a:latin typeface="Inter"/>
              </a:rPr>
              <a:t>github.com/mircoprofico/FitMeet</a:t>
            </a:r>
          </a:p>
          <a:p>
            <a:pPr algn="l">
              <a:lnSpc>
                <a:spcPct val="125000"/>
              </a:lnSpc>
              <a:spcBef>
                <a:spcPts val="0"/>
              </a:spcBef>
              <a:spcAft>
                <a:spcPts val="700"/>
              </a:spcAft>
            </a:pPr>
            <a:r>
              <a:rPr sz="1450" b="0" i="0">
                <a:solidFill>
                  <a:srgbClr val="8FC7AA"/>
                </a:solidFill>
                <a:latin typeface="Inter"/>
              </a:rPr>
              <a:t>mircoprofico.github.io/FitMeet</a:t>
            </a:r>
          </a:p>
        </p:txBody>
      </p:sp>
      <p:sp>
        <p:nvSpPr>
          <p:cNvPr id="7" name="TextBox 6"/>
          <p:cNvSpPr txBox="1"/>
          <p:nvPr/>
        </p:nvSpPr>
        <p:spPr>
          <a:xfrm>
            <a:off x="6766560" y="4114800"/>
            <a:ext cx="4480560" cy="1463040"/>
          </a:xfrm>
          <a:prstGeom prst="rect">
            <a:avLst/>
          </a:prstGeom>
          <a:noFill/>
        </p:spPr>
        <p:txBody>
          <a:bodyPr wrap="square" anchor="t" lIns="0" rIns="0" tIns="0" bIns="0">
            <a:spAutoFit/>
          </a:bodyPr>
          <a:lstStyle/>
          <a:p>
            <a:pPr algn="l">
              <a:lnSpc>
                <a:spcPct val="125000"/>
              </a:lnSpc>
              <a:spcBef>
                <a:spcPts val="0"/>
              </a:spcBef>
              <a:spcAft>
                <a:spcPts val="600"/>
              </a:spcAft>
            </a:pPr>
            <a:r>
              <a:rPr sz="1300" b="0" i="0">
                <a:solidFill>
                  <a:srgbClr val="8DA0B5"/>
                </a:solidFill>
                <a:latin typeface="Inter"/>
              </a:rPr>
              <a:t>Mirco Profico   ·   Antoine Aubry</a:t>
            </a:r>
          </a:p>
          <a:p>
            <a:pPr algn="l">
              <a:lnSpc>
                <a:spcPct val="125000"/>
              </a:lnSpc>
              <a:spcBef>
                <a:spcPts val="0"/>
              </a:spcBef>
              <a:spcAft>
                <a:spcPts val="600"/>
              </a:spcAft>
            </a:pPr>
            <a:r>
              <a:rPr sz="1300" b="0" i="0">
                <a:solidFill>
                  <a:srgbClr val="8DA0B5"/>
                </a:solidFill>
                <a:latin typeface="Inter"/>
              </a:rPr>
              <a:t>François Bernard   ·   Pierre Gellet</a:t>
            </a:r>
          </a:p>
          <a:p>
            <a:pPr algn="l">
              <a:lnSpc>
                <a:spcPct val="125000"/>
              </a:lnSpc>
              <a:spcBef>
                <a:spcPts val="800"/>
              </a:spcBef>
              <a:spcAft>
                <a:spcPts val="0"/>
              </a:spcAft>
            </a:pPr>
            <a:r>
              <a:rPr sz="1150" b="0" i="0" spc="90">
                <a:solidFill>
                  <a:srgbClr val="8DA0B5"/>
                </a:solidFill>
                <a:latin typeface="Inter"/>
              </a:rPr>
              <a:t>HEIG-VD   ·   Projet de groupe   ·   2026</a:t>
            </a:r>
          </a:p>
        </p:txBody>
      </p:sp>
      <p:sp>
        <p:nvSpPr>
          <p:cNvPr id="8" name="TextBox 7"/>
          <p:cNvSpPr txBox="1"/>
          <p:nvPr/>
        </p:nvSpPr>
        <p:spPr>
          <a:xfrm>
            <a:off x="10774375" y="6309360"/>
            <a:ext cx="548640" cy="237744"/>
          </a:xfrm>
          <a:prstGeom prst="rect">
            <a:avLst/>
          </a:prstGeom>
          <a:noFill/>
        </p:spPr>
        <p:txBody>
          <a:bodyPr wrap="square" anchor="t" lIns="0" rIns="0" tIns="0" bIns="0">
            <a:spAutoFit/>
          </a:bodyPr>
          <a:lstStyle/>
          <a:p>
            <a:pPr algn="r">
              <a:lnSpc>
                <a:spcPct val="125000"/>
              </a:lnSpc>
              <a:spcBef>
                <a:spcPts val="0"/>
              </a:spcBef>
              <a:spcAft>
                <a:spcPts val="0"/>
              </a:spcAft>
            </a:pPr>
            <a:r>
              <a:rPr sz="950" b="0" i="0">
                <a:solidFill>
                  <a:srgbClr val="8DA0B5"/>
                </a:solidFill>
                <a:latin typeface="Inter"/>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